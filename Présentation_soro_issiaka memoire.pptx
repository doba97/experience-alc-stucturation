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theme/theme3.xml" ContentType="application/vnd.openxmlformats-officedocument.theme+xml"/>
  <Override PartName="/ppt/tags/tag2.xml" ContentType="application/vnd.openxmlformats-officedocument.presentationml.tags+xml"/>
  <Override PartName="/ppt/theme/theme4.xml" ContentType="application/vnd.openxmlformats-officedocument.them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87" r:id="rId3"/>
  </p:sldMasterIdLst>
  <p:notesMasterIdLst>
    <p:notesMasterId r:id="rId34"/>
  </p:notesMasterIdLst>
  <p:sldIdLst>
    <p:sldId id="607" r:id="rId4"/>
    <p:sldId id="524" r:id="rId5"/>
    <p:sldId id="588" r:id="rId6"/>
    <p:sldId id="529" r:id="rId7"/>
    <p:sldId id="531" r:id="rId8"/>
    <p:sldId id="550" r:id="rId9"/>
    <p:sldId id="553" r:id="rId10"/>
    <p:sldId id="589" r:id="rId11"/>
    <p:sldId id="557" r:id="rId12"/>
    <p:sldId id="560" r:id="rId13"/>
    <p:sldId id="561" r:id="rId14"/>
    <p:sldId id="590" r:id="rId15"/>
    <p:sldId id="568" r:id="rId16"/>
    <p:sldId id="591" r:id="rId17"/>
    <p:sldId id="592" r:id="rId18"/>
    <p:sldId id="593" r:id="rId19"/>
    <p:sldId id="268" r:id="rId20"/>
    <p:sldId id="601" r:id="rId21"/>
    <p:sldId id="600" r:id="rId22"/>
    <p:sldId id="605" r:id="rId23"/>
    <p:sldId id="276" r:id="rId24"/>
    <p:sldId id="604" r:id="rId25"/>
    <p:sldId id="602" r:id="rId26"/>
    <p:sldId id="596" r:id="rId27"/>
    <p:sldId id="597" r:id="rId28"/>
    <p:sldId id="586" r:id="rId29"/>
    <p:sldId id="296" r:id="rId30"/>
    <p:sldId id="297" r:id="rId31"/>
    <p:sldId id="266" r:id="rId32"/>
    <p:sldId id="606" r:id="rId33"/>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5EAF5"/>
    <a:srgbClr val="EDF1F9"/>
    <a:srgbClr val="9DC3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Style clair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458" autoAdjust="0"/>
    <p:restoredTop sz="94660"/>
  </p:normalViewPr>
  <p:slideViewPr>
    <p:cSldViewPr snapToGrid="0">
      <p:cViewPr>
        <p:scale>
          <a:sx n="89" d="100"/>
          <a:sy n="89" d="100"/>
        </p:scale>
        <p:origin x="-284" y="-9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21" Type="http://schemas.openxmlformats.org/officeDocument/2006/relationships/slide" Target="slides/slide18.xml"/><Relationship Id="rId34" Type="http://schemas.openxmlformats.org/officeDocument/2006/relationships/notesMaster" Target="notesMasters/notesMaster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viewProps" Target="viewProp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presProps" Target="presProps.xml"/><Relationship Id="rId8" Type="http://schemas.openxmlformats.org/officeDocument/2006/relationships/slide" Target="slides/slide5.xml"/><Relationship Id="rId3" Type="http://schemas.openxmlformats.org/officeDocument/2006/relationships/slideMaster" Target="slideMasters/slideMaster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CI"/>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4A497D-F1F0-498C-B736-62A06A531E57}" type="datetimeFigureOut">
              <a:rPr lang="fr-CI" smtClean="0"/>
              <a:t>14/07/2026</a:t>
            </a:fld>
            <a:endParaRPr lang="fr-CI"/>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CI"/>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I"/>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CI"/>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0A87B9-E44F-4496-99F9-724F6AD9D805}" type="slidenum">
              <a:rPr lang="fr-CI" smtClean="0"/>
              <a:t>‹N°›</a:t>
            </a:fld>
            <a:endParaRPr lang="fr-CI"/>
          </a:p>
        </p:txBody>
      </p:sp>
    </p:spTree>
    <p:extLst>
      <p:ext uri="{BB962C8B-B14F-4D97-AF65-F5344CB8AC3E}">
        <p14:creationId xmlns:p14="http://schemas.microsoft.com/office/powerpoint/2010/main" val="40667058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34163B-1C9D-CD3E-512A-F8CA8F0E0F8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A3ACD59-3B73-D4DF-2F4B-4216EE382910}"/>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2E5F9876-64E5-8D87-AB3A-2269A68CB976}"/>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78736B17-FE17-88B8-8BF6-43935D016B8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FC6E51A-D541-44FA-9997-59AF8CA6A4B1}" type="slidenum">
              <a:rPr kumimoji="0" lang="fr-CI"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fr-CI"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444228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08B4CC-338D-D411-CCDC-291B5BD242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F2A476-D758-EA6D-17F7-9A7A292D22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B7D89F-FD7B-D316-B8A3-225B2DDF03FD}"/>
              </a:ext>
            </a:extLst>
          </p:cNvPr>
          <p:cNvSpPr>
            <a:spLocks noGrp="1"/>
          </p:cNvSpPr>
          <p:nvPr>
            <p:ph type="body" idx="1"/>
          </p:nvPr>
        </p:nvSpPr>
        <p:spPr/>
        <p:txBody>
          <a:bodyPr/>
          <a:lstStyle/>
          <a:p>
            <a:r>
              <a:rPr lang="en-US" dirty="0"/>
              <a:t>Slide de transition vers la Partie 3.</a:t>
            </a:r>
          </a:p>
        </p:txBody>
      </p:sp>
      <p:sp>
        <p:nvSpPr>
          <p:cNvPr id="4" name="Slide Number Placeholder 3">
            <a:extLst>
              <a:ext uri="{FF2B5EF4-FFF2-40B4-BE49-F238E27FC236}">
                <a16:creationId xmlns:a16="http://schemas.microsoft.com/office/drawing/2014/main" id="{05D7C184-B064-BD2C-6568-21894104823F}"/>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1725386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9A88-4A89-130F-FA1C-DAF7CA9F36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2285D6-6803-EB1D-EBBD-290E5E81DE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0D6A77-20C9-9483-807F-E442C0869BA6}"/>
              </a:ext>
            </a:extLst>
          </p:cNvPr>
          <p:cNvSpPr>
            <a:spLocks noGrp="1"/>
          </p:cNvSpPr>
          <p:nvPr>
            <p:ph type="body" idx="1"/>
          </p:nvPr>
        </p:nvSpPr>
        <p:spPr/>
        <p:txBody>
          <a:bodyPr/>
          <a:lstStyle/>
          <a:p>
            <a:r>
              <a:rPr lang="en-US" dirty="0"/>
              <a:t>Slide de transition vers la Partie 3.</a:t>
            </a:r>
          </a:p>
        </p:txBody>
      </p:sp>
      <p:sp>
        <p:nvSpPr>
          <p:cNvPr id="4" name="Slide Number Placeholder 3">
            <a:extLst>
              <a:ext uri="{FF2B5EF4-FFF2-40B4-BE49-F238E27FC236}">
                <a16:creationId xmlns:a16="http://schemas.microsoft.com/office/drawing/2014/main" id="{5A649B8A-42DA-A36B-3B53-9A197F342276}"/>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769999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ABAAFE-6EE4-B889-F5FF-6CAA2AB3FF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DB5EE5-5509-0C43-E8E0-5195858DDF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4A96CC-02B0-7BAB-AE12-C9881D7D5F96}"/>
              </a:ext>
            </a:extLst>
          </p:cNvPr>
          <p:cNvSpPr>
            <a:spLocks noGrp="1"/>
          </p:cNvSpPr>
          <p:nvPr>
            <p:ph type="body" idx="1"/>
          </p:nvPr>
        </p:nvSpPr>
        <p:spPr/>
        <p:txBody>
          <a:bodyPr/>
          <a:lstStyle/>
          <a:p>
            <a:r>
              <a:rPr lang="en-US" dirty="0"/>
              <a:t>Slide de transition vers la Partie 3.</a:t>
            </a:r>
          </a:p>
        </p:txBody>
      </p:sp>
      <p:sp>
        <p:nvSpPr>
          <p:cNvPr id="4" name="Slide Number Placeholder 3">
            <a:extLst>
              <a:ext uri="{FF2B5EF4-FFF2-40B4-BE49-F238E27FC236}">
                <a16:creationId xmlns:a16="http://schemas.microsoft.com/office/drawing/2014/main" id="{E8910022-CCEF-1464-9935-C676BB1C2F46}"/>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881305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Expliquez les 3 tables KDB, le périmètre 2024-2025 et les 19 features construites en R et Python.</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FEC38C-2F20-EFEB-A17A-93D0FA9670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C58FC1-D1B8-E895-C3FB-4E8BBBE8CF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1CADBD-E0A8-39F3-CCA9-21A6418C1012}"/>
              </a:ext>
            </a:extLst>
          </p:cNvPr>
          <p:cNvSpPr>
            <a:spLocks noGrp="1"/>
          </p:cNvSpPr>
          <p:nvPr>
            <p:ph type="body" idx="1"/>
          </p:nvPr>
        </p:nvSpPr>
        <p:spPr/>
        <p:txBody>
          <a:bodyPr/>
          <a:lstStyle/>
          <a:p>
            <a:r>
              <a:rPr lang="en-US" dirty="0"/>
              <a:t>Slide 5 — Expliquez les 3 tables KDB, le périmètre 2024-2025 et les 19 features construites en R et Python.</a:t>
            </a:r>
          </a:p>
        </p:txBody>
      </p:sp>
      <p:sp>
        <p:nvSpPr>
          <p:cNvPr id="4" name="Slide Number Placeholder 3">
            <a:extLst>
              <a:ext uri="{FF2B5EF4-FFF2-40B4-BE49-F238E27FC236}">
                <a16:creationId xmlns:a16="http://schemas.microsoft.com/office/drawing/2014/main" id="{2B06D300-68EB-B1E8-A34A-78D22C07314E}"/>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9058413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65AF0D-56CD-0495-0002-76DB7B388C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ED0E45-81B3-2BD3-2897-42BEF36014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32C913-07D4-7AE2-0F8F-17B0AA26C676}"/>
              </a:ext>
            </a:extLst>
          </p:cNvPr>
          <p:cNvSpPr>
            <a:spLocks noGrp="1"/>
          </p:cNvSpPr>
          <p:nvPr>
            <p:ph type="body" idx="1"/>
          </p:nvPr>
        </p:nvSpPr>
        <p:spPr/>
        <p:txBody>
          <a:bodyPr/>
          <a:lstStyle/>
          <a:p>
            <a:r>
              <a:rPr lang="en-US" dirty="0"/>
              <a:t>Slide 5 — Expliquez les 3 tables KDB, le périmètre 2024-2025 et les 19 features construites en R et Python.</a:t>
            </a:r>
          </a:p>
        </p:txBody>
      </p:sp>
      <p:sp>
        <p:nvSpPr>
          <p:cNvPr id="4" name="Slide Number Placeholder 3">
            <a:extLst>
              <a:ext uri="{FF2B5EF4-FFF2-40B4-BE49-F238E27FC236}">
                <a16:creationId xmlns:a16="http://schemas.microsoft.com/office/drawing/2014/main" id="{8742E351-8A06-0275-A74A-83E406E107C0}"/>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601512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2654E9-01ED-6795-4BD9-608FC2C3EA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2F9B84-DA44-9B94-9E9D-A9ECC1A195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895622-5885-0603-70ED-BC7075110959}"/>
              </a:ext>
            </a:extLst>
          </p:cNvPr>
          <p:cNvSpPr>
            <a:spLocks noGrp="1"/>
          </p:cNvSpPr>
          <p:nvPr>
            <p:ph type="body" idx="1"/>
          </p:nvPr>
        </p:nvSpPr>
        <p:spPr/>
        <p:txBody>
          <a:bodyPr/>
          <a:lstStyle/>
          <a:p>
            <a:r>
              <a:rPr lang="en-US" dirty="0"/>
              <a:t>Slide de transition vers la Partie 3.</a:t>
            </a:r>
          </a:p>
        </p:txBody>
      </p:sp>
      <p:sp>
        <p:nvSpPr>
          <p:cNvPr id="4" name="Slide Number Placeholder 3">
            <a:extLst>
              <a:ext uri="{FF2B5EF4-FFF2-40B4-BE49-F238E27FC236}">
                <a16:creationId xmlns:a16="http://schemas.microsoft.com/office/drawing/2014/main" id="{FE0EC5DA-C37A-6426-B096-8010C689C7C1}"/>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9024706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Expliquez la matrice de confusion et les 4 métriques utilisées.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2BC4F1-CBA5-D511-F3B3-AC390F1765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A10996-379B-7CDA-8682-E85B685614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BDD609-2817-FA9C-EFE7-58564974B7B2}"/>
              </a:ext>
            </a:extLst>
          </p:cNvPr>
          <p:cNvSpPr>
            <a:spLocks noGrp="1"/>
          </p:cNvSpPr>
          <p:nvPr>
            <p:ph type="body" idx="1"/>
          </p:nvPr>
        </p:nvSpPr>
        <p:spPr/>
        <p:txBody>
          <a:bodyPr/>
          <a:lstStyle/>
          <a:p>
            <a:r>
              <a:rPr lang="en-US" dirty="0"/>
              <a:t>Slide de transition vers la Partie 3.</a:t>
            </a:r>
          </a:p>
        </p:txBody>
      </p:sp>
      <p:sp>
        <p:nvSpPr>
          <p:cNvPr id="4" name="Slide Number Placeholder 3">
            <a:extLst>
              <a:ext uri="{FF2B5EF4-FFF2-40B4-BE49-F238E27FC236}">
                <a16:creationId xmlns:a16="http://schemas.microsoft.com/office/drawing/2014/main" id="{71335BEC-ED9A-01A7-E921-61ED4E34CF30}"/>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678854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C335AB-C7E1-F34C-ABDA-21499410011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96E5E02-8505-F8DE-C047-3DB4369343DF}"/>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D1E2D2A1-1591-DDF7-A642-60420B9B4AC3}"/>
              </a:ext>
            </a:extLst>
          </p:cNvPr>
          <p:cNvSpPr>
            <a:spLocks noGrp="1"/>
          </p:cNvSpPr>
          <p:nvPr>
            <p:ph type="body" idx="1"/>
          </p:nvPr>
        </p:nvSpPr>
        <p:spPr/>
        <p:txBody>
          <a:bodyPr/>
          <a:lstStyle/>
          <a:p>
            <a:endParaRPr lang="fr-CI" dirty="0"/>
          </a:p>
        </p:txBody>
      </p:sp>
      <p:sp>
        <p:nvSpPr>
          <p:cNvPr id="4" name="Espace réservé du numéro de diapositive 3">
            <a:extLst>
              <a:ext uri="{FF2B5EF4-FFF2-40B4-BE49-F238E27FC236}">
                <a16:creationId xmlns:a16="http://schemas.microsoft.com/office/drawing/2014/main" id="{4AA12E3E-A61B-F160-D771-7415C9B8A359}"/>
              </a:ext>
            </a:extLst>
          </p:cNvPr>
          <p:cNvSpPr>
            <a:spLocks noGrp="1"/>
          </p:cNvSpPr>
          <p:nvPr>
            <p:ph type="sldNum" sz="quarter" idx="5"/>
          </p:nvPr>
        </p:nvSpPr>
        <p:spPr/>
        <p:txBody>
          <a:bodyPr/>
          <a:lstStyle/>
          <a:p>
            <a:fld id="{870A87B9-E44F-4496-99F9-724F6AD9D805}" type="slidenum">
              <a:rPr lang="fr-CI" smtClean="0"/>
              <a:t>29</a:t>
            </a:fld>
            <a:endParaRPr lang="fr-CI"/>
          </a:p>
        </p:txBody>
      </p:sp>
    </p:spTree>
    <p:extLst>
      <p:ext uri="{BB962C8B-B14F-4D97-AF65-F5344CB8AC3E}">
        <p14:creationId xmlns:p14="http://schemas.microsoft.com/office/powerpoint/2010/main" val="30562980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4883AD-E88E-27B5-9615-8D674749D1F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E95980E-CC49-D75B-69D3-69189A6B3880}"/>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2CAE2471-83FA-F788-1339-C90178F513FF}"/>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EEF3C038-3FA1-E5F8-D33D-2C3E30BC7AD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FC6E51A-D541-44FA-9997-59AF8CA6A4B1}" type="slidenum">
              <a:rPr kumimoji="0" lang="fr-CI"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fr-CI"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1171000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e de titre">
    <p:spTree>
      <p:nvGrpSpPr>
        <p:cNvPr id="1" name=""/>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id="{5BDE233E-66E1-8D01-A9B4-83D0F4BE92B6}"/>
              </a:ext>
            </a:extLst>
          </p:cNvPr>
          <p:cNvSpPr>
            <a:spLocks noGrp="1"/>
          </p:cNvSpPr>
          <p:nvPr>
            <p:ph type="dt" sz="half" idx="10"/>
          </p:nvPr>
        </p:nvSpPr>
        <p:spPr/>
        <p:txBody>
          <a:bodyPr/>
          <a:lstStyle/>
          <a:p>
            <a:fld id="{882E1538-0FC8-4D50-9711-7C7F54A00D4A}" type="datetimeFigureOut">
              <a:rPr lang="fr-CI" smtClean="0"/>
              <a:t>14/07/2026</a:t>
            </a:fld>
            <a:endParaRPr lang="fr-CI"/>
          </a:p>
        </p:txBody>
      </p:sp>
      <p:sp>
        <p:nvSpPr>
          <p:cNvPr id="5" name="Espace réservé du pied de page 4">
            <a:extLst>
              <a:ext uri="{FF2B5EF4-FFF2-40B4-BE49-F238E27FC236}">
                <a16:creationId xmlns:a16="http://schemas.microsoft.com/office/drawing/2014/main" id="{99425737-8A9A-6606-20AF-7591DD5C0A6E}"/>
              </a:ext>
            </a:extLst>
          </p:cNvPr>
          <p:cNvSpPr>
            <a:spLocks noGrp="1"/>
          </p:cNvSpPr>
          <p:nvPr>
            <p:ph type="ftr" sz="quarter" idx="11"/>
          </p:nvPr>
        </p:nvSpPr>
        <p:spPr/>
        <p:txBody>
          <a:bodyPr/>
          <a:lstStyle/>
          <a:p>
            <a:endParaRPr lang="fr-CI"/>
          </a:p>
        </p:txBody>
      </p:sp>
      <p:sp>
        <p:nvSpPr>
          <p:cNvPr id="6" name="Espace réservé du numéro de diapositive 5">
            <a:extLst>
              <a:ext uri="{FF2B5EF4-FFF2-40B4-BE49-F238E27FC236}">
                <a16:creationId xmlns:a16="http://schemas.microsoft.com/office/drawing/2014/main" id="{6B5117AF-19F8-C662-B932-235678F64A98}"/>
              </a:ext>
            </a:extLst>
          </p:cNvPr>
          <p:cNvSpPr>
            <a:spLocks noGrp="1"/>
          </p:cNvSpPr>
          <p:nvPr>
            <p:ph type="sldNum" sz="quarter" idx="12"/>
          </p:nvPr>
        </p:nvSpPr>
        <p:spPr/>
        <p:txBody>
          <a:bodyPr/>
          <a:lstStyle/>
          <a:p>
            <a:fld id="{F791978A-C476-46F3-92CE-CDF19E773B70}" type="slidenum">
              <a:rPr lang="fr-CI" smtClean="0"/>
              <a:t>‹N°›</a:t>
            </a:fld>
            <a:endParaRPr lang="fr-CI"/>
          </a:p>
        </p:txBody>
      </p:sp>
      <p:sp>
        <p:nvSpPr>
          <p:cNvPr id="8" name="Espace réservé du numéro de diapositive 11">
            <a:extLst>
              <a:ext uri="{FF2B5EF4-FFF2-40B4-BE49-F238E27FC236}">
                <a16:creationId xmlns:a16="http://schemas.microsoft.com/office/drawing/2014/main" id="{12FFECA5-2417-B974-842D-EFA129F547E9}"/>
              </a:ext>
            </a:extLst>
          </p:cNvPr>
          <p:cNvSpPr txBox="1">
            <a:spLocks/>
          </p:cNvSpPr>
          <p:nvPr userDrawn="1">
            <p:custDataLst>
              <p:tags r:id="rId1"/>
            </p:custDataLst>
          </p:nvPr>
        </p:nvSpPr>
        <p:spPr>
          <a:xfrm>
            <a:off x="11655922" y="6557253"/>
            <a:ext cx="401596" cy="246558"/>
          </a:xfrm>
          <a:prstGeom prst="rect">
            <a:avLst/>
          </a:prstGeom>
          <a:ln>
            <a:solidFill>
              <a:schemeClr val="tx2"/>
            </a:solidFill>
          </a:ln>
        </p:spPr>
        <p:txBody>
          <a:bodyPr vert="horz" lIns="91440" tIns="45720" rIns="91440" bIns="45720" rtlCol="0" anchor="ctr"/>
          <a:lstStyle>
            <a:defPPr>
              <a:defRPr lang="fr-FR"/>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B66F920F-79B5-4B71-8F71-87BB7E2092D9}" type="slidenum">
              <a:rPr lang="fr-FR" sz="1000" b="1" smtClean="0">
                <a:solidFill>
                  <a:schemeClr val="tx2"/>
                </a:solidFill>
                <a:latin typeface="Calibri" panose="020F0502020204030204" pitchFamily="34" charset="0"/>
                <a:ea typeface="Calibri" panose="020F0502020204030204" pitchFamily="34" charset="0"/>
                <a:cs typeface="Calibri" panose="020F0502020204030204" pitchFamily="34" charset="0"/>
              </a:rPr>
              <a:pPr algn="ctr"/>
              <a:t>‹N°›</a:t>
            </a:fld>
            <a:endParaRPr lang="fr-FR" sz="1000" b="1" dirty="0">
              <a:solidFill>
                <a:schemeClr val="tx2"/>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399051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6414417-4DD2-0E04-8D22-F3EC99EC1973}"/>
              </a:ext>
            </a:extLst>
          </p:cNvPr>
          <p:cNvSpPr>
            <a:spLocks noGrp="1"/>
          </p:cNvSpPr>
          <p:nvPr>
            <p:ph type="title"/>
          </p:nvPr>
        </p:nvSpPr>
        <p:spPr/>
        <p:txBody>
          <a:bodyPr/>
          <a:lstStyle/>
          <a:p>
            <a:r>
              <a:rPr lang="fr-FR"/>
              <a:t>Modifiez le style du titre</a:t>
            </a:r>
            <a:endParaRPr lang="fr-CI"/>
          </a:p>
        </p:txBody>
      </p:sp>
      <p:sp>
        <p:nvSpPr>
          <p:cNvPr id="3" name="Espace réservé du contenu 2">
            <a:extLst>
              <a:ext uri="{FF2B5EF4-FFF2-40B4-BE49-F238E27FC236}">
                <a16:creationId xmlns:a16="http://schemas.microsoft.com/office/drawing/2014/main" id="{EAEBEF9E-BE74-3478-4DD1-A7C941D67BDE}"/>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I"/>
          </a:p>
        </p:txBody>
      </p:sp>
      <p:sp>
        <p:nvSpPr>
          <p:cNvPr id="4" name="Espace réservé de la date 3">
            <a:extLst>
              <a:ext uri="{FF2B5EF4-FFF2-40B4-BE49-F238E27FC236}">
                <a16:creationId xmlns:a16="http://schemas.microsoft.com/office/drawing/2014/main" id="{CDD64134-9D49-4DFF-4C2F-60B11C6572A7}"/>
              </a:ext>
            </a:extLst>
          </p:cNvPr>
          <p:cNvSpPr>
            <a:spLocks noGrp="1"/>
          </p:cNvSpPr>
          <p:nvPr>
            <p:ph type="dt" sz="half" idx="10"/>
          </p:nvPr>
        </p:nvSpPr>
        <p:spPr/>
        <p:txBody>
          <a:bodyPr/>
          <a:lstStyle/>
          <a:p>
            <a:fld id="{882E1538-0FC8-4D50-9711-7C7F54A00D4A}" type="datetimeFigureOut">
              <a:rPr lang="fr-CI" smtClean="0"/>
              <a:t>14/07/2026</a:t>
            </a:fld>
            <a:endParaRPr lang="fr-CI"/>
          </a:p>
        </p:txBody>
      </p:sp>
      <p:sp>
        <p:nvSpPr>
          <p:cNvPr id="5" name="Espace réservé du pied de page 4">
            <a:extLst>
              <a:ext uri="{FF2B5EF4-FFF2-40B4-BE49-F238E27FC236}">
                <a16:creationId xmlns:a16="http://schemas.microsoft.com/office/drawing/2014/main" id="{0E7D642D-F1E9-4BE9-7129-64895B916C92}"/>
              </a:ext>
            </a:extLst>
          </p:cNvPr>
          <p:cNvSpPr>
            <a:spLocks noGrp="1"/>
          </p:cNvSpPr>
          <p:nvPr>
            <p:ph type="ftr" sz="quarter" idx="11"/>
          </p:nvPr>
        </p:nvSpPr>
        <p:spPr/>
        <p:txBody>
          <a:bodyPr/>
          <a:lstStyle/>
          <a:p>
            <a:endParaRPr lang="fr-CI"/>
          </a:p>
        </p:txBody>
      </p:sp>
      <p:sp>
        <p:nvSpPr>
          <p:cNvPr id="6" name="Espace réservé du numéro de diapositive 5">
            <a:extLst>
              <a:ext uri="{FF2B5EF4-FFF2-40B4-BE49-F238E27FC236}">
                <a16:creationId xmlns:a16="http://schemas.microsoft.com/office/drawing/2014/main" id="{19CF7E9E-BDF1-108A-DE9E-55227AA16258}"/>
              </a:ext>
            </a:extLst>
          </p:cNvPr>
          <p:cNvSpPr>
            <a:spLocks noGrp="1"/>
          </p:cNvSpPr>
          <p:nvPr>
            <p:ph type="sldNum" sz="quarter" idx="12"/>
          </p:nvPr>
        </p:nvSpPr>
        <p:spPr/>
        <p:txBody>
          <a:bodyPr/>
          <a:lstStyle/>
          <a:p>
            <a:fld id="{F791978A-C476-46F3-92CE-CDF19E773B70}" type="slidenum">
              <a:rPr lang="fr-CI" smtClean="0"/>
              <a:t>‹N°›</a:t>
            </a:fld>
            <a:endParaRPr lang="fr-CI"/>
          </a:p>
        </p:txBody>
      </p:sp>
    </p:spTree>
    <p:extLst>
      <p:ext uri="{BB962C8B-B14F-4D97-AF65-F5344CB8AC3E}">
        <p14:creationId xmlns:p14="http://schemas.microsoft.com/office/powerpoint/2010/main" val="38291855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620B9CF-1A39-E431-E07E-DC20A19371E3}"/>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fr-CI"/>
          </a:p>
        </p:txBody>
      </p:sp>
      <p:sp>
        <p:nvSpPr>
          <p:cNvPr id="3" name="Espace réservé du texte 2">
            <a:extLst>
              <a:ext uri="{FF2B5EF4-FFF2-40B4-BE49-F238E27FC236}">
                <a16:creationId xmlns:a16="http://schemas.microsoft.com/office/drawing/2014/main" id="{44E0ABFE-25BB-6A7E-4BF4-94D7CF83BA5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C739BE8A-9E06-C79E-1759-55D0F0B5E9D1}"/>
              </a:ext>
            </a:extLst>
          </p:cNvPr>
          <p:cNvSpPr>
            <a:spLocks noGrp="1"/>
          </p:cNvSpPr>
          <p:nvPr>
            <p:ph type="dt" sz="half" idx="10"/>
          </p:nvPr>
        </p:nvSpPr>
        <p:spPr/>
        <p:txBody>
          <a:bodyPr/>
          <a:lstStyle/>
          <a:p>
            <a:fld id="{882E1538-0FC8-4D50-9711-7C7F54A00D4A}" type="datetimeFigureOut">
              <a:rPr lang="fr-CI" smtClean="0"/>
              <a:t>14/07/2026</a:t>
            </a:fld>
            <a:endParaRPr lang="fr-CI"/>
          </a:p>
        </p:txBody>
      </p:sp>
      <p:sp>
        <p:nvSpPr>
          <p:cNvPr id="5" name="Espace réservé du pied de page 4">
            <a:extLst>
              <a:ext uri="{FF2B5EF4-FFF2-40B4-BE49-F238E27FC236}">
                <a16:creationId xmlns:a16="http://schemas.microsoft.com/office/drawing/2014/main" id="{C2D58C95-C11F-AE51-2166-A1CFADA64E44}"/>
              </a:ext>
            </a:extLst>
          </p:cNvPr>
          <p:cNvSpPr>
            <a:spLocks noGrp="1"/>
          </p:cNvSpPr>
          <p:nvPr>
            <p:ph type="ftr" sz="quarter" idx="11"/>
          </p:nvPr>
        </p:nvSpPr>
        <p:spPr/>
        <p:txBody>
          <a:bodyPr/>
          <a:lstStyle/>
          <a:p>
            <a:endParaRPr lang="fr-CI"/>
          </a:p>
        </p:txBody>
      </p:sp>
      <p:sp>
        <p:nvSpPr>
          <p:cNvPr id="6" name="Espace réservé du numéro de diapositive 5">
            <a:extLst>
              <a:ext uri="{FF2B5EF4-FFF2-40B4-BE49-F238E27FC236}">
                <a16:creationId xmlns:a16="http://schemas.microsoft.com/office/drawing/2014/main" id="{155381D1-E33A-6D0B-7920-F1334B00A2C3}"/>
              </a:ext>
            </a:extLst>
          </p:cNvPr>
          <p:cNvSpPr>
            <a:spLocks noGrp="1"/>
          </p:cNvSpPr>
          <p:nvPr>
            <p:ph type="sldNum" sz="quarter" idx="12"/>
          </p:nvPr>
        </p:nvSpPr>
        <p:spPr/>
        <p:txBody>
          <a:bodyPr/>
          <a:lstStyle/>
          <a:p>
            <a:fld id="{F791978A-C476-46F3-92CE-CDF19E773B70}" type="slidenum">
              <a:rPr lang="fr-CI" smtClean="0"/>
              <a:t>‹N°›</a:t>
            </a:fld>
            <a:endParaRPr lang="fr-CI"/>
          </a:p>
        </p:txBody>
      </p:sp>
    </p:spTree>
    <p:extLst>
      <p:ext uri="{BB962C8B-B14F-4D97-AF65-F5344CB8AC3E}">
        <p14:creationId xmlns:p14="http://schemas.microsoft.com/office/powerpoint/2010/main" val="38484125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7A5F012-CA5A-4C5E-7A25-81CEA0AE5BFC}"/>
              </a:ext>
            </a:extLst>
          </p:cNvPr>
          <p:cNvSpPr>
            <a:spLocks noGrp="1"/>
          </p:cNvSpPr>
          <p:nvPr>
            <p:ph type="title"/>
          </p:nvPr>
        </p:nvSpPr>
        <p:spPr/>
        <p:txBody>
          <a:bodyPr/>
          <a:lstStyle/>
          <a:p>
            <a:r>
              <a:rPr lang="fr-FR"/>
              <a:t>Modifiez le style du titre</a:t>
            </a:r>
            <a:endParaRPr lang="fr-CI"/>
          </a:p>
        </p:txBody>
      </p:sp>
      <p:sp>
        <p:nvSpPr>
          <p:cNvPr id="3" name="Espace réservé du contenu 2">
            <a:extLst>
              <a:ext uri="{FF2B5EF4-FFF2-40B4-BE49-F238E27FC236}">
                <a16:creationId xmlns:a16="http://schemas.microsoft.com/office/drawing/2014/main" id="{49761B81-392C-EEDC-19B8-63DE7425C74B}"/>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I"/>
          </a:p>
        </p:txBody>
      </p:sp>
      <p:sp>
        <p:nvSpPr>
          <p:cNvPr id="4" name="Espace réservé du contenu 3">
            <a:extLst>
              <a:ext uri="{FF2B5EF4-FFF2-40B4-BE49-F238E27FC236}">
                <a16:creationId xmlns:a16="http://schemas.microsoft.com/office/drawing/2014/main" id="{396800B4-08ED-3F2B-BEC6-62E976830D8F}"/>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I"/>
          </a:p>
        </p:txBody>
      </p:sp>
      <p:sp>
        <p:nvSpPr>
          <p:cNvPr id="5" name="Espace réservé de la date 4">
            <a:extLst>
              <a:ext uri="{FF2B5EF4-FFF2-40B4-BE49-F238E27FC236}">
                <a16:creationId xmlns:a16="http://schemas.microsoft.com/office/drawing/2014/main" id="{E0958AF7-8A30-D644-846D-0C385687BA5E}"/>
              </a:ext>
            </a:extLst>
          </p:cNvPr>
          <p:cNvSpPr>
            <a:spLocks noGrp="1"/>
          </p:cNvSpPr>
          <p:nvPr>
            <p:ph type="dt" sz="half" idx="10"/>
          </p:nvPr>
        </p:nvSpPr>
        <p:spPr/>
        <p:txBody>
          <a:bodyPr/>
          <a:lstStyle/>
          <a:p>
            <a:fld id="{882E1538-0FC8-4D50-9711-7C7F54A00D4A}" type="datetimeFigureOut">
              <a:rPr lang="fr-CI" smtClean="0"/>
              <a:t>14/07/2026</a:t>
            </a:fld>
            <a:endParaRPr lang="fr-CI"/>
          </a:p>
        </p:txBody>
      </p:sp>
      <p:sp>
        <p:nvSpPr>
          <p:cNvPr id="6" name="Espace réservé du pied de page 5">
            <a:extLst>
              <a:ext uri="{FF2B5EF4-FFF2-40B4-BE49-F238E27FC236}">
                <a16:creationId xmlns:a16="http://schemas.microsoft.com/office/drawing/2014/main" id="{5884680F-616D-6585-ED59-961C9EC5AB41}"/>
              </a:ext>
            </a:extLst>
          </p:cNvPr>
          <p:cNvSpPr>
            <a:spLocks noGrp="1"/>
          </p:cNvSpPr>
          <p:nvPr>
            <p:ph type="ftr" sz="quarter" idx="11"/>
          </p:nvPr>
        </p:nvSpPr>
        <p:spPr/>
        <p:txBody>
          <a:bodyPr/>
          <a:lstStyle/>
          <a:p>
            <a:endParaRPr lang="fr-CI"/>
          </a:p>
        </p:txBody>
      </p:sp>
      <p:sp>
        <p:nvSpPr>
          <p:cNvPr id="7" name="Espace réservé du numéro de diapositive 6">
            <a:extLst>
              <a:ext uri="{FF2B5EF4-FFF2-40B4-BE49-F238E27FC236}">
                <a16:creationId xmlns:a16="http://schemas.microsoft.com/office/drawing/2014/main" id="{BFF4BF74-02F1-DD8B-FFEF-3BBC13D265AA}"/>
              </a:ext>
            </a:extLst>
          </p:cNvPr>
          <p:cNvSpPr>
            <a:spLocks noGrp="1"/>
          </p:cNvSpPr>
          <p:nvPr>
            <p:ph type="sldNum" sz="quarter" idx="12"/>
          </p:nvPr>
        </p:nvSpPr>
        <p:spPr/>
        <p:txBody>
          <a:bodyPr/>
          <a:lstStyle/>
          <a:p>
            <a:fld id="{F791978A-C476-46F3-92CE-CDF19E773B70}" type="slidenum">
              <a:rPr lang="fr-CI" smtClean="0"/>
              <a:t>‹N°›</a:t>
            </a:fld>
            <a:endParaRPr lang="fr-CI"/>
          </a:p>
        </p:txBody>
      </p:sp>
    </p:spTree>
    <p:extLst>
      <p:ext uri="{BB962C8B-B14F-4D97-AF65-F5344CB8AC3E}">
        <p14:creationId xmlns:p14="http://schemas.microsoft.com/office/powerpoint/2010/main" val="32342568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E6613F6-3755-F767-BAF0-B1EF0BD98535}"/>
              </a:ext>
            </a:extLst>
          </p:cNvPr>
          <p:cNvSpPr>
            <a:spLocks noGrp="1"/>
          </p:cNvSpPr>
          <p:nvPr>
            <p:ph type="title"/>
          </p:nvPr>
        </p:nvSpPr>
        <p:spPr>
          <a:xfrm>
            <a:off x="839788" y="365125"/>
            <a:ext cx="10515600" cy="1325563"/>
          </a:xfrm>
        </p:spPr>
        <p:txBody>
          <a:bodyPr/>
          <a:lstStyle/>
          <a:p>
            <a:r>
              <a:rPr lang="fr-FR"/>
              <a:t>Modifiez le style du titre</a:t>
            </a:r>
            <a:endParaRPr lang="fr-CI"/>
          </a:p>
        </p:txBody>
      </p:sp>
      <p:sp>
        <p:nvSpPr>
          <p:cNvPr id="3" name="Espace réservé du texte 2">
            <a:extLst>
              <a:ext uri="{FF2B5EF4-FFF2-40B4-BE49-F238E27FC236}">
                <a16:creationId xmlns:a16="http://schemas.microsoft.com/office/drawing/2014/main" id="{E59BD260-72F2-B901-1994-1FA856FFD58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19E67E52-F00A-20F6-E485-8E52BF29DEB1}"/>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I"/>
          </a:p>
        </p:txBody>
      </p:sp>
      <p:sp>
        <p:nvSpPr>
          <p:cNvPr id="5" name="Espace réservé du texte 4">
            <a:extLst>
              <a:ext uri="{FF2B5EF4-FFF2-40B4-BE49-F238E27FC236}">
                <a16:creationId xmlns:a16="http://schemas.microsoft.com/office/drawing/2014/main" id="{14615190-7F61-5EF8-B871-9D0EC98B67C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6CE04B5A-D756-B01B-2FFD-87314439F09F}"/>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I"/>
          </a:p>
        </p:txBody>
      </p:sp>
      <p:sp>
        <p:nvSpPr>
          <p:cNvPr id="7" name="Espace réservé de la date 6">
            <a:extLst>
              <a:ext uri="{FF2B5EF4-FFF2-40B4-BE49-F238E27FC236}">
                <a16:creationId xmlns:a16="http://schemas.microsoft.com/office/drawing/2014/main" id="{08F69337-3266-A690-EA91-CA67D9D8732B}"/>
              </a:ext>
            </a:extLst>
          </p:cNvPr>
          <p:cNvSpPr>
            <a:spLocks noGrp="1"/>
          </p:cNvSpPr>
          <p:nvPr>
            <p:ph type="dt" sz="half" idx="10"/>
          </p:nvPr>
        </p:nvSpPr>
        <p:spPr/>
        <p:txBody>
          <a:bodyPr/>
          <a:lstStyle/>
          <a:p>
            <a:fld id="{882E1538-0FC8-4D50-9711-7C7F54A00D4A}" type="datetimeFigureOut">
              <a:rPr lang="fr-CI" smtClean="0"/>
              <a:t>14/07/2026</a:t>
            </a:fld>
            <a:endParaRPr lang="fr-CI"/>
          </a:p>
        </p:txBody>
      </p:sp>
      <p:sp>
        <p:nvSpPr>
          <p:cNvPr id="8" name="Espace réservé du pied de page 7">
            <a:extLst>
              <a:ext uri="{FF2B5EF4-FFF2-40B4-BE49-F238E27FC236}">
                <a16:creationId xmlns:a16="http://schemas.microsoft.com/office/drawing/2014/main" id="{BD106494-AC0C-C4FD-03DD-5F566C38AF35}"/>
              </a:ext>
            </a:extLst>
          </p:cNvPr>
          <p:cNvSpPr>
            <a:spLocks noGrp="1"/>
          </p:cNvSpPr>
          <p:nvPr>
            <p:ph type="ftr" sz="quarter" idx="11"/>
          </p:nvPr>
        </p:nvSpPr>
        <p:spPr/>
        <p:txBody>
          <a:bodyPr/>
          <a:lstStyle/>
          <a:p>
            <a:endParaRPr lang="fr-CI"/>
          </a:p>
        </p:txBody>
      </p:sp>
      <p:sp>
        <p:nvSpPr>
          <p:cNvPr id="9" name="Espace réservé du numéro de diapositive 8">
            <a:extLst>
              <a:ext uri="{FF2B5EF4-FFF2-40B4-BE49-F238E27FC236}">
                <a16:creationId xmlns:a16="http://schemas.microsoft.com/office/drawing/2014/main" id="{161132B2-A051-E704-DB0A-3AC0D7FB85B4}"/>
              </a:ext>
            </a:extLst>
          </p:cNvPr>
          <p:cNvSpPr>
            <a:spLocks noGrp="1"/>
          </p:cNvSpPr>
          <p:nvPr>
            <p:ph type="sldNum" sz="quarter" idx="12"/>
          </p:nvPr>
        </p:nvSpPr>
        <p:spPr/>
        <p:txBody>
          <a:bodyPr/>
          <a:lstStyle/>
          <a:p>
            <a:fld id="{F791978A-C476-46F3-92CE-CDF19E773B70}" type="slidenum">
              <a:rPr lang="fr-CI" smtClean="0"/>
              <a:t>‹N°›</a:t>
            </a:fld>
            <a:endParaRPr lang="fr-CI"/>
          </a:p>
        </p:txBody>
      </p:sp>
    </p:spTree>
    <p:extLst>
      <p:ext uri="{BB962C8B-B14F-4D97-AF65-F5344CB8AC3E}">
        <p14:creationId xmlns:p14="http://schemas.microsoft.com/office/powerpoint/2010/main" val="37405658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5671388-BCB0-4AE2-B011-03D3A324CC60}"/>
              </a:ext>
            </a:extLst>
          </p:cNvPr>
          <p:cNvSpPr>
            <a:spLocks noGrp="1"/>
          </p:cNvSpPr>
          <p:nvPr>
            <p:ph type="title"/>
          </p:nvPr>
        </p:nvSpPr>
        <p:spPr/>
        <p:txBody>
          <a:bodyPr/>
          <a:lstStyle/>
          <a:p>
            <a:r>
              <a:rPr lang="fr-FR"/>
              <a:t>Modifiez le style du titre</a:t>
            </a:r>
            <a:endParaRPr lang="fr-CI"/>
          </a:p>
        </p:txBody>
      </p:sp>
      <p:sp>
        <p:nvSpPr>
          <p:cNvPr id="3" name="Espace réservé de la date 2">
            <a:extLst>
              <a:ext uri="{FF2B5EF4-FFF2-40B4-BE49-F238E27FC236}">
                <a16:creationId xmlns:a16="http://schemas.microsoft.com/office/drawing/2014/main" id="{7703229A-2580-82A7-36BC-A89CCCE34710}"/>
              </a:ext>
            </a:extLst>
          </p:cNvPr>
          <p:cNvSpPr>
            <a:spLocks noGrp="1"/>
          </p:cNvSpPr>
          <p:nvPr>
            <p:ph type="dt" sz="half" idx="10"/>
          </p:nvPr>
        </p:nvSpPr>
        <p:spPr/>
        <p:txBody>
          <a:bodyPr/>
          <a:lstStyle/>
          <a:p>
            <a:fld id="{882E1538-0FC8-4D50-9711-7C7F54A00D4A}" type="datetimeFigureOut">
              <a:rPr lang="fr-CI" smtClean="0"/>
              <a:t>14/07/2026</a:t>
            </a:fld>
            <a:endParaRPr lang="fr-CI"/>
          </a:p>
        </p:txBody>
      </p:sp>
      <p:sp>
        <p:nvSpPr>
          <p:cNvPr id="4" name="Espace réservé du pied de page 3">
            <a:extLst>
              <a:ext uri="{FF2B5EF4-FFF2-40B4-BE49-F238E27FC236}">
                <a16:creationId xmlns:a16="http://schemas.microsoft.com/office/drawing/2014/main" id="{BFD0F0B0-A791-A0D1-F67A-2D0B5D0E18BE}"/>
              </a:ext>
            </a:extLst>
          </p:cNvPr>
          <p:cNvSpPr>
            <a:spLocks noGrp="1"/>
          </p:cNvSpPr>
          <p:nvPr>
            <p:ph type="ftr" sz="quarter" idx="11"/>
          </p:nvPr>
        </p:nvSpPr>
        <p:spPr/>
        <p:txBody>
          <a:bodyPr/>
          <a:lstStyle/>
          <a:p>
            <a:endParaRPr lang="fr-CI"/>
          </a:p>
        </p:txBody>
      </p:sp>
      <p:sp>
        <p:nvSpPr>
          <p:cNvPr id="5" name="Espace réservé du numéro de diapositive 4">
            <a:extLst>
              <a:ext uri="{FF2B5EF4-FFF2-40B4-BE49-F238E27FC236}">
                <a16:creationId xmlns:a16="http://schemas.microsoft.com/office/drawing/2014/main" id="{7714614C-1B99-6352-6A76-970A0D576B85}"/>
              </a:ext>
            </a:extLst>
          </p:cNvPr>
          <p:cNvSpPr>
            <a:spLocks noGrp="1"/>
          </p:cNvSpPr>
          <p:nvPr>
            <p:ph type="sldNum" sz="quarter" idx="12"/>
          </p:nvPr>
        </p:nvSpPr>
        <p:spPr/>
        <p:txBody>
          <a:bodyPr/>
          <a:lstStyle/>
          <a:p>
            <a:fld id="{F791978A-C476-46F3-92CE-CDF19E773B70}" type="slidenum">
              <a:rPr lang="fr-CI" smtClean="0"/>
              <a:t>‹N°›</a:t>
            </a:fld>
            <a:endParaRPr lang="fr-CI"/>
          </a:p>
        </p:txBody>
      </p:sp>
    </p:spTree>
    <p:extLst>
      <p:ext uri="{BB962C8B-B14F-4D97-AF65-F5344CB8AC3E}">
        <p14:creationId xmlns:p14="http://schemas.microsoft.com/office/powerpoint/2010/main" val="16358200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595AF572-6EB0-9B1F-4C7C-DE788765DC43}"/>
              </a:ext>
            </a:extLst>
          </p:cNvPr>
          <p:cNvSpPr>
            <a:spLocks noGrp="1"/>
          </p:cNvSpPr>
          <p:nvPr>
            <p:ph type="dt" sz="half" idx="10"/>
          </p:nvPr>
        </p:nvSpPr>
        <p:spPr/>
        <p:txBody>
          <a:bodyPr/>
          <a:lstStyle/>
          <a:p>
            <a:fld id="{882E1538-0FC8-4D50-9711-7C7F54A00D4A}" type="datetimeFigureOut">
              <a:rPr lang="fr-CI" smtClean="0"/>
              <a:t>14/07/2026</a:t>
            </a:fld>
            <a:endParaRPr lang="fr-CI"/>
          </a:p>
        </p:txBody>
      </p:sp>
      <p:sp>
        <p:nvSpPr>
          <p:cNvPr id="3" name="Espace réservé du pied de page 2">
            <a:extLst>
              <a:ext uri="{FF2B5EF4-FFF2-40B4-BE49-F238E27FC236}">
                <a16:creationId xmlns:a16="http://schemas.microsoft.com/office/drawing/2014/main" id="{41EE9701-1DF5-55F4-62EB-E37BB94E4555}"/>
              </a:ext>
            </a:extLst>
          </p:cNvPr>
          <p:cNvSpPr>
            <a:spLocks noGrp="1"/>
          </p:cNvSpPr>
          <p:nvPr>
            <p:ph type="ftr" sz="quarter" idx="11"/>
          </p:nvPr>
        </p:nvSpPr>
        <p:spPr/>
        <p:txBody>
          <a:bodyPr/>
          <a:lstStyle/>
          <a:p>
            <a:endParaRPr lang="fr-CI"/>
          </a:p>
        </p:txBody>
      </p:sp>
      <p:sp>
        <p:nvSpPr>
          <p:cNvPr id="4" name="Espace réservé du numéro de diapositive 3">
            <a:extLst>
              <a:ext uri="{FF2B5EF4-FFF2-40B4-BE49-F238E27FC236}">
                <a16:creationId xmlns:a16="http://schemas.microsoft.com/office/drawing/2014/main" id="{6BB28D2E-9ED5-9A7A-3DCA-405A3A73CF1E}"/>
              </a:ext>
            </a:extLst>
          </p:cNvPr>
          <p:cNvSpPr>
            <a:spLocks noGrp="1"/>
          </p:cNvSpPr>
          <p:nvPr>
            <p:ph type="sldNum" sz="quarter" idx="12"/>
          </p:nvPr>
        </p:nvSpPr>
        <p:spPr/>
        <p:txBody>
          <a:bodyPr/>
          <a:lstStyle/>
          <a:p>
            <a:fld id="{F791978A-C476-46F3-92CE-CDF19E773B70}" type="slidenum">
              <a:rPr lang="fr-CI" smtClean="0"/>
              <a:t>‹N°›</a:t>
            </a:fld>
            <a:endParaRPr lang="fr-CI"/>
          </a:p>
        </p:txBody>
      </p:sp>
    </p:spTree>
    <p:extLst>
      <p:ext uri="{BB962C8B-B14F-4D97-AF65-F5344CB8AC3E}">
        <p14:creationId xmlns:p14="http://schemas.microsoft.com/office/powerpoint/2010/main" val="9299845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757767A-2055-5BCB-3E90-90111D0EBF49}"/>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CI"/>
          </a:p>
        </p:txBody>
      </p:sp>
      <p:sp>
        <p:nvSpPr>
          <p:cNvPr id="3" name="Espace réservé du contenu 2">
            <a:extLst>
              <a:ext uri="{FF2B5EF4-FFF2-40B4-BE49-F238E27FC236}">
                <a16:creationId xmlns:a16="http://schemas.microsoft.com/office/drawing/2014/main" id="{3D456DA9-0D18-9F00-302C-ED1498AA5EC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I"/>
          </a:p>
        </p:txBody>
      </p:sp>
      <p:sp>
        <p:nvSpPr>
          <p:cNvPr id="4" name="Espace réservé du texte 3">
            <a:extLst>
              <a:ext uri="{FF2B5EF4-FFF2-40B4-BE49-F238E27FC236}">
                <a16:creationId xmlns:a16="http://schemas.microsoft.com/office/drawing/2014/main" id="{4A0C1759-57AB-0C8A-521B-4A6032FFCD8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2349C5EA-E683-CD52-B74D-16BB2D82DBAA}"/>
              </a:ext>
            </a:extLst>
          </p:cNvPr>
          <p:cNvSpPr>
            <a:spLocks noGrp="1"/>
          </p:cNvSpPr>
          <p:nvPr>
            <p:ph type="dt" sz="half" idx="10"/>
          </p:nvPr>
        </p:nvSpPr>
        <p:spPr/>
        <p:txBody>
          <a:bodyPr/>
          <a:lstStyle/>
          <a:p>
            <a:fld id="{882E1538-0FC8-4D50-9711-7C7F54A00D4A}" type="datetimeFigureOut">
              <a:rPr lang="fr-CI" smtClean="0"/>
              <a:t>14/07/2026</a:t>
            </a:fld>
            <a:endParaRPr lang="fr-CI"/>
          </a:p>
        </p:txBody>
      </p:sp>
      <p:sp>
        <p:nvSpPr>
          <p:cNvPr id="6" name="Espace réservé du pied de page 5">
            <a:extLst>
              <a:ext uri="{FF2B5EF4-FFF2-40B4-BE49-F238E27FC236}">
                <a16:creationId xmlns:a16="http://schemas.microsoft.com/office/drawing/2014/main" id="{C5D7A768-7927-8168-2460-00EE6C2B3A4A}"/>
              </a:ext>
            </a:extLst>
          </p:cNvPr>
          <p:cNvSpPr>
            <a:spLocks noGrp="1"/>
          </p:cNvSpPr>
          <p:nvPr>
            <p:ph type="ftr" sz="quarter" idx="11"/>
          </p:nvPr>
        </p:nvSpPr>
        <p:spPr/>
        <p:txBody>
          <a:bodyPr/>
          <a:lstStyle/>
          <a:p>
            <a:endParaRPr lang="fr-CI"/>
          </a:p>
        </p:txBody>
      </p:sp>
      <p:sp>
        <p:nvSpPr>
          <p:cNvPr id="7" name="Espace réservé du numéro de diapositive 6">
            <a:extLst>
              <a:ext uri="{FF2B5EF4-FFF2-40B4-BE49-F238E27FC236}">
                <a16:creationId xmlns:a16="http://schemas.microsoft.com/office/drawing/2014/main" id="{F9DD7D53-54EB-139D-376C-F88378C7EE47}"/>
              </a:ext>
            </a:extLst>
          </p:cNvPr>
          <p:cNvSpPr>
            <a:spLocks noGrp="1"/>
          </p:cNvSpPr>
          <p:nvPr>
            <p:ph type="sldNum" sz="quarter" idx="12"/>
          </p:nvPr>
        </p:nvSpPr>
        <p:spPr/>
        <p:txBody>
          <a:bodyPr/>
          <a:lstStyle/>
          <a:p>
            <a:fld id="{F791978A-C476-46F3-92CE-CDF19E773B70}" type="slidenum">
              <a:rPr lang="fr-CI" smtClean="0"/>
              <a:t>‹N°›</a:t>
            </a:fld>
            <a:endParaRPr lang="fr-CI"/>
          </a:p>
        </p:txBody>
      </p:sp>
    </p:spTree>
    <p:extLst>
      <p:ext uri="{BB962C8B-B14F-4D97-AF65-F5344CB8AC3E}">
        <p14:creationId xmlns:p14="http://schemas.microsoft.com/office/powerpoint/2010/main" val="32783955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439286E-09C1-FE47-A15B-C2FE1475E28A}"/>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CI"/>
          </a:p>
        </p:txBody>
      </p:sp>
      <p:sp>
        <p:nvSpPr>
          <p:cNvPr id="3" name="Espace réservé pour une image  2">
            <a:extLst>
              <a:ext uri="{FF2B5EF4-FFF2-40B4-BE49-F238E27FC236}">
                <a16:creationId xmlns:a16="http://schemas.microsoft.com/office/drawing/2014/main" id="{4BB7C9C4-6F17-3638-61BE-AEFB3CC4292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CI"/>
          </a:p>
        </p:txBody>
      </p:sp>
      <p:sp>
        <p:nvSpPr>
          <p:cNvPr id="4" name="Espace réservé du texte 3">
            <a:extLst>
              <a:ext uri="{FF2B5EF4-FFF2-40B4-BE49-F238E27FC236}">
                <a16:creationId xmlns:a16="http://schemas.microsoft.com/office/drawing/2014/main" id="{A8C5D6FA-5088-8C71-2517-F0658EA6E06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405DD054-4CE1-A441-0EFD-2AE0004B1186}"/>
              </a:ext>
            </a:extLst>
          </p:cNvPr>
          <p:cNvSpPr>
            <a:spLocks noGrp="1"/>
          </p:cNvSpPr>
          <p:nvPr>
            <p:ph type="dt" sz="half" idx="10"/>
          </p:nvPr>
        </p:nvSpPr>
        <p:spPr/>
        <p:txBody>
          <a:bodyPr/>
          <a:lstStyle/>
          <a:p>
            <a:fld id="{882E1538-0FC8-4D50-9711-7C7F54A00D4A}" type="datetimeFigureOut">
              <a:rPr lang="fr-CI" smtClean="0"/>
              <a:t>14/07/2026</a:t>
            </a:fld>
            <a:endParaRPr lang="fr-CI"/>
          </a:p>
        </p:txBody>
      </p:sp>
      <p:sp>
        <p:nvSpPr>
          <p:cNvPr id="6" name="Espace réservé du pied de page 5">
            <a:extLst>
              <a:ext uri="{FF2B5EF4-FFF2-40B4-BE49-F238E27FC236}">
                <a16:creationId xmlns:a16="http://schemas.microsoft.com/office/drawing/2014/main" id="{D7A4CDB7-73BA-94EE-66C2-7419FA974E87}"/>
              </a:ext>
            </a:extLst>
          </p:cNvPr>
          <p:cNvSpPr>
            <a:spLocks noGrp="1"/>
          </p:cNvSpPr>
          <p:nvPr>
            <p:ph type="ftr" sz="quarter" idx="11"/>
          </p:nvPr>
        </p:nvSpPr>
        <p:spPr/>
        <p:txBody>
          <a:bodyPr/>
          <a:lstStyle/>
          <a:p>
            <a:endParaRPr lang="fr-CI"/>
          </a:p>
        </p:txBody>
      </p:sp>
      <p:sp>
        <p:nvSpPr>
          <p:cNvPr id="7" name="Espace réservé du numéro de diapositive 6">
            <a:extLst>
              <a:ext uri="{FF2B5EF4-FFF2-40B4-BE49-F238E27FC236}">
                <a16:creationId xmlns:a16="http://schemas.microsoft.com/office/drawing/2014/main" id="{7DA9BB14-BC54-4F2D-4929-FC3F95C16FDC}"/>
              </a:ext>
            </a:extLst>
          </p:cNvPr>
          <p:cNvSpPr>
            <a:spLocks noGrp="1"/>
          </p:cNvSpPr>
          <p:nvPr>
            <p:ph type="sldNum" sz="quarter" idx="12"/>
          </p:nvPr>
        </p:nvSpPr>
        <p:spPr/>
        <p:txBody>
          <a:bodyPr/>
          <a:lstStyle/>
          <a:p>
            <a:fld id="{F791978A-C476-46F3-92CE-CDF19E773B70}" type="slidenum">
              <a:rPr lang="fr-CI" smtClean="0"/>
              <a:t>‹N°›</a:t>
            </a:fld>
            <a:endParaRPr lang="fr-CI"/>
          </a:p>
        </p:txBody>
      </p:sp>
    </p:spTree>
    <p:extLst>
      <p:ext uri="{BB962C8B-B14F-4D97-AF65-F5344CB8AC3E}">
        <p14:creationId xmlns:p14="http://schemas.microsoft.com/office/powerpoint/2010/main" val="5764083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96E121B-3731-CB82-D4AA-857175E337C9}"/>
              </a:ext>
            </a:extLst>
          </p:cNvPr>
          <p:cNvSpPr>
            <a:spLocks noGrp="1"/>
          </p:cNvSpPr>
          <p:nvPr>
            <p:ph type="title"/>
          </p:nvPr>
        </p:nvSpPr>
        <p:spPr/>
        <p:txBody>
          <a:bodyPr/>
          <a:lstStyle/>
          <a:p>
            <a:r>
              <a:rPr lang="fr-FR"/>
              <a:t>Modifiez le style du titre</a:t>
            </a:r>
            <a:endParaRPr lang="fr-CI"/>
          </a:p>
        </p:txBody>
      </p:sp>
      <p:sp>
        <p:nvSpPr>
          <p:cNvPr id="3" name="Espace réservé du texte vertical 2">
            <a:extLst>
              <a:ext uri="{FF2B5EF4-FFF2-40B4-BE49-F238E27FC236}">
                <a16:creationId xmlns:a16="http://schemas.microsoft.com/office/drawing/2014/main" id="{9F026125-A474-0F8C-7DF3-16006916EB02}"/>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I"/>
          </a:p>
        </p:txBody>
      </p:sp>
      <p:sp>
        <p:nvSpPr>
          <p:cNvPr id="4" name="Espace réservé de la date 3">
            <a:extLst>
              <a:ext uri="{FF2B5EF4-FFF2-40B4-BE49-F238E27FC236}">
                <a16:creationId xmlns:a16="http://schemas.microsoft.com/office/drawing/2014/main" id="{5FD3977E-35C7-1CE2-9329-D7B2BFCBB946}"/>
              </a:ext>
            </a:extLst>
          </p:cNvPr>
          <p:cNvSpPr>
            <a:spLocks noGrp="1"/>
          </p:cNvSpPr>
          <p:nvPr>
            <p:ph type="dt" sz="half" idx="10"/>
          </p:nvPr>
        </p:nvSpPr>
        <p:spPr/>
        <p:txBody>
          <a:bodyPr/>
          <a:lstStyle/>
          <a:p>
            <a:fld id="{882E1538-0FC8-4D50-9711-7C7F54A00D4A}" type="datetimeFigureOut">
              <a:rPr lang="fr-CI" smtClean="0"/>
              <a:t>14/07/2026</a:t>
            </a:fld>
            <a:endParaRPr lang="fr-CI"/>
          </a:p>
        </p:txBody>
      </p:sp>
      <p:sp>
        <p:nvSpPr>
          <p:cNvPr id="5" name="Espace réservé du pied de page 4">
            <a:extLst>
              <a:ext uri="{FF2B5EF4-FFF2-40B4-BE49-F238E27FC236}">
                <a16:creationId xmlns:a16="http://schemas.microsoft.com/office/drawing/2014/main" id="{B61B06C0-4AB2-A53B-9976-7EC04EC59157}"/>
              </a:ext>
            </a:extLst>
          </p:cNvPr>
          <p:cNvSpPr>
            <a:spLocks noGrp="1"/>
          </p:cNvSpPr>
          <p:nvPr>
            <p:ph type="ftr" sz="quarter" idx="11"/>
          </p:nvPr>
        </p:nvSpPr>
        <p:spPr/>
        <p:txBody>
          <a:bodyPr/>
          <a:lstStyle/>
          <a:p>
            <a:endParaRPr lang="fr-CI"/>
          </a:p>
        </p:txBody>
      </p:sp>
      <p:sp>
        <p:nvSpPr>
          <p:cNvPr id="6" name="Espace réservé du numéro de diapositive 5">
            <a:extLst>
              <a:ext uri="{FF2B5EF4-FFF2-40B4-BE49-F238E27FC236}">
                <a16:creationId xmlns:a16="http://schemas.microsoft.com/office/drawing/2014/main" id="{EB07979E-251D-0B95-0063-DDE5655A6A9A}"/>
              </a:ext>
            </a:extLst>
          </p:cNvPr>
          <p:cNvSpPr>
            <a:spLocks noGrp="1"/>
          </p:cNvSpPr>
          <p:nvPr>
            <p:ph type="sldNum" sz="quarter" idx="12"/>
          </p:nvPr>
        </p:nvSpPr>
        <p:spPr/>
        <p:txBody>
          <a:bodyPr/>
          <a:lstStyle/>
          <a:p>
            <a:fld id="{F791978A-C476-46F3-92CE-CDF19E773B70}" type="slidenum">
              <a:rPr lang="fr-CI" smtClean="0"/>
              <a:t>‹N°›</a:t>
            </a:fld>
            <a:endParaRPr lang="fr-CI"/>
          </a:p>
        </p:txBody>
      </p:sp>
    </p:spTree>
    <p:extLst>
      <p:ext uri="{BB962C8B-B14F-4D97-AF65-F5344CB8AC3E}">
        <p14:creationId xmlns:p14="http://schemas.microsoft.com/office/powerpoint/2010/main" val="13213978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4202D63A-C6FD-D15D-5E2F-A157C86F0507}"/>
              </a:ext>
            </a:extLst>
          </p:cNvPr>
          <p:cNvSpPr>
            <a:spLocks noGrp="1"/>
          </p:cNvSpPr>
          <p:nvPr>
            <p:ph type="title" orient="vert"/>
          </p:nvPr>
        </p:nvSpPr>
        <p:spPr>
          <a:xfrm>
            <a:off x="8724900" y="365125"/>
            <a:ext cx="2628900" cy="5811838"/>
          </a:xfrm>
        </p:spPr>
        <p:txBody>
          <a:bodyPr vert="eaVert"/>
          <a:lstStyle/>
          <a:p>
            <a:r>
              <a:rPr lang="fr-FR"/>
              <a:t>Modifiez le style du titre</a:t>
            </a:r>
            <a:endParaRPr lang="fr-CI"/>
          </a:p>
        </p:txBody>
      </p:sp>
      <p:sp>
        <p:nvSpPr>
          <p:cNvPr id="3" name="Espace réservé du texte vertical 2">
            <a:extLst>
              <a:ext uri="{FF2B5EF4-FFF2-40B4-BE49-F238E27FC236}">
                <a16:creationId xmlns:a16="http://schemas.microsoft.com/office/drawing/2014/main" id="{679B8A58-723E-87AE-B2E4-52B3E075AA41}"/>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I"/>
          </a:p>
        </p:txBody>
      </p:sp>
      <p:sp>
        <p:nvSpPr>
          <p:cNvPr id="4" name="Espace réservé de la date 3">
            <a:extLst>
              <a:ext uri="{FF2B5EF4-FFF2-40B4-BE49-F238E27FC236}">
                <a16:creationId xmlns:a16="http://schemas.microsoft.com/office/drawing/2014/main" id="{2DC6A8CA-EFF8-4138-7C83-894A6D70A9D1}"/>
              </a:ext>
            </a:extLst>
          </p:cNvPr>
          <p:cNvSpPr>
            <a:spLocks noGrp="1"/>
          </p:cNvSpPr>
          <p:nvPr>
            <p:ph type="dt" sz="half" idx="10"/>
          </p:nvPr>
        </p:nvSpPr>
        <p:spPr/>
        <p:txBody>
          <a:bodyPr/>
          <a:lstStyle/>
          <a:p>
            <a:fld id="{882E1538-0FC8-4D50-9711-7C7F54A00D4A}" type="datetimeFigureOut">
              <a:rPr lang="fr-CI" smtClean="0"/>
              <a:t>14/07/2026</a:t>
            </a:fld>
            <a:endParaRPr lang="fr-CI"/>
          </a:p>
        </p:txBody>
      </p:sp>
      <p:sp>
        <p:nvSpPr>
          <p:cNvPr id="5" name="Espace réservé du pied de page 4">
            <a:extLst>
              <a:ext uri="{FF2B5EF4-FFF2-40B4-BE49-F238E27FC236}">
                <a16:creationId xmlns:a16="http://schemas.microsoft.com/office/drawing/2014/main" id="{F497181A-631F-AC78-4E53-280D3D26FC22}"/>
              </a:ext>
            </a:extLst>
          </p:cNvPr>
          <p:cNvSpPr>
            <a:spLocks noGrp="1"/>
          </p:cNvSpPr>
          <p:nvPr>
            <p:ph type="ftr" sz="quarter" idx="11"/>
          </p:nvPr>
        </p:nvSpPr>
        <p:spPr/>
        <p:txBody>
          <a:bodyPr/>
          <a:lstStyle/>
          <a:p>
            <a:endParaRPr lang="fr-CI"/>
          </a:p>
        </p:txBody>
      </p:sp>
      <p:sp>
        <p:nvSpPr>
          <p:cNvPr id="6" name="Espace réservé du numéro de diapositive 5">
            <a:extLst>
              <a:ext uri="{FF2B5EF4-FFF2-40B4-BE49-F238E27FC236}">
                <a16:creationId xmlns:a16="http://schemas.microsoft.com/office/drawing/2014/main" id="{A621EC20-E568-3251-63A6-54B32ACAA39F}"/>
              </a:ext>
            </a:extLst>
          </p:cNvPr>
          <p:cNvSpPr>
            <a:spLocks noGrp="1"/>
          </p:cNvSpPr>
          <p:nvPr>
            <p:ph type="sldNum" sz="quarter" idx="12"/>
          </p:nvPr>
        </p:nvSpPr>
        <p:spPr/>
        <p:txBody>
          <a:bodyPr/>
          <a:lstStyle/>
          <a:p>
            <a:fld id="{F791978A-C476-46F3-92CE-CDF19E773B70}" type="slidenum">
              <a:rPr lang="fr-CI" smtClean="0"/>
              <a:t>‹N°›</a:t>
            </a:fld>
            <a:endParaRPr lang="fr-CI"/>
          </a:p>
        </p:txBody>
      </p:sp>
    </p:spTree>
    <p:extLst>
      <p:ext uri="{BB962C8B-B14F-4D97-AF65-F5344CB8AC3E}">
        <p14:creationId xmlns:p14="http://schemas.microsoft.com/office/powerpoint/2010/main" val="3297382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6912ABF-FD4C-46CB-0AE9-27429AFA47AB}"/>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682285C9-99C5-532A-712E-33951088799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094D7EBB-7F4C-DCFC-D9A2-EBF397CA2551}"/>
              </a:ext>
            </a:extLst>
          </p:cNvPr>
          <p:cNvSpPr>
            <a:spLocks noGrp="1"/>
          </p:cNvSpPr>
          <p:nvPr>
            <p:ph type="dt" sz="half" idx="10"/>
          </p:nvPr>
        </p:nvSpPr>
        <p:spPr/>
        <p:txBody>
          <a:bodyPr/>
          <a:lstStyle/>
          <a:p>
            <a:fld id="{5919964D-A144-49C9-847E-ECA819099D2D}" type="datetimeFigureOut">
              <a:rPr lang="fr-FR" smtClean="0"/>
              <a:t>14/07/2026</a:t>
            </a:fld>
            <a:endParaRPr lang="fr-FR"/>
          </a:p>
        </p:txBody>
      </p:sp>
      <p:sp>
        <p:nvSpPr>
          <p:cNvPr id="5" name="Espace réservé du pied de page 4">
            <a:extLst>
              <a:ext uri="{FF2B5EF4-FFF2-40B4-BE49-F238E27FC236}">
                <a16:creationId xmlns:a16="http://schemas.microsoft.com/office/drawing/2014/main" id="{2F3C33DA-8B92-672C-9D03-45E47C16788B}"/>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4263EA80-8BA5-B01A-6E3D-99BFD646F558}"/>
              </a:ext>
            </a:extLst>
          </p:cNvPr>
          <p:cNvSpPr>
            <a:spLocks noGrp="1"/>
          </p:cNvSpPr>
          <p:nvPr>
            <p:ph type="sldNum" sz="quarter" idx="12"/>
          </p:nvPr>
        </p:nvSpPr>
        <p:spPr/>
        <p:txBody>
          <a:bodyPr/>
          <a:lstStyle/>
          <a:p>
            <a:fld id="{CF9978E8-CB01-422F-BA79-2A361703CF15}" type="slidenum">
              <a:rPr lang="fr-FR" smtClean="0"/>
              <a:t>‹N°›</a:t>
            </a:fld>
            <a:endParaRPr lang="fr-FR"/>
          </a:p>
        </p:txBody>
      </p:sp>
    </p:spTree>
    <p:extLst>
      <p:ext uri="{BB962C8B-B14F-4D97-AF65-F5344CB8AC3E}">
        <p14:creationId xmlns:p14="http://schemas.microsoft.com/office/powerpoint/2010/main" val="63333375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1448285-138E-20A4-0B4A-197C78FBBA85}"/>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650A1684-5938-5387-E2AD-CF804F188828}"/>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580D9114-5F43-447F-B1F0-C7D10D0B5E29}"/>
              </a:ext>
            </a:extLst>
          </p:cNvPr>
          <p:cNvSpPr>
            <a:spLocks noGrp="1"/>
          </p:cNvSpPr>
          <p:nvPr>
            <p:ph type="dt" sz="half" idx="10"/>
          </p:nvPr>
        </p:nvSpPr>
        <p:spPr/>
        <p:txBody>
          <a:bodyPr/>
          <a:lstStyle/>
          <a:p>
            <a:fld id="{5919964D-A144-49C9-847E-ECA819099D2D}" type="datetimeFigureOut">
              <a:rPr lang="fr-FR" smtClean="0"/>
              <a:t>14/07/2026</a:t>
            </a:fld>
            <a:endParaRPr lang="fr-FR"/>
          </a:p>
        </p:txBody>
      </p:sp>
      <p:sp>
        <p:nvSpPr>
          <p:cNvPr id="5" name="Espace réservé du pied de page 4">
            <a:extLst>
              <a:ext uri="{FF2B5EF4-FFF2-40B4-BE49-F238E27FC236}">
                <a16:creationId xmlns:a16="http://schemas.microsoft.com/office/drawing/2014/main" id="{D95C4AF5-C059-C4F4-36CC-24C844A329B5}"/>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9E6593D2-5965-EF6D-8D1C-4EA9E7695BA8}"/>
              </a:ext>
            </a:extLst>
          </p:cNvPr>
          <p:cNvSpPr>
            <a:spLocks noGrp="1"/>
          </p:cNvSpPr>
          <p:nvPr>
            <p:ph type="sldNum" sz="quarter" idx="12"/>
          </p:nvPr>
        </p:nvSpPr>
        <p:spPr/>
        <p:txBody>
          <a:bodyPr/>
          <a:lstStyle/>
          <a:p>
            <a:fld id="{CF9978E8-CB01-422F-BA79-2A361703CF15}" type="slidenum">
              <a:rPr lang="fr-FR" smtClean="0"/>
              <a:t>‹N°›</a:t>
            </a:fld>
            <a:endParaRPr lang="fr-FR"/>
          </a:p>
        </p:txBody>
      </p:sp>
    </p:spTree>
    <p:extLst>
      <p:ext uri="{BB962C8B-B14F-4D97-AF65-F5344CB8AC3E}">
        <p14:creationId xmlns:p14="http://schemas.microsoft.com/office/powerpoint/2010/main" val="10814247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C26E6F5-434F-3DE8-4051-16BCDD66056F}"/>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B5B5577D-03F3-9D49-4499-037A096E9F7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6886A8CC-84B9-8482-0373-7FD9AC2A4F3E}"/>
              </a:ext>
            </a:extLst>
          </p:cNvPr>
          <p:cNvSpPr>
            <a:spLocks noGrp="1"/>
          </p:cNvSpPr>
          <p:nvPr>
            <p:ph type="dt" sz="half" idx="10"/>
          </p:nvPr>
        </p:nvSpPr>
        <p:spPr/>
        <p:txBody>
          <a:bodyPr/>
          <a:lstStyle/>
          <a:p>
            <a:fld id="{5919964D-A144-49C9-847E-ECA819099D2D}" type="datetimeFigureOut">
              <a:rPr lang="fr-FR" smtClean="0"/>
              <a:t>14/07/2026</a:t>
            </a:fld>
            <a:endParaRPr lang="fr-FR"/>
          </a:p>
        </p:txBody>
      </p:sp>
      <p:sp>
        <p:nvSpPr>
          <p:cNvPr id="5" name="Espace réservé du pied de page 4">
            <a:extLst>
              <a:ext uri="{FF2B5EF4-FFF2-40B4-BE49-F238E27FC236}">
                <a16:creationId xmlns:a16="http://schemas.microsoft.com/office/drawing/2014/main" id="{06E06544-1FD9-8191-691A-BFDABF29BA05}"/>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4F701115-07E4-05A1-71FD-4EBB7702CB87}"/>
              </a:ext>
            </a:extLst>
          </p:cNvPr>
          <p:cNvSpPr>
            <a:spLocks noGrp="1"/>
          </p:cNvSpPr>
          <p:nvPr>
            <p:ph type="sldNum" sz="quarter" idx="12"/>
          </p:nvPr>
        </p:nvSpPr>
        <p:spPr/>
        <p:txBody>
          <a:bodyPr/>
          <a:lstStyle/>
          <a:p>
            <a:fld id="{CF9978E8-CB01-422F-BA79-2A361703CF15}" type="slidenum">
              <a:rPr lang="fr-FR" smtClean="0"/>
              <a:t>‹N°›</a:t>
            </a:fld>
            <a:endParaRPr lang="fr-FR"/>
          </a:p>
        </p:txBody>
      </p:sp>
    </p:spTree>
    <p:extLst>
      <p:ext uri="{BB962C8B-B14F-4D97-AF65-F5344CB8AC3E}">
        <p14:creationId xmlns:p14="http://schemas.microsoft.com/office/powerpoint/2010/main" val="302075158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627EB69-5341-18F0-9993-3A9634011B4E}"/>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605A4D86-558B-AB81-3240-7C64EE2C30C3}"/>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6AD14DD8-196D-85C0-E698-7692C4351C94}"/>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C77A84AA-B457-3CB5-DCBE-EF02A0D2599E}"/>
              </a:ext>
            </a:extLst>
          </p:cNvPr>
          <p:cNvSpPr>
            <a:spLocks noGrp="1"/>
          </p:cNvSpPr>
          <p:nvPr>
            <p:ph type="dt" sz="half" idx="10"/>
          </p:nvPr>
        </p:nvSpPr>
        <p:spPr/>
        <p:txBody>
          <a:bodyPr/>
          <a:lstStyle/>
          <a:p>
            <a:fld id="{5919964D-A144-49C9-847E-ECA819099D2D}" type="datetimeFigureOut">
              <a:rPr lang="fr-FR" smtClean="0"/>
              <a:t>14/07/2026</a:t>
            </a:fld>
            <a:endParaRPr lang="fr-FR"/>
          </a:p>
        </p:txBody>
      </p:sp>
      <p:sp>
        <p:nvSpPr>
          <p:cNvPr id="6" name="Espace réservé du pied de page 5">
            <a:extLst>
              <a:ext uri="{FF2B5EF4-FFF2-40B4-BE49-F238E27FC236}">
                <a16:creationId xmlns:a16="http://schemas.microsoft.com/office/drawing/2014/main" id="{4DF693DD-F7C3-5CC4-5E19-89590A899EF6}"/>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A4EA56E8-54CD-7ED3-D1CD-38652122ADC2}"/>
              </a:ext>
            </a:extLst>
          </p:cNvPr>
          <p:cNvSpPr>
            <a:spLocks noGrp="1"/>
          </p:cNvSpPr>
          <p:nvPr>
            <p:ph type="sldNum" sz="quarter" idx="12"/>
          </p:nvPr>
        </p:nvSpPr>
        <p:spPr/>
        <p:txBody>
          <a:bodyPr/>
          <a:lstStyle/>
          <a:p>
            <a:fld id="{CF9978E8-CB01-422F-BA79-2A361703CF15}" type="slidenum">
              <a:rPr lang="fr-FR" smtClean="0"/>
              <a:t>‹N°›</a:t>
            </a:fld>
            <a:endParaRPr lang="fr-FR"/>
          </a:p>
        </p:txBody>
      </p:sp>
    </p:spTree>
    <p:extLst>
      <p:ext uri="{BB962C8B-B14F-4D97-AF65-F5344CB8AC3E}">
        <p14:creationId xmlns:p14="http://schemas.microsoft.com/office/powerpoint/2010/main" val="12105307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03E2BA6-5D66-C32A-6792-467F6659322D}"/>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987A67A2-4FF3-BD23-5ECD-995239BC645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E263111C-7449-47F9-C3C1-12A0E134E980}"/>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D72D4122-D570-9F96-96D4-D869B9FAD6C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B8B24EEA-D27C-ABE0-E567-2BE34F3F7667}"/>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A121BFE6-50DF-92FD-8614-922C26A7AB23}"/>
              </a:ext>
            </a:extLst>
          </p:cNvPr>
          <p:cNvSpPr>
            <a:spLocks noGrp="1"/>
          </p:cNvSpPr>
          <p:nvPr>
            <p:ph type="dt" sz="half" idx="10"/>
          </p:nvPr>
        </p:nvSpPr>
        <p:spPr/>
        <p:txBody>
          <a:bodyPr/>
          <a:lstStyle/>
          <a:p>
            <a:fld id="{5919964D-A144-49C9-847E-ECA819099D2D}" type="datetimeFigureOut">
              <a:rPr lang="fr-FR" smtClean="0"/>
              <a:t>14/07/2026</a:t>
            </a:fld>
            <a:endParaRPr lang="fr-FR"/>
          </a:p>
        </p:txBody>
      </p:sp>
      <p:sp>
        <p:nvSpPr>
          <p:cNvPr id="8" name="Espace réservé du pied de page 7">
            <a:extLst>
              <a:ext uri="{FF2B5EF4-FFF2-40B4-BE49-F238E27FC236}">
                <a16:creationId xmlns:a16="http://schemas.microsoft.com/office/drawing/2014/main" id="{CB35AE66-5C4A-DFE8-E9BC-20D7CEA01A26}"/>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90222010-DF45-717A-0B63-DEA099C9D6D3}"/>
              </a:ext>
            </a:extLst>
          </p:cNvPr>
          <p:cNvSpPr>
            <a:spLocks noGrp="1"/>
          </p:cNvSpPr>
          <p:nvPr>
            <p:ph type="sldNum" sz="quarter" idx="12"/>
          </p:nvPr>
        </p:nvSpPr>
        <p:spPr/>
        <p:txBody>
          <a:bodyPr/>
          <a:lstStyle/>
          <a:p>
            <a:fld id="{CF9978E8-CB01-422F-BA79-2A361703CF15}" type="slidenum">
              <a:rPr lang="fr-FR" smtClean="0"/>
              <a:t>‹N°›</a:t>
            </a:fld>
            <a:endParaRPr lang="fr-FR"/>
          </a:p>
        </p:txBody>
      </p:sp>
    </p:spTree>
    <p:extLst>
      <p:ext uri="{BB962C8B-B14F-4D97-AF65-F5344CB8AC3E}">
        <p14:creationId xmlns:p14="http://schemas.microsoft.com/office/powerpoint/2010/main" val="340478372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81DE700-AFBC-B53C-90A2-7E6284B19321}"/>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623CC3B9-F602-840D-577A-88D95D03823C}"/>
              </a:ext>
            </a:extLst>
          </p:cNvPr>
          <p:cNvSpPr>
            <a:spLocks noGrp="1"/>
          </p:cNvSpPr>
          <p:nvPr>
            <p:ph type="dt" sz="half" idx="10"/>
          </p:nvPr>
        </p:nvSpPr>
        <p:spPr/>
        <p:txBody>
          <a:bodyPr/>
          <a:lstStyle/>
          <a:p>
            <a:fld id="{5919964D-A144-49C9-847E-ECA819099D2D}" type="datetimeFigureOut">
              <a:rPr lang="fr-FR" smtClean="0"/>
              <a:t>14/07/2026</a:t>
            </a:fld>
            <a:endParaRPr lang="fr-FR"/>
          </a:p>
        </p:txBody>
      </p:sp>
      <p:sp>
        <p:nvSpPr>
          <p:cNvPr id="4" name="Espace réservé du pied de page 3">
            <a:extLst>
              <a:ext uri="{FF2B5EF4-FFF2-40B4-BE49-F238E27FC236}">
                <a16:creationId xmlns:a16="http://schemas.microsoft.com/office/drawing/2014/main" id="{02B63D1A-D161-2937-A762-8737A5E46FD0}"/>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D046A20C-CB7A-C535-3475-88B33C5DF02E}"/>
              </a:ext>
            </a:extLst>
          </p:cNvPr>
          <p:cNvSpPr>
            <a:spLocks noGrp="1"/>
          </p:cNvSpPr>
          <p:nvPr>
            <p:ph type="sldNum" sz="quarter" idx="12"/>
          </p:nvPr>
        </p:nvSpPr>
        <p:spPr/>
        <p:txBody>
          <a:bodyPr/>
          <a:lstStyle/>
          <a:p>
            <a:fld id="{CF9978E8-CB01-422F-BA79-2A361703CF15}" type="slidenum">
              <a:rPr lang="fr-FR" smtClean="0"/>
              <a:t>‹N°›</a:t>
            </a:fld>
            <a:endParaRPr lang="fr-FR"/>
          </a:p>
        </p:txBody>
      </p:sp>
    </p:spTree>
    <p:extLst>
      <p:ext uri="{BB962C8B-B14F-4D97-AF65-F5344CB8AC3E}">
        <p14:creationId xmlns:p14="http://schemas.microsoft.com/office/powerpoint/2010/main" val="416564077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D3D40A0C-9C19-6960-9CEB-2D25D194D387}"/>
              </a:ext>
            </a:extLst>
          </p:cNvPr>
          <p:cNvSpPr>
            <a:spLocks noGrp="1"/>
          </p:cNvSpPr>
          <p:nvPr>
            <p:ph type="dt" sz="half" idx="10"/>
          </p:nvPr>
        </p:nvSpPr>
        <p:spPr/>
        <p:txBody>
          <a:bodyPr/>
          <a:lstStyle/>
          <a:p>
            <a:fld id="{5919964D-A144-49C9-847E-ECA819099D2D}" type="datetimeFigureOut">
              <a:rPr lang="fr-FR" smtClean="0"/>
              <a:t>14/07/2026</a:t>
            </a:fld>
            <a:endParaRPr lang="fr-FR"/>
          </a:p>
        </p:txBody>
      </p:sp>
      <p:sp>
        <p:nvSpPr>
          <p:cNvPr id="3" name="Espace réservé du pied de page 2">
            <a:extLst>
              <a:ext uri="{FF2B5EF4-FFF2-40B4-BE49-F238E27FC236}">
                <a16:creationId xmlns:a16="http://schemas.microsoft.com/office/drawing/2014/main" id="{504EFAE1-53D4-9580-AD2D-BE2E1FE67677}"/>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53B1C9C9-5C1E-323D-6E2C-A07663BBCCBB}"/>
              </a:ext>
            </a:extLst>
          </p:cNvPr>
          <p:cNvSpPr>
            <a:spLocks noGrp="1"/>
          </p:cNvSpPr>
          <p:nvPr>
            <p:ph type="sldNum" sz="quarter" idx="12"/>
          </p:nvPr>
        </p:nvSpPr>
        <p:spPr/>
        <p:txBody>
          <a:bodyPr/>
          <a:lstStyle/>
          <a:p>
            <a:fld id="{CF9978E8-CB01-422F-BA79-2A361703CF15}" type="slidenum">
              <a:rPr lang="fr-FR" smtClean="0"/>
              <a:t>‹N°›</a:t>
            </a:fld>
            <a:endParaRPr lang="fr-FR"/>
          </a:p>
        </p:txBody>
      </p:sp>
    </p:spTree>
    <p:extLst>
      <p:ext uri="{BB962C8B-B14F-4D97-AF65-F5344CB8AC3E}">
        <p14:creationId xmlns:p14="http://schemas.microsoft.com/office/powerpoint/2010/main" val="27187044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3D86404-64E4-A38C-088E-E8E74B811EEE}"/>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707BBFC9-E813-2F65-D0E8-85AB0B34B72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46E3D18E-57D8-A219-59BF-79E3DEDB4A9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EAB88C35-0CB2-9780-220C-359436346F86}"/>
              </a:ext>
            </a:extLst>
          </p:cNvPr>
          <p:cNvSpPr>
            <a:spLocks noGrp="1"/>
          </p:cNvSpPr>
          <p:nvPr>
            <p:ph type="dt" sz="half" idx="10"/>
          </p:nvPr>
        </p:nvSpPr>
        <p:spPr/>
        <p:txBody>
          <a:bodyPr/>
          <a:lstStyle/>
          <a:p>
            <a:fld id="{5919964D-A144-49C9-847E-ECA819099D2D}" type="datetimeFigureOut">
              <a:rPr lang="fr-FR" smtClean="0"/>
              <a:t>14/07/2026</a:t>
            </a:fld>
            <a:endParaRPr lang="fr-FR"/>
          </a:p>
        </p:txBody>
      </p:sp>
      <p:sp>
        <p:nvSpPr>
          <p:cNvPr id="6" name="Espace réservé du pied de page 5">
            <a:extLst>
              <a:ext uri="{FF2B5EF4-FFF2-40B4-BE49-F238E27FC236}">
                <a16:creationId xmlns:a16="http://schemas.microsoft.com/office/drawing/2014/main" id="{03C119CF-06AA-B759-7DA3-B4523C7E1399}"/>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D28CB875-BF30-7597-3BCE-916319F91AFC}"/>
              </a:ext>
            </a:extLst>
          </p:cNvPr>
          <p:cNvSpPr>
            <a:spLocks noGrp="1"/>
          </p:cNvSpPr>
          <p:nvPr>
            <p:ph type="sldNum" sz="quarter" idx="12"/>
          </p:nvPr>
        </p:nvSpPr>
        <p:spPr/>
        <p:txBody>
          <a:bodyPr/>
          <a:lstStyle/>
          <a:p>
            <a:fld id="{CF9978E8-CB01-422F-BA79-2A361703CF15}" type="slidenum">
              <a:rPr lang="fr-FR" smtClean="0"/>
              <a:t>‹N°›</a:t>
            </a:fld>
            <a:endParaRPr lang="fr-FR"/>
          </a:p>
        </p:txBody>
      </p:sp>
    </p:spTree>
    <p:extLst>
      <p:ext uri="{BB962C8B-B14F-4D97-AF65-F5344CB8AC3E}">
        <p14:creationId xmlns:p14="http://schemas.microsoft.com/office/powerpoint/2010/main" val="367135460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0B585CC-C45C-B758-9917-4C604DA4F04E}"/>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E1A8CD35-0AA8-CF93-E784-D1CB5A8D14E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0287C809-12D6-55A8-901E-1B3E743DBB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3C6F5C88-7047-48A6-FD12-EAB37600041F}"/>
              </a:ext>
            </a:extLst>
          </p:cNvPr>
          <p:cNvSpPr>
            <a:spLocks noGrp="1"/>
          </p:cNvSpPr>
          <p:nvPr>
            <p:ph type="dt" sz="half" idx="10"/>
          </p:nvPr>
        </p:nvSpPr>
        <p:spPr/>
        <p:txBody>
          <a:bodyPr/>
          <a:lstStyle/>
          <a:p>
            <a:fld id="{5919964D-A144-49C9-847E-ECA819099D2D}" type="datetimeFigureOut">
              <a:rPr lang="fr-FR" smtClean="0"/>
              <a:t>14/07/2026</a:t>
            </a:fld>
            <a:endParaRPr lang="fr-FR"/>
          </a:p>
        </p:txBody>
      </p:sp>
      <p:sp>
        <p:nvSpPr>
          <p:cNvPr id="6" name="Espace réservé du pied de page 5">
            <a:extLst>
              <a:ext uri="{FF2B5EF4-FFF2-40B4-BE49-F238E27FC236}">
                <a16:creationId xmlns:a16="http://schemas.microsoft.com/office/drawing/2014/main" id="{99B5B3FF-5C74-4EC6-8E4D-AB97AEC8D856}"/>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15F428FD-E250-3827-AC0A-B64D733398AB}"/>
              </a:ext>
            </a:extLst>
          </p:cNvPr>
          <p:cNvSpPr>
            <a:spLocks noGrp="1"/>
          </p:cNvSpPr>
          <p:nvPr>
            <p:ph type="sldNum" sz="quarter" idx="12"/>
          </p:nvPr>
        </p:nvSpPr>
        <p:spPr/>
        <p:txBody>
          <a:bodyPr/>
          <a:lstStyle/>
          <a:p>
            <a:fld id="{CF9978E8-CB01-422F-BA79-2A361703CF15}" type="slidenum">
              <a:rPr lang="fr-FR" smtClean="0"/>
              <a:t>‹N°›</a:t>
            </a:fld>
            <a:endParaRPr lang="fr-FR"/>
          </a:p>
        </p:txBody>
      </p:sp>
    </p:spTree>
    <p:extLst>
      <p:ext uri="{BB962C8B-B14F-4D97-AF65-F5344CB8AC3E}">
        <p14:creationId xmlns:p14="http://schemas.microsoft.com/office/powerpoint/2010/main" val="347714770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AABBE1F-68BE-60F7-25B1-93D294176979}"/>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19C539B5-FD9A-2F04-6DF8-93B41EEB2BCB}"/>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6A515B23-D4F6-9D48-EFED-74C26CD46F9A}"/>
              </a:ext>
            </a:extLst>
          </p:cNvPr>
          <p:cNvSpPr>
            <a:spLocks noGrp="1"/>
          </p:cNvSpPr>
          <p:nvPr>
            <p:ph type="dt" sz="half" idx="10"/>
          </p:nvPr>
        </p:nvSpPr>
        <p:spPr/>
        <p:txBody>
          <a:bodyPr/>
          <a:lstStyle/>
          <a:p>
            <a:fld id="{5919964D-A144-49C9-847E-ECA819099D2D}" type="datetimeFigureOut">
              <a:rPr lang="fr-FR" smtClean="0"/>
              <a:t>14/07/2026</a:t>
            </a:fld>
            <a:endParaRPr lang="fr-FR"/>
          </a:p>
        </p:txBody>
      </p:sp>
      <p:sp>
        <p:nvSpPr>
          <p:cNvPr id="5" name="Espace réservé du pied de page 4">
            <a:extLst>
              <a:ext uri="{FF2B5EF4-FFF2-40B4-BE49-F238E27FC236}">
                <a16:creationId xmlns:a16="http://schemas.microsoft.com/office/drawing/2014/main" id="{F2E6BEA2-3A8E-73EA-6B8E-E20640984A5D}"/>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3063FDBD-4C14-E6CA-0A15-6E7417519FE3}"/>
              </a:ext>
            </a:extLst>
          </p:cNvPr>
          <p:cNvSpPr>
            <a:spLocks noGrp="1"/>
          </p:cNvSpPr>
          <p:nvPr>
            <p:ph type="sldNum" sz="quarter" idx="12"/>
          </p:nvPr>
        </p:nvSpPr>
        <p:spPr/>
        <p:txBody>
          <a:bodyPr/>
          <a:lstStyle/>
          <a:p>
            <a:fld id="{CF9978E8-CB01-422F-BA79-2A361703CF15}" type="slidenum">
              <a:rPr lang="fr-FR" smtClean="0"/>
              <a:t>‹N°›</a:t>
            </a:fld>
            <a:endParaRPr lang="fr-FR"/>
          </a:p>
        </p:txBody>
      </p:sp>
    </p:spTree>
    <p:extLst>
      <p:ext uri="{BB962C8B-B14F-4D97-AF65-F5344CB8AC3E}">
        <p14:creationId xmlns:p14="http://schemas.microsoft.com/office/powerpoint/2010/main" val="35604710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6A99C083-16B9-1F93-7AEF-E282E7300E25}"/>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A76DE77C-39DD-7B94-15F9-1768A52A0121}"/>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D2D0CE89-D347-2310-CFEE-36F084E33B5D}"/>
              </a:ext>
            </a:extLst>
          </p:cNvPr>
          <p:cNvSpPr>
            <a:spLocks noGrp="1"/>
          </p:cNvSpPr>
          <p:nvPr>
            <p:ph type="dt" sz="half" idx="10"/>
          </p:nvPr>
        </p:nvSpPr>
        <p:spPr/>
        <p:txBody>
          <a:bodyPr/>
          <a:lstStyle/>
          <a:p>
            <a:fld id="{5919964D-A144-49C9-847E-ECA819099D2D}" type="datetimeFigureOut">
              <a:rPr lang="fr-FR" smtClean="0"/>
              <a:t>14/07/2026</a:t>
            </a:fld>
            <a:endParaRPr lang="fr-FR"/>
          </a:p>
        </p:txBody>
      </p:sp>
      <p:sp>
        <p:nvSpPr>
          <p:cNvPr id="5" name="Espace réservé du pied de page 4">
            <a:extLst>
              <a:ext uri="{FF2B5EF4-FFF2-40B4-BE49-F238E27FC236}">
                <a16:creationId xmlns:a16="http://schemas.microsoft.com/office/drawing/2014/main" id="{888579FE-7B8A-E7B0-1B4D-4A1159F585AA}"/>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953D1AEB-10E5-19B4-B882-3BEE7522EACC}"/>
              </a:ext>
            </a:extLst>
          </p:cNvPr>
          <p:cNvSpPr>
            <a:spLocks noGrp="1"/>
          </p:cNvSpPr>
          <p:nvPr>
            <p:ph type="sldNum" sz="quarter" idx="12"/>
          </p:nvPr>
        </p:nvSpPr>
        <p:spPr/>
        <p:txBody>
          <a:bodyPr/>
          <a:lstStyle/>
          <a:p>
            <a:fld id="{CF9978E8-CB01-422F-BA79-2A361703CF15}" type="slidenum">
              <a:rPr lang="fr-FR" smtClean="0"/>
              <a:t>‹N°›</a:t>
            </a:fld>
            <a:endParaRPr lang="fr-FR"/>
          </a:p>
        </p:txBody>
      </p:sp>
    </p:spTree>
    <p:extLst>
      <p:ext uri="{BB962C8B-B14F-4D97-AF65-F5344CB8AC3E}">
        <p14:creationId xmlns:p14="http://schemas.microsoft.com/office/powerpoint/2010/main" val="251788169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_Titre seul">
    <p:spTree>
      <p:nvGrpSpPr>
        <p:cNvPr id="1" name=""/>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id="{D1C5D558-B053-4AB5-99F7-E3138405DF2E}"/>
              </a:ext>
            </a:extLst>
          </p:cNvPr>
          <p:cNvSpPr>
            <a:spLocks noGrp="1"/>
          </p:cNvSpPr>
          <p:nvPr>
            <p:ph type="dt" sz="half" idx="10"/>
          </p:nvPr>
        </p:nvSpPr>
        <p:spPr>
          <a:xfrm>
            <a:off x="0" y="6459168"/>
            <a:ext cx="2743200" cy="365125"/>
          </a:xfrm>
          <a:prstGeom prst="rect">
            <a:avLst/>
          </a:prstGeom>
        </p:spPr>
        <p:txBody>
          <a:bodyPr/>
          <a:lstStyle>
            <a:lvl1pPr>
              <a:defRPr sz="1000"/>
            </a:lvl1pPr>
          </a:lstStyle>
          <a:p>
            <a:endParaRPr lang="fr-CI" dirty="0"/>
          </a:p>
        </p:txBody>
      </p:sp>
      <p:sp>
        <p:nvSpPr>
          <p:cNvPr id="5" name="Espace réservé du pied de page 4">
            <a:extLst>
              <a:ext uri="{FF2B5EF4-FFF2-40B4-BE49-F238E27FC236}">
                <a16:creationId xmlns:a16="http://schemas.microsoft.com/office/drawing/2014/main" id="{C87FA7C7-BDC4-4B40-937C-8D3C6BE9AA52}"/>
              </a:ext>
            </a:extLst>
          </p:cNvPr>
          <p:cNvSpPr>
            <a:spLocks noGrp="1"/>
          </p:cNvSpPr>
          <p:nvPr>
            <p:ph type="ftr" sz="quarter" idx="11"/>
          </p:nvPr>
        </p:nvSpPr>
        <p:spPr>
          <a:xfrm>
            <a:off x="9448800" y="6492875"/>
            <a:ext cx="2743200" cy="365125"/>
          </a:xfrm>
          <a:prstGeom prst="rect">
            <a:avLst/>
          </a:prstGeom>
        </p:spPr>
        <p:txBody>
          <a:bodyPr/>
          <a:lstStyle>
            <a:lvl1pPr algn="r">
              <a:defRPr lang="fr-CI" sz="1000" kern="1200" dirty="0" smtClean="0">
                <a:solidFill>
                  <a:schemeClr val="tx1"/>
                </a:solidFill>
                <a:latin typeface="+mn-lt"/>
                <a:ea typeface="+mn-ea"/>
                <a:cs typeface="+mn-cs"/>
              </a:defRPr>
            </a:lvl1pPr>
          </a:lstStyle>
          <a:p>
            <a:endParaRPr lang="fr-CI" dirty="0"/>
          </a:p>
        </p:txBody>
      </p:sp>
      <p:sp>
        <p:nvSpPr>
          <p:cNvPr id="6" name="Espace réservé du numéro de diapositive 5">
            <a:extLst>
              <a:ext uri="{FF2B5EF4-FFF2-40B4-BE49-F238E27FC236}">
                <a16:creationId xmlns:a16="http://schemas.microsoft.com/office/drawing/2014/main" id="{BD28E27B-7083-41CD-9F2C-286D45DB4F4A}"/>
              </a:ext>
            </a:extLst>
          </p:cNvPr>
          <p:cNvSpPr>
            <a:spLocks noGrp="1"/>
          </p:cNvSpPr>
          <p:nvPr>
            <p:ph type="sldNum" sz="quarter" idx="12"/>
          </p:nvPr>
        </p:nvSpPr>
        <p:spPr>
          <a:xfrm>
            <a:off x="4543647" y="6459168"/>
            <a:ext cx="2743200" cy="365125"/>
          </a:xfrm>
          <a:prstGeom prst="rect">
            <a:avLst/>
          </a:prstGeom>
        </p:spPr>
        <p:txBody>
          <a:bodyPr/>
          <a:lstStyle>
            <a:lvl1pPr algn="ctr">
              <a:defRPr lang="fr-CI" sz="1000" kern="1200" smtClean="0">
                <a:solidFill>
                  <a:schemeClr val="tx1"/>
                </a:solidFill>
                <a:latin typeface="+mn-lt"/>
                <a:ea typeface="+mn-ea"/>
                <a:cs typeface="+mn-cs"/>
              </a:defRPr>
            </a:lvl1pPr>
          </a:lstStyle>
          <a:p>
            <a:fld id="{8328385A-641E-4F8F-882F-213D83324BFF}" type="slidenum">
              <a:rPr lang="fr-CI" smtClean="0"/>
              <a:pPr/>
              <a:t>‹N°›</a:t>
            </a:fld>
            <a:endParaRPr lang="fr-CI" dirty="0"/>
          </a:p>
        </p:txBody>
      </p:sp>
    </p:spTree>
    <p:extLst>
      <p:ext uri="{BB962C8B-B14F-4D97-AF65-F5344CB8AC3E}">
        <p14:creationId xmlns:p14="http://schemas.microsoft.com/office/powerpoint/2010/main" val="287928834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DEFAULT">
    <p:spTree>
      <p:nvGrpSpPr>
        <p:cNvPr id="1" name=""/>
        <p:cNvGrpSpPr/>
        <p:nvPr/>
      </p:nvGrpSpPr>
      <p:grpSpPr>
        <a:xfrm>
          <a:off x="0" y="0"/>
          <a:ext cx="0" cy="0"/>
          <a:chOff x="0" y="0"/>
          <a:chExt cx="0" cy="0"/>
        </a:xfrm>
      </p:grpSpPr>
      <p:sp>
        <p:nvSpPr>
          <p:cNvPr id="5" name="Espace réservé du numéro de diapositive 11">
            <a:extLst>
              <a:ext uri="{FF2B5EF4-FFF2-40B4-BE49-F238E27FC236}">
                <a16:creationId xmlns:a16="http://schemas.microsoft.com/office/drawing/2014/main" id="{F6E2C6F0-2084-7C5C-D91E-1543FD9F72A9}"/>
              </a:ext>
            </a:extLst>
          </p:cNvPr>
          <p:cNvSpPr txBox="1">
            <a:spLocks/>
          </p:cNvSpPr>
          <p:nvPr userDrawn="1">
            <p:custDataLst>
              <p:tags r:id="rId1"/>
            </p:custDataLst>
          </p:nvPr>
        </p:nvSpPr>
        <p:spPr>
          <a:xfrm>
            <a:off x="11655922" y="6557253"/>
            <a:ext cx="401596" cy="246558"/>
          </a:xfrm>
          <a:prstGeom prst="rect">
            <a:avLst/>
          </a:prstGeom>
          <a:ln>
            <a:solidFill>
              <a:schemeClr val="tx2"/>
            </a:solidFill>
          </a:ln>
        </p:spPr>
        <p:txBody>
          <a:bodyPr vert="horz" lIns="91440" tIns="45720" rIns="91440" bIns="45720" rtlCol="0" anchor="ctr"/>
          <a:lstStyle>
            <a:defPPr>
              <a:defRPr lang="fr-FR"/>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B66F920F-79B5-4B71-8F71-87BB7E2092D9}" type="slidenum">
              <a:rPr lang="fr-FR" sz="1000" b="1" smtClean="0">
                <a:solidFill>
                  <a:schemeClr val="tx2"/>
                </a:solidFill>
                <a:latin typeface="Calibri" panose="020F0502020204030204" pitchFamily="34" charset="0"/>
                <a:ea typeface="Calibri" panose="020F0502020204030204" pitchFamily="34" charset="0"/>
                <a:cs typeface="Calibri" panose="020F0502020204030204" pitchFamily="34" charset="0"/>
              </a:rPr>
              <a:pPr algn="ctr"/>
              <a:t>‹N°›</a:t>
            </a:fld>
            <a:endParaRPr lang="fr-FR" sz="1000" b="1" dirty="0">
              <a:solidFill>
                <a:schemeClr val="tx2"/>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821503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DF1F9"/>
        </a:solidFill>
        <a:effectLst/>
      </p:bgPr>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09010164-23BC-C425-D9FC-72A49BED998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fr-CI"/>
          </a:p>
        </p:txBody>
      </p:sp>
      <p:sp>
        <p:nvSpPr>
          <p:cNvPr id="3" name="Espace réservé du texte 2">
            <a:extLst>
              <a:ext uri="{FF2B5EF4-FFF2-40B4-BE49-F238E27FC236}">
                <a16:creationId xmlns:a16="http://schemas.microsoft.com/office/drawing/2014/main" id="{C9155E51-8263-DA94-53CF-415C14FDA03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I"/>
          </a:p>
        </p:txBody>
      </p:sp>
      <p:sp>
        <p:nvSpPr>
          <p:cNvPr id="4" name="Espace réservé de la date 3">
            <a:extLst>
              <a:ext uri="{FF2B5EF4-FFF2-40B4-BE49-F238E27FC236}">
                <a16:creationId xmlns:a16="http://schemas.microsoft.com/office/drawing/2014/main" id="{4014108E-7423-F691-BFDA-913FE2BCBA0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82E1538-0FC8-4D50-9711-7C7F54A00D4A}" type="datetimeFigureOut">
              <a:rPr lang="fr-CI" smtClean="0"/>
              <a:t>14/07/2026</a:t>
            </a:fld>
            <a:endParaRPr lang="fr-CI"/>
          </a:p>
        </p:txBody>
      </p:sp>
      <p:sp>
        <p:nvSpPr>
          <p:cNvPr id="5" name="Espace réservé du pied de page 4">
            <a:extLst>
              <a:ext uri="{FF2B5EF4-FFF2-40B4-BE49-F238E27FC236}">
                <a16:creationId xmlns:a16="http://schemas.microsoft.com/office/drawing/2014/main" id="{B16C68AD-56B1-B8A9-17C8-9DDE79DAA05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CI"/>
          </a:p>
        </p:txBody>
      </p:sp>
      <p:sp>
        <p:nvSpPr>
          <p:cNvPr id="6" name="Espace réservé du numéro de diapositive 5">
            <a:extLst>
              <a:ext uri="{FF2B5EF4-FFF2-40B4-BE49-F238E27FC236}">
                <a16:creationId xmlns:a16="http://schemas.microsoft.com/office/drawing/2014/main" id="{F765C364-FECF-71F4-9A39-8BB31271E2B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791978A-C476-46F3-92CE-CDF19E773B70}" type="slidenum">
              <a:rPr lang="fr-CI" smtClean="0"/>
              <a:t>‹N°›</a:t>
            </a:fld>
            <a:endParaRPr lang="fr-CI"/>
          </a:p>
        </p:txBody>
      </p:sp>
    </p:spTree>
    <p:extLst>
      <p:ext uri="{BB962C8B-B14F-4D97-AF65-F5344CB8AC3E}">
        <p14:creationId xmlns:p14="http://schemas.microsoft.com/office/powerpoint/2010/main" val="7566146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EDF1F9"/>
        </a:solidFill>
        <a:effectLst/>
      </p:bgPr>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40669B5E-64C9-0E84-FBF0-FBD5223D179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5B306DF9-5203-B06C-738E-512B86B6C33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6EED1F6D-76E8-67F2-1484-AF6C2A20F7C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919964D-A144-49C9-847E-ECA819099D2D}" type="datetimeFigureOut">
              <a:rPr lang="fr-FR" smtClean="0"/>
              <a:t>14/07/2026</a:t>
            </a:fld>
            <a:endParaRPr lang="fr-FR"/>
          </a:p>
        </p:txBody>
      </p:sp>
      <p:sp>
        <p:nvSpPr>
          <p:cNvPr id="5" name="Espace réservé du pied de page 4">
            <a:extLst>
              <a:ext uri="{FF2B5EF4-FFF2-40B4-BE49-F238E27FC236}">
                <a16:creationId xmlns:a16="http://schemas.microsoft.com/office/drawing/2014/main" id="{A39D2138-AD9D-2184-EA8A-CFC2521A585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907FDD34-83C6-AD19-1D45-AB141A29CD3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F9978E8-CB01-422F-BA79-2A361703CF15}" type="slidenum">
              <a:rPr lang="fr-FR" smtClean="0"/>
              <a:t>‹N°›</a:t>
            </a:fld>
            <a:endParaRPr lang="fr-FR"/>
          </a:p>
        </p:txBody>
      </p:sp>
    </p:spTree>
    <p:extLst>
      <p:ext uri="{BB962C8B-B14F-4D97-AF65-F5344CB8AC3E}">
        <p14:creationId xmlns:p14="http://schemas.microsoft.com/office/powerpoint/2010/main" val="83020148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EDF1F9"/>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23416700"/>
      </p:ext>
    </p:extLst>
  </p:cSld>
  <p:clrMap bg1="lt1" tx1="dk1" bg2="lt2" tx2="dk2" accent1="accent1" accent2="accent2" accent3="accent3" accent4="accent4" accent5="accent5" accent6="accent6" hlink="hlink" folHlink="folHlink"/>
  <p:sldLayoutIdLst>
    <p:sldLayoutId id="2147483688" r:id="rId1"/>
  </p:sldLayoutIdLst>
  <p:hf sldNum="0" hdr="0" ftr="0" dt="0"/>
  <p:txStyles>
    <p:titleStyle>
      <a:lvl1pPr algn="ctr" defTabSz="1219170" rtl="0" eaLnBrk="1" latinLnBrk="0"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0"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notesSlide" Target="../notesSlides/notesSlide1.xml"/><Relationship Id="rId13" Type="http://schemas.openxmlformats.org/officeDocument/2006/relationships/image" Target="../media/image4.png"/><Relationship Id="rId3" Type="http://schemas.openxmlformats.org/officeDocument/2006/relationships/tags" Target="../tags/tag5.xml"/><Relationship Id="rId7" Type="http://schemas.openxmlformats.org/officeDocument/2006/relationships/slideLayout" Target="../slideLayouts/slideLayout23.xml"/><Relationship Id="rId12" Type="http://schemas.openxmlformats.org/officeDocument/2006/relationships/image" Target="../media/image3.jpeg"/><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tags" Target="../tags/tag8.xml"/><Relationship Id="rId11" Type="http://schemas.openxmlformats.org/officeDocument/2006/relationships/image" Target="../media/image2.jpeg"/><Relationship Id="rId5" Type="http://schemas.openxmlformats.org/officeDocument/2006/relationships/tags" Target="../tags/tag7.xml"/><Relationship Id="rId10" Type="http://schemas.microsoft.com/office/2007/relationships/hdphoto" Target="../media/hdphoto1.wdp"/><Relationship Id="rId4" Type="http://schemas.openxmlformats.org/officeDocument/2006/relationships/tags" Target="../tags/tag6.xml"/><Relationship Id="rId9" Type="http://schemas.openxmlformats.org/officeDocument/2006/relationships/image" Target="../media/image1.png"/><Relationship Id="rId14" Type="http://schemas.openxmlformats.org/officeDocument/2006/relationships/image" Target="../media/image5.jpeg"/></Relationships>
</file>

<file path=ppt/slides/_rels/slide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slideLayout" Target="../slideLayouts/slideLayout1.xml"/><Relationship Id="rId6" Type="http://schemas.openxmlformats.org/officeDocument/2006/relationships/image" Target="../media/image10.svg"/><Relationship Id="rId5" Type="http://schemas.openxmlformats.org/officeDocument/2006/relationships/image" Target="../media/image9.svg"/><Relationship Id="rId4" Type="http://schemas.openxmlformats.org/officeDocument/2006/relationships/image" Target="../media/image8.svg"/></Relationships>
</file>

<file path=ppt/slides/_rels/slide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1.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tags" Target="../tags/tag11.xml"/><Relationship Id="rId7" Type="http://schemas.openxmlformats.org/officeDocument/2006/relationships/image" Target="../media/image6.svg"/><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slideLayout" Target="../slideLayouts/slideLayout1.xml"/><Relationship Id="rId5" Type="http://schemas.openxmlformats.org/officeDocument/2006/relationships/tags" Target="../tags/tag13.xml"/><Relationship Id="rId4" Type="http://schemas.openxmlformats.org/officeDocument/2006/relationships/tags" Target="../tags/tag12.xml"/></Relationships>
</file>

<file path=ppt/slides/_rels/slide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6.sv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svg"/><Relationship Id="rId1" Type="http://schemas.openxmlformats.org/officeDocument/2006/relationships/slideLayout" Target="../slideLayouts/slideLayout1.xml"/><Relationship Id="rId4" Type="http://schemas.openxmlformats.org/officeDocument/2006/relationships/image" Target="../media/image6.svg"/></Relationships>
</file>

<file path=ppt/slides/_rels/slide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3.xml"/><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4.xml"/><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5.xml"/><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6.xml"/><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7.xml"/><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8.xml"/><Relationship Id="rId1" Type="http://schemas.openxmlformats.org/officeDocument/2006/relationships/slideLayout" Target="../slideLayouts/slideLayout24.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24.xml"/><Relationship Id="rId4" Type="http://schemas.openxmlformats.org/officeDocument/2006/relationships/image" Target="../media/image9.svg"/></Relationships>
</file>

<file path=ppt/slides/_rels/slide18.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17.png"/><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9.svg"/><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23.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10.xml"/><Relationship Id="rId1" Type="http://schemas.openxmlformats.org/officeDocument/2006/relationships/slideLayout" Target="../slideLayouts/slideLayout24.xml"/></Relationships>
</file>

<file path=ppt/slides/_rels/slide26.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8" Type="http://schemas.openxmlformats.org/officeDocument/2006/relationships/notesSlide" Target="../notesSlides/notesSlide12.xml"/><Relationship Id="rId13" Type="http://schemas.openxmlformats.org/officeDocument/2006/relationships/image" Target="../media/image4.png"/><Relationship Id="rId3" Type="http://schemas.openxmlformats.org/officeDocument/2006/relationships/tags" Target="../tags/tag16.xml"/><Relationship Id="rId7" Type="http://schemas.openxmlformats.org/officeDocument/2006/relationships/slideLayout" Target="../slideLayouts/slideLayout23.xml"/><Relationship Id="rId12" Type="http://schemas.openxmlformats.org/officeDocument/2006/relationships/image" Target="../media/image3.jpeg"/><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tags" Target="../tags/tag19.xml"/><Relationship Id="rId11" Type="http://schemas.openxmlformats.org/officeDocument/2006/relationships/image" Target="../media/image2.jpeg"/><Relationship Id="rId5" Type="http://schemas.openxmlformats.org/officeDocument/2006/relationships/tags" Target="../tags/tag18.xml"/><Relationship Id="rId10" Type="http://schemas.microsoft.com/office/2007/relationships/hdphoto" Target="../media/hdphoto1.wdp"/><Relationship Id="rId4" Type="http://schemas.openxmlformats.org/officeDocument/2006/relationships/tags" Target="../tags/tag17.xml"/><Relationship Id="rId9" Type="http://schemas.openxmlformats.org/officeDocument/2006/relationships/image" Target="../media/image1.png"/><Relationship Id="rId14" Type="http://schemas.openxmlformats.org/officeDocument/2006/relationships/image" Target="../media/image5.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90B22-0F8A-63E4-C6C6-792CC73278A3}"/>
            </a:ext>
          </a:extLst>
        </p:cNvPr>
        <p:cNvGrpSpPr/>
        <p:nvPr/>
      </p:nvGrpSpPr>
      <p:grpSpPr>
        <a:xfrm>
          <a:off x="0" y="0"/>
          <a:ext cx="0" cy="0"/>
          <a:chOff x="0" y="0"/>
          <a:chExt cx="0" cy="0"/>
        </a:xfrm>
      </p:grpSpPr>
      <p:pic>
        <p:nvPicPr>
          <p:cNvPr id="1030" name="Picture 6">
            <a:extLst>
              <a:ext uri="{FF2B5EF4-FFF2-40B4-BE49-F238E27FC236}">
                <a16:creationId xmlns:a16="http://schemas.microsoft.com/office/drawing/2014/main" id="{FFE74232-7859-FE29-19EC-47B9C65BBFCD}"/>
              </a:ext>
            </a:extLst>
          </p:cNvPr>
          <p:cNvPicPr>
            <a:picLocks noChangeAspect="1" noChangeArrowheads="1"/>
          </p:cNvPicPr>
          <p:nvPr>
            <p:custDataLst>
              <p:tags r:id="rId1"/>
            </p:custDataLst>
          </p:nvPr>
        </p:nvPicPr>
        <p:blipFill>
          <a:blip r:embed="rId9">
            <a:extLst>
              <a:ext uri="{BEBA8EAE-BF5A-486C-A8C5-ECC9F3942E4B}">
                <a14:imgProps xmlns:a14="http://schemas.microsoft.com/office/drawing/2010/main">
                  <a14:imgLayer r:embed="rId10">
                    <a14:imgEffect>
                      <a14:artisticLineDrawing/>
                    </a14:imgEffect>
                  </a14:imgLayer>
                </a14:imgProps>
              </a:ext>
              <a:ext uri="{28A0092B-C50C-407E-A947-70E740481C1C}">
                <a14:useLocalDpi xmlns:a14="http://schemas.microsoft.com/office/drawing/2010/main" val="0"/>
              </a:ext>
            </a:extLst>
          </a:blip>
          <a:srcRect l="9367" r="9367"/>
          <a:stretch/>
        </p:blipFill>
        <p:spPr bwMode="auto">
          <a:xfrm>
            <a:off x="1" y="-1"/>
            <a:ext cx="12191998" cy="6854357"/>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BC843E0C-B73A-61FD-88FA-A30906516F70}"/>
              </a:ext>
            </a:extLst>
          </p:cNvPr>
          <p:cNvSpPr/>
          <p:nvPr>
            <p:custDataLst>
              <p:tags r:id="rId2"/>
            </p:custDataLst>
          </p:nvPr>
        </p:nvSpPr>
        <p:spPr>
          <a:xfrm>
            <a:off x="0" y="-10770"/>
            <a:ext cx="12191999" cy="6865126"/>
          </a:xfrm>
          <a:prstGeom prst="rect">
            <a:avLst/>
          </a:prstGeom>
          <a:solidFill>
            <a:schemeClr val="tx2">
              <a:lumMod val="10000"/>
              <a:lumOff val="90000"/>
              <a:alpha val="8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ZoneTexte 11">
            <a:extLst>
              <a:ext uri="{FF2B5EF4-FFF2-40B4-BE49-F238E27FC236}">
                <a16:creationId xmlns:a16="http://schemas.microsoft.com/office/drawing/2014/main" id="{1A279178-C370-487D-178F-B6F8B2F18DA1}"/>
              </a:ext>
            </a:extLst>
          </p:cNvPr>
          <p:cNvSpPr txBox="1"/>
          <p:nvPr>
            <p:custDataLst>
              <p:tags r:id="rId3"/>
            </p:custDataLst>
          </p:nvPr>
        </p:nvSpPr>
        <p:spPr>
          <a:xfrm>
            <a:off x="4518788" y="1365015"/>
            <a:ext cx="3154424" cy="307777"/>
          </a:xfrm>
          <a:prstGeom prst="rect">
            <a:avLst/>
          </a:prstGeom>
          <a:solidFill>
            <a:schemeClr val="bg1">
              <a:alpha val="93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1"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SOUTENANCE DE MÉMOIRE DE MASTER</a:t>
            </a:r>
          </a:p>
        </p:txBody>
      </p:sp>
      <p:sp>
        <p:nvSpPr>
          <p:cNvPr id="11" name="ZoneTexte 10">
            <a:extLst>
              <a:ext uri="{FF2B5EF4-FFF2-40B4-BE49-F238E27FC236}">
                <a16:creationId xmlns:a16="http://schemas.microsoft.com/office/drawing/2014/main" id="{10A04F0C-FC16-A195-5216-FE61B2C2AB04}"/>
              </a:ext>
            </a:extLst>
          </p:cNvPr>
          <p:cNvSpPr txBox="1"/>
          <p:nvPr>
            <p:custDataLst>
              <p:tags r:id="rId4"/>
            </p:custDataLst>
          </p:nvPr>
        </p:nvSpPr>
        <p:spPr>
          <a:xfrm>
            <a:off x="1906141" y="2284164"/>
            <a:ext cx="8249478" cy="1756250"/>
          </a:xfrm>
          <a:prstGeom prst="rect">
            <a:avLst/>
          </a:prstGeom>
          <a:solidFill>
            <a:schemeClr val="bg1">
              <a:alpha val="74000"/>
            </a:schemeClr>
          </a:solid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00" b="1" i="0" u="none" strike="noStrike" kern="1200" cap="none" spc="0" normalizeH="0" baseline="0" noProof="0" dirty="0">
              <a:ln>
                <a:noFill/>
              </a:ln>
              <a:solidFill>
                <a:srgbClr val="1D3159"/>
              </a:solidFill>
              <a:effectLst/>
              <a:uLnTx/>
              <a:uFillTx/>
              <a:latin typeface="Calibri" panose="020F0502020204030204"/>
              <a:ea typeface="+mn-ea"/>
              <a:cs typeface="+mn-cs"/>
            </a:endParaRPr>
          </a:p>
          <a:p>
            <a:pPr marL="0" marR="0" lvl="0" indent="0" algn="ctr" defTabSz="914400" rtl="0" eaLnBrk="1" fontAlgn="auto" latinLnBrk="0" hangingPunct="1">
              <a:lnSpc>
                <a:spcPct val="104000"/>
              </a:lnSpc>
              <a:spcBef>
                <a:spcPts val="0"/>
              </a:spcBef>
              <a:spcAft>
                <a:spcPts val="0"/>
              </a:spcAft>
              <a:buClrTx/>
              <a:buSzTx/>
              <a:buFontTx/>
              <a:buNone/>
              <a:tabLst/>
              <a:defRPr/>
            </a:pPr>
            <a:r>
              <a:rPr kumimoji="0" lang="fr-FR" sz="2600" b="1" i="0" u="none" strike="noStrike" kern="1200" cap="none" spc="0" normalizeH="0" baseline="0" noProof="0" dirty="0">
                <a:ln>
                  <a:noFill/>
                </a:ln>
                <a:solidFill>
                  <a:srgbClr val="1D3159"/>
                </a:solidFill>
                <a:effectLst/>
                <a:uLnTx/>
                <a:uFillTx/>
                <a:latin typeface="Calibri" panose="020F0502020204030204"/>
                <a:ea typeface="+mn-ea"/>
                <a:cs typeface="+mn-cs"/>
              </a:rPr>
              <a:t>MODÉLISATION PRÉDICTIVE DES PERFORMANCES FINANCIÈRES DU PROGRAMME EPT POUR L'AMÉLIORATION DU PROCESSUS DE TITRISATION DES CRÉANCES À ALC</a:t>
            </a:r>
          </a:p>
        </p:txBody>
      </p:sp>
      <p:sp>
        <p:nvSpPr>
          <p:cNvPr id="8" name="Demi-cadre 7">
            <a:extLst>
              <a:ext uri="{FF2B5EF4-FFF2-40B4-BE49-F238E27FC236}">
                <a16:creationId xmlns:a16="http://schemas.microsoft.com/office/drawing/2014/main" id="{9C3369E9-2703-97DC-4C05-557854081FC1}"/>
              </a:ext>
            </a:extLst>
          </p:cNvPr>
          <p:cNvSpPr/>
          <p:nvPr>
            <p:custDataLst>
              <p:tags r:id="rId5"/>
            </p:custDataLst>
          </p:nvPr>
        </p:nvSpPr>
        <p:spPr>
          <a:xfrm>
            <a:off x="1518155" y="1994626"/>
            <a:ext cx="657546" cy="567825"/>
          </a:xfrm>
          <a:prstGeom prst="halfFrame">
            <a:avLst/>
          </a:prstGeom>
          <a:solidFill>
            <a:srgbClr val="1D31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Demi-cadre 8">
            <a:extLst>
              <a:ext uri="{FF2B5EF4-FFF2-40B4-BE49-F238E27FC236}">
                <a16:creationId xmlns:a16="http://schemas.microsoft.com/office/drawing/2014/main" id="{B92FDEDD-8CE8-78DA-4A3C-96C3CC99CD06}"/>
              </a:ext>
            </a:extLst>
          </p:cNvPr>
          <p:cNvSpPr/>
          <p:nvPr>
            <p:custDataLst>
              <p:tags r:id="rId6"/>
            </p:custDataLst>
          </p:nvPr>
        </p:nvSpPr>
        <p:spPr>
          <a:xfrm rot="10800000">
            <a:off x="9826846" y="3814895"/>
            <a:ext cx="657546" cy="567825"/>
          </a:xfrm>
          <a:prstGeom prst="halfFrame">
            <a:avLst/>
          </a:prstGeom>
          <a:solidFill>
            <a:srgbClr val="1D31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 name="Picture 688">
            <a:extLst>
              <a:ext uri="{FF2B5EF4-FFF2-40B4-BE49-F238E27FC236}">
                <a16:creationId xmlns:a16="http://schemas.microsoft.com/office/drawing/2014/main" id="{3427EA2F-79AC-92E9-A596-CB59ACE9BD50}"/>
              </a:ext>
            </a:extLst>
          </p:cNvPr>
          <p:cNvPicPr>
            <a:picLocks noChangeAspect="1"/>
          </p:cNvPicPr>
          <p:nvPr/>
        </p:nvPicPr>
        <p:blipFill>
          <a:blip r:embed="rId11">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010861" y="163202"/>
            <a:ext cx="1390386" cy="93507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88">
            <a:extLst>
              <a:ext uri="{FF2B5EF4-FFF2-40B4-BE49-F238E27FC236}">
                <a16:creationId xmlns:a16="http://schemas.microsoft.com/office/drawing/2014/main" id="{6BF21D66-0C87-AF4F-00FB-40640E523015}"/>
              </a:ext>
            </a:extLst>
          </p:cNvPr>
          <p:cNvPicPr>
            <a:picLocks noChangeAspect="1"/>
          </p:cNvPicPr>
          <p:nvPr/>
        </p:nvPicPr>
        <p:blipFill>
          <a:blip r:embed="rId12">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bwMode="auto">
          <a:xfrm>
            <a:off x="9483462" y="349885"/>
            <a:ext cx="2275057" cy="787105"/>
          </a:xfrm>
          <a:prstGeom prst="rect">
            <a:avLst/>
          </a:prstGeom>
          <a:noFill/>
          <a:extLst>
            <a:ext uri="{909E8E84-426E-40DD-AFC4-6F175D3DCCD1}">
              <a14:hiddenFill xmlns:a14="http://schemas.microsoft.com/office/drawing/2010/main">
                <a:solidFill>
                  <a:srgbClr val="FFFFFF"/>
                </a:solidFill>
              </a14:hiddenFill>
            </a:ext>
          </a:extLst>
        </p:spPr>
      </p:pic>
      <p:sp>
        <p:nvSpPr>
          <p:cNvPr id="17" name="ZoneTexte 16">
            <a:extLst>
              <a:ext uri="{FF2B5EF4-FFF2-40B4-BE49-F238E27FC236}">
                <a16:creationId xmlns:a16="http://schemas.microsoft.com/office/drawing/2014/main" id="{021FAF7D-1D0D-16B7-BF45-D2064CFEF07D}"/>
              </a:ext>
            </a:extLst>
          </p:cNvPr>
          <p:cNvSpPr txBox="1"/>
          <p:nvPr/>
        </p:nvSpPr>
        <p:spPr>
          <a:xfrm>
            <a:off x="4022271" y="4372008"/>
            <a:ext cx="4147457"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CI" sz="1400" b="1" i="0" u="sng" strike="noStrike" kern="1200" cap="none" spc="0" normalizeH="0" baseline="0" noProof="0" dirty="0">
                <a:ln>
                  <a:noFill/>
                </a:ln>
                <a:solidFill>
                  <a:prstClr val="black"/>
                </a:solidFill>
                <a:effectLst/>
                <a:uLnTx/>
                <a:uFillTx/>
                <a:latin typeface="Calibri" panose="020F0502020204030204"/>
                <a:ea typeface="+mn-ea"/>
                <a:cs typeface="+mn-cs"/>
              </a:rPr>
              <a:t>Année universitaire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CI" sz="1400" b="1" i="0" u="none" strike="noStrike" kern="1200" cap="none" spc="0" normalizeH="0" baseline="0" noProof="0" dirty="0">
                <a:ln>
                  <a:noFill/>
                </a:ln>
                <a:solidFill>
                  <a:prstClr val="black"/>
                </a:solidFill>
                <a:effectLst/>
                <a:uLnTx/>
                <a:uFillTx/>
                <a:latin typeface="Calibri" panose="020F0502020204030204"/>
                <a:ea typeface="+mn-ea"/>
                <a:cs typeface="+mn-cs"/>
              </a:rPr>
              <a:t>2025 - 2026</a:t>
            </a:r>
          </a:p>
        </p:txBody>
      </p:sp>
      <p:pic>
        <p:nvPicPr>
          <p:cNvPr id="5" name="Image 4">
            <a:extLst>
              <a:ext uri="{FF2B5EF4-FFF2-40B4-BE49-F238E27FC236}">
                <a16:creationId xmlns:a16="http://schemas.microsoft.com/office/drawing/2014/main" id="{89AD5C0A-6FA8-982F-64A1-60CED6B823E7}"/>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4818570" y="5573119"/>
            <a:ext cx="502050" cy="546962"/>
          </a:xfrm>
          <a:prstGeom prst="rect">
            <a:avLst/>
          </a:prstGeom>
        </p:spPr>
      </p:pic>
      <p:sp>
        <p:nvSpPr>
          <p:cNvPr id="10" name="ZoneTexte 9">
            <a:extLst>
              <a:ext uri="{FF2B5EF4-FFF2-40B4-BE49-F238E27FC236}">
                <a16:creationId xmlns:a16="http://schemas.microsoft.com/office/drawing/2014/main" id="{02885B57-8BF0-C9A1-70B2-DDFB10D89C06}"/>
              </a:ext>
            </a:extLst>
          </p:cNvPr>
          <p:cNvSpPr txBox="1"/>
          <p:nvPr/>
        </p:nvSpPr>
        <p:spPr>
          <a:xfrm>
            <a:off x="5515086" y="5593862"/>
            <a:ext cx="1957531" cy="4462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CI" sz="1100" b="0" i="0" u="none" strike="noStrike" kern="1200" cap="none" spc="0" normalizeH="0" baseline="0" noProof="0" dirty="0">
                <a:ln>
                  <a:noFill/>
                </a:ln>
                <a:solidFill>
                  <a:prstClr val="black"/>
                </a:solidFill>
                <a:effectLst/>
                <a:uLnTx/>
                <a:uFillTx/>
                <a:latin typeface="Calibri" panose="020F0502020204030204"/>
                <a:ea typeface="+mn-ea"/>
                <a:cs typeface="+mn-cs"/>
              </a:rPr>
              <a:t>Étudiant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CI" sz="1200" b="1" i="0" u="none" strike="noStrike" kern="1200" cap="none" spc="0" normalizeH="0" baseline="0" noProof="0" dirty="0">
                <a:ln>
                  <a:noFill/>
                </a:ln>
                <a:solidFill>
                  <a:prstClr val="black"/>
                </a:solidFill>
                <a:effectLst/>
                <a:uLnTx/>
                <a:uFillTx/>
                <a:latin typeface="Calibri" panose="020F0502020204030204"/>
                <a:ea typeface="+mn-ea"/>
                <a:cs typeface="+mn-cs"/>
              </a:rPr>
              <a:t>SORO DOBA ISSIAKA</a:t>
            </a:r>
          </a:p>
        </p:txBody>
      </p:sp>
      <p:pic>
        <p:nvPicPr>
          <p:cNvPr id="14" name="Image 13">
            <a:extLst>
              <a:ext uri="{FF2B5EF4-FFF2-40B4-BE49-F238E27FC236}">
                <a16:creationId xmlns:a16="http://schemas.microsoft.com/office/drawing/2014/main" id="{9296F6E2-B134-3B65-ACB1-4692951A83C9}"/>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8129652" y="5649573"/>
            <a:ext cx="502050" cy="546962"/>
          </a:xfrm>
          <a:prstGeom prst="rect">
            <a:avLst/>
          </a:prstGeom>
        </p:spPr>
      </p:pic>
      <p:sp>
        <p:nvSpPr>
          <p:cNvPr id="15" name="ZoneTexte 14">
            <a:extLst>
              <a:ext uri="{FF2B5EF4-FFF2-40B4-BE49-F238E27FC236}">
                <a16:creationId xmlns:a16="http://schemas.microsoft.com/office/drawing/2014/main" id="{D1B05B8D-9BFF-1A8A-442D-0B985F8C2A48}"/>
              </a:ext>
            </a:extLst>
          </p:cNvPr>
          <p:cNvSpPr txBox="1"/>
          <p:nvPr/>
        </p:nvSpPr>
        <p:spPr>
          <a:xfrm>
            <a:off x="8755918" y="5531129"/>
            <a:ext cx="1957531" cy="63094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CI" sz="1100" b="0" i="0" u="none" strike="noStrike" kern="1200" cap="none" spc="0" normalizeH="0" baseline="0" noProof="0" dirty="0">
                <a:ln>
                  <a:noFill/>
                </a:ln>
                <a:solidFill>
                  <a:prstClr val="black"/>
                </a:solidFill>
                <a:effectLst/>
                <a:uLnTx/>
                <a:uFillTx/>
                <a:latin typeface="Calibri" panose="020F0502020204030204"/>
                <a:ea typeface="+mn-ea"/>
                <a:cs typeface="+mn-cs"/>
              </a:rPr>
              <a:t>Encadreur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CI" sz="1100" b="1" i="0" u="none" strike="noStrike" kern="1200" cap="none" spc="0" normalizeH="0" baseline="0" noProof="0" dirty="0">
                <a:ln>
                  <a:noFill/>
                </a:ln>
                <a:solidFill>
                  <a:prstClr val="black"/>
                </a:solidFill>
                <a:effectLst/>
                <a:uLnTx/>
                <a:uFillTx/>
                <a:latin typeface="Calibri" panose="020F0502020204030204"/>
                <a:ea typeface="+mn-ea"/>
                <a:cs typeface="+mn-cs"/>
              </a:rPr>
              <a:t>Dr. </a:t>
            </a:r>
            <a:r>
              <a:rPr kumimoji="0" lang="fr-CI" sz="1200" b="1" i="0" u="none" strike="noStrike" kern="1200" cap="none" spc="0" normalizeH="0" baseline="0" noProof="0" dirty="0">
                <a:ln>
                  <a:noFill/>
                </a:ln>
                <a:solidFill>
                  <a:prstClr val="black"/>
                </a:solidFill>
                <a:effectLst/>
                <a:uLnTx/>
                <a:uFillTx/>
                <a:latin typeface="Calibri" panose="020F0502020204030204"/>
                <a:ea typeface="+mn-ea"/>
                <a:cs typeface="+mn-cs"/>
              </a:rPr>
              <a:t>ASSE Brou Ida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CI" sz="1200" b="1" i="0" u="none" strike="noStrike" kern="1200" cap="none" spc="0" normalizeH="0" baseline="0" noProof="0" dirty="0">
                <a:ln>
                  <a:noFill/>
                </a:ln>
                <a:solidFill>
                  <a:prstClr val="black"/>
                </a:solidFill>
                <a:effectLst/>
                <a:uLnTx/>
                <a:uFillTx/>
                <a:latin typeface="Calibri" panose="020F0502020204030204"/>
                <a:ea typeface="+mn-ea"/>
                <a:cs typeface="+mn-cs"/>
              </a:rPr>
              <a:t>M. KOUAME Ruben</a:t>
            </a:r>
          </a:p>
        </p:txBody>
      </p:sp>
      <p:pic>
        <p:nvPicPr>
          <p:cNvPr id="18" name="Image 17">
            <a:extLst>
              <a:ext uri="{FF2B5EF4-FFF2-40B4-BE49-F238E27FC236}">
                <a16:creationId xmlns:a16="http://schemas.microsoft.com/office/drawing/2014/main" id="{0D490E11-19E5-D659-9877-BA43914A0267}"/>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226905" y="5573119"/>
            <a:ext cx="502050" cy="546962"/>
          </a:xfrm>
          <a:prstGeom prst="rect">
            <a:avLst/>
          </a:prstGeom>
        </p:spPr>
      </p:pic>
      <p:sp>
        <p:nvSpPr>
          <p:cNvPr id="19" name="ZoneTexte 18">
            <a:extLst>
              <a:ext uri="{FF2B5EF4-FFF2-40B4-BE49-F238E27FC236}">
                <a16:creationId xmlns:a16="http://schemas.microsoft.com/office/drawing/2014/main" id="{2B4ADBDE-8D29-D3AD-6387-BE3853FEEFF3}"/>
              </a:ext>
            </a:extLst>
          </p:cNvPr>
          <p:cNvSpPr txBox="1"/>
          <p:nvPr/>
        </p:nvSpPr>
        <p:spPr>
          <a:xfrm>
            <a:off x="1788404" y="5593861"/>
            <a:ext cx="1957531" cy="4462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CI" sz="1100" b="0" i="0" u="none" strike="noStrike" kern="1200" cap="none" spc="0" normalizeH="0" baseline="0" noProof="0" dirty="0">
                <a:ln>
                  <a:noFill/>
                </a:ln>
                <a:solidFill>
                  <a:prstClr val="black"/>
                </a:solidFill>
                <a:effectLst/>
                <a:uLnTx/>
                <a:uFillTx/>
                <a:latin typeface="Calibri" panose="020F0502020204030204"/>
                <a:ea typeface="+mn-ea"/>
                <a:cs typeface="+mn-cs"/>
              </a:rPr>
              <a:t>Directeur de mémoire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CI" sz="1200" b="1" i="0" u="none" strike="noStrike" kern="1200" cap="none" spc="0" normalizeH="0" baseline="0" noProof="0" dirty="0">
                <a:ln>
                  <a:noFill/>
                </a:ln>
                <a:solidFill>
                  <a:prstClr val="black"/>
                </a:solidFill>
                <a:effectLst/>
                <a:uLnTx/>
                <a:uFillTx/>
                <a:latin typeface="Calibri" panose="020F0502020204030204"/>
                <a:ea typeface="+mn-ea"/>
                <a:cs typeface="+mn-cs"/>
              </a:rPr>
              <a:t>Dr. MAMADOU Diarra</a:t>
            </a:r>
          </a:p>
        </p:txBody>
      </p:sp>
      <p:pic>
        <p:nvPicPr>
          <p:cNvPr id="3" name="Picture 690" descr="Une image contenant texte, Police, logo, Graphique&#10;&#10;Le contenu généré par l’IA peut être incorrect.">
            <a:extLst>
              <a:ext uri="{FF2B5EF4-FFF2-40B4-BE49-F238E27FC236}">
                <a16:creationId xmlns:a16="http://schemas.microsoft.com/office/drawing/2014/main" id="{58E6C15B-ECA1-3E3D-98D3-E91F4A14454A}"/>
              </a:ext>
            </a:extLst>
          </p:cNvPr>
          <p:cNvPicPr>
            <a:picLocks noChangeAspect="1"/>
          </p:cNvPicPr>
          <p:nvPr/>
        </p:nvPicPr>
        <p:blipFill>
          <a:blip r:embed="rId14">
            <a:extLst>
              <a:ext uri="{28A0092B-C50C-407E-A947-70E740481C1C}">
                <a14:useLocalDpi xmlns:a14="http://schemas.microsoft.com/office/drawing/2010/main" val="0"/>
              </a:ext>
            </a:extLst>
          </a:blip>
          <a:srcRect/>
          <a:stretch>
            <a:fillRect/>
          </a:stretch>
        </p:blipFill>
        <p:spPr bwMode="auto">
          <a:xfrm>
            <a:off x="715617" y="210259"/>
            <a:ext cx="1133062" cy="10250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33814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B1FE5-91C2-D33A-8251-C846D09B132A}"/>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8D5AFED8-42A9-3862-7901-57CCEF45A27D}"/>
              </a:ext>
            </a:extLst>
          </p:cNvPr>
          <p:cNvSpPr txBox="1"/>
          <p:nvPr/>
        </p:nvSpPr>
        <p:spPr>
          <a:xfrm>
            <a:off x="2330824" y="609600"/>
            <a:ext cx="7620000" cy="461665"/>
          </a:xfrm>
          <a:prstGeom prst="rect">
            <a:avLst/>
          </a:prstGeom>
          <a:noFill/>
        </p:spPr>
        <p:txBody>
          <a:bodyPr wrap="square" rtlCol="0">
            <a:spAutoFit/>
          </a:bodyPr>
          <a:lstStyle/>
          <a:p>
            <a:pPr algn="ctr"/>
            <a:r>
              <a:rPr lang="fr-CI" sz="2400" b="1" dirty="0">
                <a:solidFill>
                  <a:srgbClr val="002060"/>
                </a:solidFill>
              </a:rPr>
              <a:t>PLAN DE TRAVAIL</a:t>
            </a:r>
          </a:p>
        </p:txBody>
      </p:sp>
      <p:sp>
        <p:nvSpPr>
          <p:cNvPr id="3" name="Rectangle : coins arrondis 2">
            <a:extLst>
              <a:ext uri="{FF2B5EF4-FFF2-40B4-BE49-F238E27FC236}">
                <a16:creationId xmlns:a16="http://schemas.microsoft.com/office/drawing/2014/main" id="{CC6D07C6-4B68-4A2C-AA7D-09617D19E8EC}"/>
              </a:ext>
            </a:extLst>
          </p:cNvPr>
          <p:cNvSpPr/>
          <p:nvPr/>
        </p:nvSpPr>
        <p:spPr>
          <a:xfrm>
            <a:off x="635000" y="1397000"/>
            <a:ext cx="2032000" cy="2286000"/>
          </a:xfrm>
          <a:prstGeom prst="roundRect">
            <a:avLst/>
          </a:prstGeom>
          <a:solidFill>
            <a:srgbClr val="FFFFFF"/>
          </a:solidFill>
          <a:ln w="12700" cap="flat" cmpd="sng" algn="ctr">
            <a:solidFill>
              <a:srgbClr val="E2E4E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a:p>
        </p:txBody>
      </p:sp>
      <p:sp>
        <p:nvSpPr>
          <p:cNvPr id="4" name="ZoneTexte 3">
            <a:extLst>
              <a:ext uri="{FF2B5EF4-FFF2-40B4-BE49-F238E27FC236}">
                <a16:creationId xmlns:a16="http://schemas.microsoft.com/office/drawing/2014/main" id="{4A9BF485-9F90-4B3A-A17A-EAC81060B632}"/>
              </a:ext>
            </a:extLst>
          </p:cNvPr>
          <p:cNvSpPr txBox="1"/>
          <p:nvPr/>
        </p:nvSpPr>
        <p:spPr>
          <a:xfrm>
            <a:off x="787400" y="1524000"/>
            <a:ext cx="1727200" cy="381000"/>
          </a:xfrm>
          <a:prstGeom prst="rect">
            <a:avLst/>
          </a:prstGeom>
          <a:noFill/>
        </p:spPr>
        <p:txBody>
          <a:bodyPr vertOverflow="overflow" vert="horz" wrap="square" rtlCol="0" anchor="t">
            <a:spAutoFit/>
          </a:bodyPr>
          <a:lstStyle/>
          <a:p>
            <a:pPr algn="l"/>
            <a:r>
              <a:rPr lang="fr-FR" sz="2000" b="1">
                <a:solidFill>
                  <a:srgbClr val="232055"/>
                </a:solidFill>
                <a:latin typeface="Arial"/>
                <a:cs typeface="Arial"/>
              </a:rPr>
              <a:t>01</a:t>
            </a:r>
          </a:p>
        </p:txBody>
      </p:sp>
      <p:sp>
        <p:nvSpPr>
          <p:cNvPr id="6" name="ZoneTexte 5">
            <a:extLst>
              <a:ext uri="{FF2B5EF4-FFF2-40B4-BE49-F238E27FC236}">
                <a16:creationId xmlns:a16="http://schemas.microsoft.com/office/drawing/2014/main" id="{25024DB4-1AC6-41D2-9DF1-091F703C2DC2}"/>
              </a:ext>
            </a:extLst>
          </p:cNvPr>
          <p:cNvSpPr txBox="1"/>
          <p:nvPr/>
        </p:nvSpPr>
        <p:spPr>
          <a:xfrm>
            <a:off x="751851" y="1955800"/>
            <a:ext cx="1727200" cy="1015663"/>
          </a:xfrm>
          <a:prstGeom prst="rect">
            <a:avLst/>
          </a:prstGeom>
          <a:noFill/>
        </p:spPr>
        <p:txBody>
          <a:bodyPr vertOverflow="overflow" vert="horz" wrap="square" rtlCol="0" anchor="t">
            <a:spAutoFit/>
          </a:bodyPr>
          <a:lstStyle/>
          <a:p>
            <a:r>
              <a:rPr lang="fr-FR" sz="2000" b="1" dirty="0">
                <a:solidFill>
                  <a:srgbClr val="232055"/>
                </a:solidFill>
              </a:rPr>
              <a:t>STRUCTURE D'ACCUEIL &amp; CONTEXTE</a:t>
            </a:r>
          </a:p>
        </p:txBody>
      </p:sp>
      <p:sp>
        <p:nvSpPr>
          <p:cNvPr id="9" name="Rectangle : coins arrondis 8">
            <a:extLst>
              <a:ext uri="{FF2B5EF4-FFF2-40B4-BE49-F238E27FC236}">
                <a16:creationId xmlns:a16="http://schemas.microsoft.com/office/drawing/2014/main" id="{9BB5249D-CBC5-4711-8418-40F62B0A6EE5}"/>
              </a:ext>
            </a:extLst>
          </p:cNvPr>
          <p:cNvSpPr/>
          <p:nvPr/>
        </p:nvSpPr>
        <p:spPr>
          <a:xfrm>
            <a:off x="2857500" y="1397000"/>
            <a:ext cx="2032000" cy="2286000"/>
          </a:xfrm>
          <a:prstGeom prst="roundRect">
            <a:avLst/>
          </a:prstGeom>
          <a:solidFill>
            <a:srgbClr val="FFFFFF"/>
          </a:solidFill>
          <a:ln w="12700" cap="flat" cmpd="sng" algn="ctr">
            <a:solidFill>
              <a:srgbClr val="E2E4E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a:p>
        </p:txBody>
      </p:sp>
      <p:sp>
        <p:nvSpPr>
          <p:cNvPr id="10" name="ZoneTexte 9">
            <a:extLst>
              <a:ext uri="{FF2B5EF4-FFF2-40B4-BE49-F238E27FC236}">
                <a16:creationId xmlns:a16="http://schemas.microsoft.com/office/drawing/2014/main" id="{D58128F8-E9DA-4A8A-AA54-BCC264DB1692}"/>
              </a:ext>
            </a:extLst>
          </p:cNvPr>
          <p:cNvSpPr txBox="1"/>
          <p:nvPr/>
        </p:nvSpPr>
        <p:spPr>
          <a:xfrm>
            <a:off x="3009900" y="1524000"/>
            <a:ext cx="1727200" cy="381000"/>
          </a:xfrm>
          <a:prstGeom prst="rect">
            <a:avLst/>
          </a:prstGeom>
          <a:noFill/>
        </p:spPr>
        <p:txBody>
          <a:bodyPr vertOverflow="overflow" vert="horz" wrap="square" rtlCol="0" anchor="t">
            <a:spAutoFit/>
          </a:bodyPr>
          <a:lstStyle/>
          <a:p>
            <a:pPr algn="l"/>
            <a:r>
              <a:rPr lang="fr-FR" sz="2000" b="1">
                <a:solidFill>
                  <a:srgbClr val="232055"/>
                </a:solidFill>
                <a:latin typeface="Arial"/>
                <a:cs typeface="Arial"/>
              </a:rPr>
              <a:t>02</a:t>
            </a:r>
          </a:p>
        </p:txBody>
      </p:sp>
      <p:sp>
        <p:nvSpPr>
          <p:cNvPr id="11" name="ZoneTexte 10">
            <a:extLst>
              <a:ext uri="{FF2B5EF4-FFF2-40B4-BE49-F238E27FC236}">
                <a16:creationId xmlns:a16="http://schemas.microsoft.com/office/drawing/2014/main" id="{9C0A6761-7B4B-40F6-9A8B-15687171D3B5}"/>
              </a:ext>
            </a:extLst>
          </p:cNvPr>
          <p:cNvSpPr txBox="1"/>
          <p:nvPr/>
        </p:nvSpPr>
        <p:spPr>
          <a:xfrm>
            <a:off x="2863850" y="1940861"/>
            <a:ext cx="2222500" cy="707886"/>
          </a:xfrm>
          <a:prstGeom prst="rect">
            <a:avLst/>
          </a:prstGeom>
          <a:noFill/>
        </p:spPr>
        <p:txBody>
          <a:bodyPr vertOverflow="overflow" vert="horz" wrap="square" rtlCol="0" anchor="t">
            <a:spAutoFit/>
          </a:bodyPr>
          <a:lstStyle/>
          <a:p>
            <a:r>
              <a:rPr lang="fr-FR" sz="2000" b="1" dirty="0">
                <a:solidFill>
                  <a:srgbClr val="232055"/>
                </a:solidFill>
              </a:rPr>
              <a:t>PROBLÉMATIQUE &amp; OBJECTIFS</a:t>
            </a:r>
          </a:p>
        </p:txBody>
      </p:sp>
      <p:sp>
        <p:nvSpPr>
          <p:cNvPr id="13" name="Rectangle : coins arrondis 12">
            <a:extLst>
              <a:ext uri="{FF2B5EF4-FFF2-40B4-BE49-F238E27FC236}">
                <a16:creationId xmlns:a16="http://schemas.microsoft.com/office/drawing/2014/main" id="{78CC1086-F0CA-41F7-9D62-10A998600611}"/>
              </a:ext>
            </a:extLst>
          </p:cNvPr>
          <p:cNvSpPr/>
          <p:nvPr/>
        </p:nvSpPr>
        <p:spPr>
          <a:xfrm>
            <a:off x="5080000" y="1397000"/>
            <a:ext cx="2032000" cy="2286000"/>
          </a:xfrm>
          <a:prstGeom prst="roundRect">
            <a:avLst/>
          </a:prstGeom>
          <a:solidFill>
            <a:srgbClr val="FFFFFF"/>
          </a:solidFill>
          <a:ln w="12700" cap="flat" cmpd="sng" algn="ctr">
            <a:solidFill>
              <a:srgbClr val="E2E4E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a:p>
        </p:txBody>
      </p:sp>
      <p:sp>
        <p:nvSpPr>
          <p:cNvPr id="14" name="ZoneTexte 13">
            <a:extLst>
              <a:ext uri="{FF2B5EF4-FFF2-40B4-BE49-F238E27FC236}">
                <a16:creationId xmlns:a16="http://schemas.microsoft.com/office/drawing/2014/main" id="{BE3A6572-655B-4B93-8B03-0ADE0B841EC2}"/>
              </a:ext>
            </a:extLst>
          </p:cNvPr>
          <p:cNvSpPr txBox="1"/>
          <p:nvPr/>
        </p:nvSpPr>
        <p:spPr>
          <a:xfrm>
            <a:off x="5232400" y="1524000"/>
            <a:ext cx="1727200" cy="381000"/>
          </a:xfrm>
          <a:prstGeom prst="rect">
            <a:avLst/>
          </a:prstGeom>
          <a:noFill/>
        </p:spPr>
        <p:txBody>
          <a:bodyPr vertOverflow="overflow" vert="horz" wrap="square" rtlCol="0" anchor="t">
            <a:spAutoFit/>
          </a:bodyPr>
          <a:lstStyle/>
          <a:p>
            <a:pPr algn="l"/>
            <a:r>
              <a:rPr lang="fr-FR" sz="2000" b="1">
                <a:solidFill>
                  <a:srgbClr val="232055"/>
                </a:solidFill>
                <a:latin typeface="Arial"/>
                <a:cs typeface="Arial"/>
              </a:rPr>
              <a:t>03</a:t>
            </a:r>
          </a:p>
        </p:txBody>
      </p:sp>
      <p:sp>
        <p:nvSpPr>
          <p:cNvPr id="15" name="ZoneTexte 14">
            <a:extLst>
              <a:ext uri="{FF2B5EF4-FFF2-40B4-BE49-F238E27FC236}">
                <a16:creationId xmlns:a16="http://schemas.microsoft.com/office/drawing/2014/main" id="{C9422F77-8422-4DA6-B677-01C8826381A5}"/>
              </a:ext>
            </a:extLst>
          </p:cNvPr>
          <p:cNvSpPr txBox="1"/>
          <p:nvPr/>
        </p:nvSpPr>
        <p:spPr>
          <a:xfrm>
            <a:off x="5080000" y="1955800"/>
            <a:ext cx="2032000" cy="707886"/>
          </a:xfrm>
          <a:prstGeom prst="rect">
            <a:avLst/>
          </a:prstGeom>
          <a:noFill/>
        </p:spPr>
        <p:txBody>
          <a:bodyPr vertOverflow="overflow" vert="horz" wrap="square" rtlCol="0" anchor="t">
            <a:spAutoFit/>
          </a:bodyPr>
          <a:lstStyle/>
          <a:p>
            <a:r>
              <a:rPr lang="fr-FR" sz="2000" b="1" dirty="0">
                <a:solidFill>
                  <a:srgbClr val="232055"/>
                </a:solidFill>
              </a:rPr>
              <a:t>DONNÉES &amp; MÉTHODOLOGIE</a:t>
            </a:r>
          </a:p>
        </p:txBody>
      </p:sp>
      <p:sp>
        <p:nvSpPr>
          <p:cNvPr id="21" name="Rectangle : coins arrondis 20">
            <a:extLst>
              <a:ext uri="{FF2B5EF4-FFF2-40B4-BE49-F238E27FC236}">
                <a16:creationId xmlns:a16="http://schemas.microsoft.com/office/drawing/2014/main" id="{8ABCBEF2-059F-4F0F-955C-AB603E1966A0}"/>
              </a:ext>
            </a:extLst>
          </p:cNvPr>
          <p:cNvSpPr/>
          <p:nvPr/>
        </p:nvSpPr>
        <p:spPr>
          <a:xfrm>
            <a:off x="7302500" y="1397000"/>
            <a:ext cx="2032000" cy="2286000"/>
          </a:xfrm>
          <a:prstGeom prst="roundRect">
            <a:avLst/>
          </a:prstGeom>
          <a:solidFill>
            <a:srgbClr val="FFFFFF"/>
          </a:solidFill>
          <a:ln w="12700" cap="flat" cmpd="sng" algn="ctr">
            <a:solidFill>
              <a:srgbClr val="E2E4E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a:p>
        </p:txBody>
      </p:sp>
      <p:sp>
        <p:nvSpPr>
          <p:cNvPr id="22" name="ZoneTexte 21">
            <a:extLst>
              <a:ext uri="{FF2B5EF4-FFF2-40B4-BE49-F238E27FC236}">
                <a16:creationId xmlns:a16="http://schemas.microsoft.com/office/drawing/2014/main" id="{AB4FF85B-AB05-4E39-92DF-44B35DE68319}"/>
              </a:ext>
            </a:extLst>
          </p:cNvPr>
          <p:cNvSpPr txBox="1"/>
          <p:nvPr/>
        </p:nvSpPr>
        <p:spPr>
          <a:xfrm>
            <a:off x="7454900" y="1524000"/>
            <a:ext cx="1727200" cy="381000"/>
          </a:xfrm>
          <a:prstGeom prst="rect">
            <a:avLst/>
          </a:prstGeom>
          <a:noFill/>
        </p:spPr>
        <p:txBody>
          <a:bodyPr vertOverflow="overflow" vert="horz" wrap="square" rtlCol="0" anchor="t">
            <a:spAutoFit/>
          </a:bodyPr>
          <a:lstStyle/>
          <a:p>
            <a:pPr algn="l"/>
            <a:r>
              <a:rPr lang="fr-FR" sz="2000" b="1">
                <a:solidFill>
                  <a:srgbClr val="232055"/>
                </a:solidFill>
                <a:latin typeface="Arial"/>
                <a:cs typeface="Arial"/>
              </a:rPr>
              <a:t>04</a:t>
            </a:r>
          </a:p>
        </p:txBody>
      </p:sp>
      <p:sp>
        <p:nvSpPr>
          <p:cNvPr id="28" name="ZoneTexte 27">
            <a:extLst>
              <a:ext uri="{FF2B5EF4-FFF2-40B4-BE49-F238E27FC236}">
                <a16:creationId xmlns:a16="http://schemas.microsoft.com/office/drawing/2014/main" id="{472643E1-4F91-40EF-9B10-BAE1C5A7321C}"/>
              </a:ext>
            </a:extLst>
          </p:cNvPr>
          <p:cNvSpPr txBox="1"/>
          <p:nvPr/>
        </p:nvSpPr>
        <p:spPr>
          <a:xfrm>
            <a:off x="7375540" y="1955800"/>
            <a:ext cx="1879600" cy="707886"/>
          </a:xfrm>
          <a:prstGeom prst="rect">
            <a:avLst/>
          </a:prstGeom>
          <a:noFill/>
        </p:spPr>
        <p:txBody>
          <a:bodyPr vertOverflow="overflow" vert="horz" wrap="square" rtlCol="0" anchor="t">
            <a:spAutoFit/>
          </a:bodyPr>
          <a:lstStyle/>
          <a:p>
            <a:r>
              <a:rPr lang="fr-FR" sz="2000" b="1" dirty="0">
                <a:solidFill>
                  <a:srgbClr val="232055"/>
                </a:solidFill>
              </a:rPr>
              <a:t>MODÉLISATION &amp; RÉSULTATS</a:t>
            </a:r>
          </a:p>
        </p:txBody>
      </p:sp>
      <p:sp>
        <p:nvSpPr>
          <p:cNvPr id="38" name="Rectangle : coins arrondis 37">
            <a:extLst>
              <a:ext uri="{FF2B5EF4-FFF2-40B4-BE49-F238E27FC236}">
                <a16:creationId xmlns:a16="http://schemas.microsoft.com/office/drawing/2014/main" id="{9A16F5B8-C407-4C34-A6A3-6F777EDFED88}"/>
              </a:ext>
            </a:extLst>
          </p:cNvPr>
          <p:cNvSpPr/>
          <p:nvPr/>
        </p:nvSpPr>
        <p:spPr>
          <a:xfrm>
            <a:off x="9525000" y="1397000"/>
            <a:ext cx="2032000" cy="2286000"/>
          </a:xfrm>
          <a:prstGeom prst="roundRect">
            <a:avLst/>
          </a:prstGeom>
          <a:solidFill>
            <a:srgbClr val="FFFFFF"/>
          </a:solidFill>
          <a:ln w="12700" cap="flat" cmpd="sng" algn="ctr">
            <a:solidFill>
              <a:srgbClr val="E2E4E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a:p>
        </p:txBody>
      </p:sp>
      <p:sp>
        <p:nvSpPr>
          <p:cNvPr id="44" name="ZoneTexte 43">
            <a:extLst>
              <a:ext uri="{FF2B5EF4-FFF2-40B4-BE49-F238E27FC236}">
                <a16:creationId xmlns:a16="http://schemas.microsoft.com/office/drawing/2014/main" id="{384351C2-CD63-4B90-8FDE-8902017C05D5}"/>
              </a:ext>
            </a:extLst>
          </p:cNvPr>
          <p:cNvSpPr txBox="1"/>
          <p:nvPr/>
        </p:nvSpPr>
        <p:spPr>
          <a:xfrm>
            <a:off x="9677400" y="1524000"/>
            <a:ext cx="1727200" cy="381000"/>
          </a:xfrm>
          <a:prstGeom prst="rect">
            <a:avLst/>
          </a:prstGeom>
          <a:noFill/>
        </p:spPr>
        <p:txBody>
          <a:bodyPr vertOverflow="overflow" vert="horz" wrap="square" rtlCol="0" anchor="t">
            <a:spAutoFit/>
          </a:bodyPr>
          <a:lstStyle/>
          <a:p>
            <a:pPr algn="l"/>
            <a:r>
              <a:rPr lang="fr-FR" sz="2000" b="1">
                <a:solidFill>
                  <a:srgbClr val="232055"/>
                </a:solidFill>
                <a:latin typeface="Arial"/>
                <a:cs typeface="Arial"/>
              </a:rPr>
              <a:t>05</a:t>
            </a:r>
          </a:p>
        </p:txBody>
      </p:sp>
      <p:sp>
        <p:nvSpPr>
          <p:cNvPr id="45" name="ZoneTexte 44">
            <a:extLst>
              <a:ext uri="{FF2B5EF4-FFF2-40B4-BE49-F238E27FC236}">
                <a16:creationId xmlns:a16="http://schemas.microsoft.com/office/drawing/2014/main" id="{17B995CF-D7D6-4C20-AA97-CF8A08A15ADC}"/>
              </a:ext>
            </a:extLst>
          </p:cNvPr>
          <p:cNvSpPr txBox="1"/>
          <p:nvPr/>
        </p:nvSpPr>
        <p:spPr>
          <a:xfrm>
            <a:off x="9616096" y="1955800"/>
            <a:ext cx="1879600" cy="707886"/>
          </a:xfrm>
          <a:prstGeom prst="rect">
            <a:avLst/>
          </a:prstGeom>
          <a:noFill/>
        </p:spPr>
        <p:txBody>
          <a:bodyPr vertOverflow="overflow" vert="horz" wrap="square" rtlCol="0" anchor="t">
            <a:spAutoFit/>
          </a:bodyPr>
          <a:lstStyle/>
          <a:p>
            <a:r>
              <a:rPr lang="fr-FR" sz="2000" b="1" dirty="0">
                <a:solidFill>
                  <a:srgbClr val="232055"/>
                </a:solidFill>
              </a:rPr>
              <a:t>PRÉDICTIONS &amp; PERSPECTIVES</a:t>
            </a:r>
          </a:p>
        </p:txBody>
      </p:sp>
      <p:sp>
        <p:nvSpPr>
          <p:cNvPr id="48" name="Triangle isocèle 47">
            <a:extLst>
              <a:ext uri="{FF2B5EF4-FFF2-40B4-BE49-F238E27FC236}">
                <a16:creationId xmlns:a16="http://schemas.microsoft.com/office/drawing/2014/main" id="{671DA321-C87F-40A3-BAB0-00E915809A89}"/>
              </a:ext>
            </a:extLst>
          </p:cNvPr>
          <p:cNvSpPr/>
          <p:nvPr/>
        </p:nvSpPr>
        <p:spPr>
          <a:xfrm rot="10800000">
            <a:off x="1549400" y="3683000"/>
            <a:ext cx="203200" cy="431800"/>
          </a:xfrm>
          <a:prstGeom prst="triangle">
            <a:avLst/>
          </a:prstGeom>
          <a:solidFill>
            <a:srgbClr val="FFFFFF"/>
          </a:solidFill>
          <a:ln w="12700" cap="flat" cmpd="sng" algn="ctr">
            <a:solidFill>
              <a:srgbClr val="E2E4E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a:p>
        </p:txBody>
      </p:sp>
      <p:sp>
        <p:nvSpPr>
          <p:cNvPr id="50" name="Triangle isocèle 49">
            <a:extLst>
              <a:ext uri="{FF2B5EF4-FFF2-40B4-BE49-F238E27FC236}">
                <a16:creationId xmlns:a16="http://schemas.microsoft.com/office/drawing/2014/main" id="{92383C4A-5117-4DC8-AABD-DC2D1EDE12C2}"/>
              </a:ext>
            </a:extLst>
          </p:cNvPr>
          <p:cNvSpPr/>
          <p:nvPr/>
        </p:nvSpPr>
        <p:spPr>
          <a:xfrm rot="10800000">
            <a:off x="3771900" y="3683000"/>
            <a:ext cx="203200" cy="431800"/>
          </a:xfrm>
          <a:prstGeom prst="triangle">
            <a:avLst/>
          </a:prstGeom>
          <a:solidFill>
            <a:srgbClr val="FFFFFF"/>
          </a:solidFill>
          <a:ln w="12700" cap="flat" cmpd="sng" algn="ctr">
            <a:solidFill>
              <a:srgbClr val="E2E4E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a:p>
        </p:txBody>
      </p:sp>
      <p:sp>
        <p:nvSpPr>
          <p:cNvPr id="52" name="Triangle isocèle 51">
            <a:extLst>
              <a:ext uri="{FF2B5EF4-FFF2-40B4-BE49-F238E27FC236}">
                <a16:creationId xmlns:a16="http://schemas.microsoft.com/office/drawing/2014/main" id="{A3570259-3CD4-44C9-BCAD-0831511237C3}"/>
              </a:ext>
            </a:extLst>
          </p:cNvPr>
          <p:cNvSpPr/>
          <p:nvPr/>
        </p:nvSpPr>
        <p:spPr>
          <a:xfrm rot="10800000">
            <a:off x="5994400" y="3683000"/>
            <a:ext cx="203200" cy="431800"/>
          </a:xfrm>
          <a:prstGeom prst="triangle">
            <a:avLst/>
          </a:prstGeom>
          <a:solidFill>
            <a:srgbClr val="FFFFFF"/>
          </a:solidFill>
          <a:ln w="12700" cap="flat" cmpd="sng" algn="ctr">
            <a:solidFill>
              <a:srgbClr val="E2E4E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a:p>
        </p:txBody>
      </p:sp>
      <p:sp>
        <p:nvSpPr>
          <p:cNvPr id="54" name="Triangle isocèle 53">
            <a:extLst>
              <a:ext uri="{FF2B5EF4-FFF2-40B4-BE49-F238E27FC236}">
                <a16:creationId xmlns:a16="http://schemas.microsoft.com/office/drawing/2014/main" id="{D7C925F9-604A-4C53-B229-E30FDB4F6680}"/>
              </a:ext>
            </a:extLst>
          </p:cNvPr>
          <p:cNvSpPr/>
          <p:nvPr/>
        </p:nvSpPr>
        <p:spPr>
          <a:xfrm rot="10800000">
            <a:off x="8216900" y="3683000"/>
            <a:ext cx="203200" cy="431800"/>
          </a:xfrm>
          <a:prstGeom prst="triangle">
            <a:avLst/>
          </a:prstGeom>
          <a:solidFill>
            <a:srgbClr val="FFFFFF"/>
          </a:solidFill>
          <a:ln w="12700" cap="flat" cmpd="sng" algn="ctr">
            <a:solidFill>
              <a:srgbClr val="E2E4E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a:p>
        </p:txBody>
      </p:sp>
      <p:sp>
        <p:nvSpPr>
          <p:cNvPr id="58" name="Triangle isocèle 57">
            <a:extLst>
              <a:ext uri="{FF2B5EF4-FFF2-40B4-BE49-F238E27FC236}">
                <a16:creationId xmlns:a16="http://schemas.microsoft.com/office/drawing/2014/main" id="{AE5D8211-F944-4C62-AC87-5256B1448B11}"/>
              </a:ext>
            </a:extLst>
          </p:cNvPr>
          <p:cNvSpPr/>
          <p:nvPr/>
        </p:nvSpPr>
        <p:spPr>
          <a:xfrm rot="10800000">
            <a:off x="10439400" y="3683000"/>
            <a:ext cx="203200" cy="431800"/>
          </a:xfrm>
          <a:prstGeom prst="triangle">
            <a:avLst/>
          </a:prstGeom>
          <a:solidFill>
            <a:srgbClr val="FFFFFF"/>
          </a:solidFill>
          <a:ln w="12700" cap="flat" cmpd="sng" algn="ctr">
            <a:solidFill>
              <a:srgbClr val="E2E4E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a:p>
        </p:txBody>
      </p:sp>
      <p:sp>
        <p:nvSpPr>
          <p:cNvPr id="5" name="Rectangle : coins arrondis 4">
            <a:extLst>
              <a:ext uri="{FF2B5EF4-FFF2-40B4-BE49-F238E27FC236}">
                <a16:creationId xmlns:a16="http://schemas.microsoft.com/office/drawing/2014/main" id="{1BE44D20-CABD-C998-C0B7-53D8826B70F9}"/>
              </a:ext>
            </a:extLst>
          </p:cNvPr>
          <p:cNvSpPr/>
          <p:nvPr/>
        </p:nvSpPr>
        <p:spPr>
          <a:xfrm>
            <a:off x="420401" y="4129740"/>
            <a:ext cx="11351198" cy="308688"/>
          </a:xfrm>
          <a:prstGeom prst="roundRect">
            <a:avLst/>
          </a:prstGeom>
          <a:solidFill>
            <a:schemeClr val="bg1"/>
          </a:solidFill>
          <a:ln>
            <a:noFill/>
          </a:ln>
          <a:effectLst>
            <a:innerShdw blurRad="114300">
              <a:prstClr val="black">
                <a:alpha val="26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I"/>
          </a:p>
        </p:txBody>
      </p:sp>
      <p:grpSp>
        <p:nvGrpSpPr>
          <p:cNvPr id="8" name="Groupe 7">
            <a:extLst>
              <a:ext uri="{FF2B5EF4-FFF2-40B4-BE49-F238E27FC236}">
                <a16:creationId xmlns:a16="http://schemas.microsoft.com/office/drawing/2014/main" id="{F2412483-23A0-CCF8-889F-F58188C88FA1}"/>
              </a:ext>
            </a:extLst>
          </p:cNvPr>
          <p:cNvGrpSpPr/>
          <p:nvPr/>
        </p:nvGrpSpPr>
        <p:grpSpPr>
          <a:xfrm>
            <a:off x="1531344" y="4174225"/>
            <a:ext cx="209520" cy="219719"/>
            <a:chOff x="6296025" y="2855357"/>
            <a:chExt cx="600075" cy="612815"/>
          </a:xfrm>
          <a:solidFill>
            <a:schemeClr val="bg1"/>
          </a:solidFill>
        </p:grpSpPr>
        <p:sp>
          <p:nvSpPr>
            <p:cNvPr id="12" name="Organigramme : Connecteur 11">
              <a:extLst>
                <a:ext uri="{FF2B5EF4-FFF2-40B4-BE49-F238E27FC236}">
                  <a16:creationId xmlns:a16="http://schemas.microsoft.com/office/drawing/2014/main" id="{41E3BDD2-0DBD-31DF-A709-E2333B3A00A8}"/>
                </a:ext>
              </a:extLst>
            </p:cNvPr>
            <p:cNvSpPr/>
            <p:nvPr/>
          </p:nvSpPr>
          <p:spPr>
            <a:xfrm>
              <a:off x="6296025" y="2855357"/>
              <a:ext cx="600075" cy="612815"/>
            </a:xfrm>
            <a:prstGeom prst="flowChartConnector">
              <a:avLst/>
            </a:prstGeom>
            <a:grp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I"/>
            </a:p>
          </p:txBody>
        </p:sp>
        <p:sp>
          <p:nvSpPr>
            <p:cNvPr id="16" name="Organigramme : Connecteur 15">
              <a:extLst>
                <a:ext uri="{FF2B5EF4-FFF2-40B4-BE49-F238E27FC236}">
                  <a16:creationId xmlns:a16="http://schemas.microsoft.com/office/drawing/2014/main" id="{E65F06A5-CFD0-2E36-8990-3C8CB0343000}"/>
                </a:ext>
              </a:extLst>
            </p:cNvPr>
            <p:cNvSpPr/>
            <p:nvPr/>
          </p:nvSpPr>
          <p:spPr>
            <a:xfrm>
              <a:off x="6403180" y="2964924"/>
              <a:ext cx="385763" cy="393680"/>
            </a:xfrm>
            <a:prstGeom prst="flowChartConnector">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I"/>
            </a:p>
          </p:txBody>
        </p:sp>
      </p:grpSp>
      <p:grpSp>
        <p:nvGrpSpPr>
          <p:cNvPr id="17" name="Groupe 16">
            <a:extLst>
              <a:ext uri="{FF2B5EF4-FFF2-40B4-BE49-F238E27FC236}">
                <a16:creationId xmlns:a16="http://schemas.microsoft.com/office/drawing/2014/main" id="{2CACF0E6-1827-35C9-6AB0-AFBA99F9D410}"/>
              </a:ext>
            </a:extLst>
          </p:cNvPr>
          <p:cNvGrpSpPr/>
          <p:nvPr/>
        </p:nvGrpSpPr>
        <p:grpSpPr>
          <a:xfrm>
            <a:off x="5988080" y="4174225"/>
            <a:ext cx="209520" cy="219719"/>
            <a:chOff x="6296025" y="2855357"/>
            <a:chExt cx="600075" cy="612815"/>
          </a:xfrm>
          <a:solidFill>
            <a:schemeClr val="bg1"/>
          </a:solidFill>
        </p:grpSpPr>
        <p:sp>
          <p:nvSpPr>
            <p:cNvPr id="18" name="Organigramme : Connecteur 17">
              <a:extLst>
                <a:ext uri="{FF2B5EF4-FFF2-40B4-BE49-F238E27FC236}">
                  <a16:creationId xmlns:a16="http://schemas.microsoft.com/office/drawing/2014/main" id="{46BA9BEF-3143-70BA-275E-BB627CACCFC0}"/>
                </a:ext>
              </a:extLst>
            </p:cNvPr>
            <p:cNvSpPr/>
            <p:nvPr/>
          </p:nvSpPr>
          <p:spPr>
            <a:xfrm>
              <a:off x="6296025" y="2855357"/>
              <a:ext cx="600075" cy="612815"/>
            </a:xfrm>
            <a:prstGeom prst="flowChartConnector">
              <a:avLst/>
            </a:prstGeom>
            <a:grp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I"/>
            </a:p>
          </p:txBody>
        </p:sp>
        <p:sp>
          <p:nvSpPr>
            <p:cNvPr id="19" name="Organigramme : Connecteur 18">
              <a:extLst>
                <a:ext uri="{FF2B5EF4-FFF2-40B4-BE49-F238E27FC236}">
                  <a16:creationId xmlns:a16="http://schemas.microsoft.com/office/drawing/2014/main" id="{1F9424D9-0F80-1647-C86A-FB07A54A1DCC}"/>
                </a:ext>
              </a:extLst>
            </p:cNvPr>
            <p:cNvSpPr/>
            <p:nvPr/>
          </p:nvSpPr>
          <p:spPr>
            <a:xfrm>
              <a:off x="6403180" y="2964924"/>
              <a:ext cx="385763" cy="393680"/>
            </a:xfrm>
            <a:prstGeom prst="flowChartConnector">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I"/>
            </a:p>
          </p:txBody>
        </p:sp>
      </p:grpSp>
      <p:grpSp>
        <p:nvGrpSpPr>
          <p:cNvPr id="20" name="Groupe 19">
            <a:extLst>
              <a:ext uri="{FF2B5EF4-FFF2-40B4-BE49-F238E27FC236}">
                <a16:creationId xmlns:a16="http://schemas.microsoft.com/office/drawing/2014/main" id="{99622343-5F04-D705-944F-92703F8722A5}"/>
              </a:ext>
            </a:extLst>
          </p:cNvPr>
          <p:cNvGrpSpPr/>
          <p:nvPr/>
        </p:nvGrpSpPr>
        <p:grpSpPr>
          <a:xfrm>
            <a:off x="3765580" y="4174225"/>
            <a:ext cx="209520" cy="219719"/>
            <a:chOff x="6296025" y="2855357"/>
            <a:chExt cx="600075" cy="612815"/>
          </a:xfrm>
          <a:solidFill>
            <a:schemeClr val="bg1"/>
          </a:solidFill>
        </p:grpSpPr>
        <p:sp>
          <p:nvSpPr>
            <p:cNvPr id="23" name="Organigramme : Connecteur 22">
              <a:extLst>
                <a:ext uri="{FF2B5EF4-FFF2-40B4-BE49-F238E27FC236}">
                  <a16:creationId xmlns:a16="http://schemas.microsoft.com/office/drawing/2014/main" id="{B4BAB01F-A702-EF45-12EB-7DEEFCF96BA6}"/>
                </a:ext>
              </a:extLst>
            </p:cNvPr>
            <p:cNvSpPr/>
            <p:nvPr/>
          </p:nvSpPr>
          <p:spPr>
            <a:xfrm>
              <a:off x="6296025" y="2855357"/>
              <a:ext cx="600075" cy="612815"/>
            </a:xfrm>
            <a:prstGeom prst="flowChartConnector">
              <a:avLst/>
            </a:prstGeom>
            <a:grp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I"/>
            </a:p>
          </p:txBody>
        </p:sp>
        <p:sp>
          <p:nvSpPr>
            <p:cNvPr id="24" name="Organigramme : Connecteur 23">
              <a:extLst>
                <a:ext uri="{FF2B5EF4-FFF2-40B4-BE49-F238E27FC236}">
                  <a16:creationId xmlns:a16="http://schemas.microsoft.com/office/drawing/2014/main" id="{602D8DFC-B0D1-95F6-E5C0-CBB7A89EF486}"/>
                </a:ext>
              </a:extLst>
            </p:cNvPr>
            <p:cNvSpPr/>
            <p:nvPr/>
          </p:nvSpPr>
          <p:spPr>
            <a:xfrm>
              <a:off x="6403180" y="2964924"/>
              <a:ext cx="385763" cy="393680"/>
            </a:xfrm>
            <a:prstGeom prst="flowChartConnector">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I"/>
            </a:p>
          </p:txBody>
        </p:sp>
      </p:grpSp>
      <p:grpSp>
        <p:nvGrpSpPr>
          <p:cNvPr id="25" name="Groupe 24">
            <a:extLst>
              <a:ext uri="{FF2B5EF4-FFF2-40B4-BE49-F238E27FC236}">
                <a16:creationId xmlns:a16="http://schemas.microsoft.com/office/drawing/2014/main" id="{E7569525-23B0-C8F0-F0CC-DE30CBE4F0CD}"/>
              </a:ext>
            </a:extLst>
          </p:cNvPr>
          <p:cNvGrpSpPr/>
          <p:nvPr/>
        </p:nvGrpSpPr>
        <p:grpSpPr>
          <a:xfrm>
            <a:off x="8210580" y="4174225"/>
            <a:ext cx="209520" cy="219719"/>
            <a:chOff x="6296025" y="2855357"/>
            <a:chExt cx="600075" cy="612815"/>
          </a:xfrm>
          <a:solidFill>
            <a:schemeClr val="bg1"/>
          </a:solidFill>
        </p:grpSpPr>
        <p:sp>
          <p:nvSpPr>
            <p:cNvPr id="26" name="Organigramme : Connecteur 25">
              <a:extLst>
                <a:ext uri="{FF2B5EF4-FFF2-40B4-BE49-F238E27FC236}">
                  <a16:creationId xmlns:a16="http://schemas.microsoft.com/office/drawing/2014/main" id="{FA30AF2D-9831-25D9-0CD7-C2E778F50799}"/>
                </a:ext>
              </a:extLst>
            </p:cNvPr>
            <p:cNvSpPr/>
            <p:nvPr/>
          </p:nvSpPr>
          <p:spPr>
            <a:xfrm>
              <a:off x="6296025" y="2855357"/>
              <a:ext cx="600075" cy="612815"/>
            </a:xfrm>
            <a:prstGeom prst="flowChartConnector">
              <a:avLst/>
            </a:prstGeom>
            <a:grp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I"/>
            </a:p>
          </p:txBody>
        </p:sp>
        <p:sp>
          <p:nvSpPr>
            <p:cNvPr id="27" name="Organigramme : Connecteur 26">
              <a:extLst>
                <a:ext uri="{FF2B5EF4-FFF2-40B4-BE49-F238E27FC236}">
                  <a16:creationId xmlns:a16="http://schemas.microsoft.com/office/drawing/2014/main" id="{558FD1BF-2141-2357-78E2-28CD961DDFEC}"/>
                </a:ext>
              </a:extLst>
            </p:cNvPr>
            <p:cNvSpPr/>
            <p:nvPr/>
          </p:nvSpPr>
          <p:spPr>
            <a:xfrm>
              <a:off x="6403180" y="2964924"/>
              <a:ext cx="385763" cy="393680"/>
            </a:xfrm>
            <a:prstGeom prst="flowChartConnector">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I"/>
            </a:p>
          </p:txBody>
        </p:sp>
      </p:grpSp>
      <p:grpSp>
        <p:nvGrpSpPr>
          <p:cNvPr id="29" name="Groupe 28">
            <a:extLst>
              <a:ext uri="{FF2B5EF4-FFF2-40B4-BE49-F238E27FC236}">
                <a16:creationId xmlns:a16="http://schemas.microsoft.com/office/drawing/2014/main" id="{8FB1BB02-A37A-08A8-6DAF-B7ED7F95F9B3}"/>
              </a:ext>
            </a:extLst>
          </p:cNvPr>
          <p:cNvGrpSpPr/>
          <p:nvPr/>
        </p:nvGrpSpPr>
        <p:grpSpPr>
          <a:xfrm>
            <a:off x="10451136" y="4174225"/>
            <a:ext cx="209520" cy="219719"/>
            <a:chOff x="6296025" y="2855357"/>
            <a:chExt cx="600075" cy="612815"/>
          </a:xfrm>
          <a:solidFill>
            <a:schemeClr val="bg1"/>
          </a:solidFill>
        </p:grpSpPr>
        <p:sp>
          <p:nvSpPr>
            <p:cNvPr id="30" name="Organigramme : Connecteur 29">
              <a:extLst>
                <a:ext uri="{FF2B5EF4-FFF2-40B4-BE49-F238E27FC236}">
                  <a16:creationId xmlns:a16="http://schemas.microsoft.com/office/drawing/2014/main" id="{F4FED470-459B-EE63-2E37-F08906D6C171}"/>
                </a:ext>
              </a:extLst>
            </p:cNvPr>
            <p:cNvSpPr/>
            <p:nvPr/>
          </p:nvSpPr>
          <p:spPr>
            <a:xfrm>
              <a:off x="6296025" y="2855357"/>
              <a:ext cx="600075" cy="612815"/>
            </a:xfrm>
            <a:prstGeom prst="flowChartConnector">
              <a:avLst/>
            </a:prstGeom>
            <a:grp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I"/>
            </a:p>
          </p:txBody>
        </p:sp>
        <p:sp>
          <p:nvSpPr>
            <p:cNvPr id="31" name="Organigramme : Connecteur 30">
              <a:extLst>
                <a:ext uri="{FF2B5EF4-FFF2-40B4-BE49-F238E27FC236}">
                  <a16:creationId xmlns:a16="http://schemas.microsoft.com/office/drawing/2014/main" id="{3014691E-E0C6-F049-E747-523355EFF663}"/>
                </a:ext>
              </a:extLst>
            </p:cNvPr>
            <p:cNvSpPr/>
            <p:nvPr/>
          </p:nvSpPr>
          <p:spPr>
            <a:xfrm>
              <a:off x="6403180" y="2964924"/>
              <a:ext cx="385763" cy="393680"/>
            </a:xfrm>
            <a:prstGeom prst="flowChartConnector">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I"/>
            </a:p>
          </p:txBody>
        </p:sp>
      </p:grpSp>
      <p:grpSp>
        <p:nvGrpSpPr>
          <p:cNvPr id="32" name="Groupe 31">
            <a:extLst>
              <a:ext uri="{FF2B5EF4-FFF2-40B4-BE49-F238E27FC236}">
                <a16:creationId xmlns:a16="http://schemas.microsoft.com/office/drawing/2014/main" id="{5B903B04-E899-CACB-8F69-CB3A73F9F375}"/>
              </a:ext>
            </a:extLst>
          </p:cNvPr>
          <p:cNvGrpSpPr/>
          <p:nvPr/>
        </p:nvGrpSpPr>
        <p:grpSpPr>
          <a:xfrm>
            <a:off x="1190915" y="4809994"/>
            <a:ext cx="1002497" cy="997548"/>
            <a:chOff x="6263169" y="2855357"/>
            <a:chExt cx="600075" cy="612815"/>
          </a:xfrm>
        </p:grpSpPr>
        <p:sp>
          <p:nvSpPr>
            <p:cNvPr id="33" name="Organigramme : Connecteur 32">
              <a:extLst>
                <a:ext uri="{FF2B5EF4-FFF2-40B4-BE49-F238E27FC236}">
                  <a16:creationId xmlns:a16="http://schemas.microsoft.com/office/drawing/2014/main" id="{FC479355-0840-0454-76BC-40A2F41EEE0E}"/>
                </a:ext>
              </a:extLst>
            </p:cNvPr>
            <p:cNvSpPr/>
            <p:nvPr/>
          </p:nvSpPr>
          <p:spPr>
            <a:xfrm>
              <a:off x="6263169" y="2855357"/>
              <a:ext cx="600075" cy="612815"/>
            </a:xfrm>
            <a:prstGeom prst="flowChartConnector">
              <a:avLst/>
            </a:prstGeom>
            <a:solidFill>
              <a:schemeClr val="bg1"/>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I"/>
            </a:p>
          </p:txBody>
        </p:sp>
        <p:sp>
          <p:nvSpPr>
            <p:cNvPr id="34" name="Organigramme : Connecteur 33">
              <a:extLst>
                <a:ext uri="{FF2B5EF4-FFF2-40B4-BE49-F238E27FC236}">
                  <a16:creationId xmlns:a16="http://schemas.microsoft.com/office/drawing/2014/main" id="{E2911801-D1D5-0CF1-1DD0-6AF52AEB7343}"/>
                </a:ext>
              </a:extLst>
            </p:cNvPr>
            <p:cNvSpPr/>
            <p:nvPr/>
          </p:nvSpPr>
          <p:spPr>
            <a:xfrm>
              <a:off x="6370324" y="2964924"/>
              <a:ext cx="385763" cy="393680"/>
            </a:xfrm>
            <a:prstGeom prst="flowChartConnector">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I" dirty="0"/>
            </a:p>
          </p:txBody>
        </p:sp>
      </p:grpSp>
      <p:pic>
        <p:nvPicPr>
          <p:cNvPr id="1031" name="Graphic 1031" descr="Contexte"/>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463561" y="5080168"/>
            <a:ext cx="457200" cy="457200"/>
          </a:xfrm>
          <a:prstGeom prst="rect">
            <a:avLst/>
          </a:prstGeom>
        </p:spPr>
      </p:pic>
      <p:grpSp>
        <p:nvGrpSpPr>
          <p:cNvPr id="35" name="Groupe 34">
            <a:extLst>
              <a:ext uri="{FF2B5EF4-FFF2-40B4-BE49-F238E27FC236}">
                <a16:creationId xmlns:a16="http://schemas.microsoft.com/office/drawing/2014/main" id="{A0643B4A-258E-169D-7C74-5120074417B6}"/>
              </a:ext>
            </a:extLst>
          </p:cNvPr>
          <p:cNvGrpSpPr/>
          <p:nvPr/>
        </p:nvGrpSpPr>
        <p:grpSpPr>
          <a:xfrm>
            <a:off x="3370522" y="4809994"/>
            <a:ext cx="1077485" cy="997548"/>
            <a:chOff x="6296025" y="2855357"/>
            <a:chExt cx="600075" cy="612815"/>
          </a:xfrm>
        </p:grpSpPr>
        <p:sp>
          <p:nvSpPr>
            <p:cNvPr id="36" name="Organigramme : Connecteur 35">
              <a:extLst>
                <a:ext uri="{FF2B5EF4-FFF2-40B4-BE49-F238E27FC236}">
                  <a16:creationId xmlns:a16="http://schemas.microsoft.com/office/drawing/2014/main" id="{EF6128FE-C9AE-B583-6F0B-1DEF50F98808}"/>
                </a:ext>
              </a:extLst>
            </p:cNvPr>
            <p:cNvSpPr/>
            <p:nvPr/>
          </p:nvSpPr>
          <p:spPr>
            <a:xfrm>
              <a:off x="6296025" y="2855357"/>
              <a:ext cx="600075" cy="612815"/>
            </a:xfrm>
            <a:prstGeom prst="flowChartConnector">
              <a:avLst/>
            </a:prstGeom>
            <a:solidFill>
              <a:schemeClr val="bg1"/>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I"/>
            </a:p>
          </p:txBody>
        </p:sp>
        <p:sp>
          <p:nvSpPr>
            <p:cNvPr id="37" name="Organigramme : Connecteur 36">
              <a:extLst>
                <a:ext uri="{FF2B5EF4-FFF2-40B4-BE49-F238E27FC236}">
                  <a16:creationId xmlns:a16="http://schemas.microsoft.com/office/drawing/2014/main" id="{B49EF2A8-44A0-47E2-A0AC-B1043F3A2EE7}"/>
                </a:ext>
              </a:extLst>
            </p:cNvPr>
            <p:cNvSpPr/>
            <p:nvPr/>
          </p:nvSpPr>
          <p:spPr>
            <a:xfrm>
              <a:off x="6403180" y="2964924"/>
              <a:ext cx="385763" cy="393680"/>
            </a:xfrm>
            <a:prstGeom prst="flowChartConnector">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I" dirty="0"/>
            </a:p>
          </p:txBody>
        </p:sp>
      </p:grpSp>
      <p:pic>
        <p:nvPicPr>
          <p:cNvPr id="1032" name="Graphic 1032" descr="Objectifs"/>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93987" y="5080168"/>
            <a:ext cx="457200" cy="457200"/>
          </a:xfrm>
          <a:prstGeom prst="rect">
            <a:avLst/>
          </a:prstGeom>
        </p:spPr>
      </p:pic>
      <p:grpSp>
        <p:nvGrpSpPr>
          <p:cNvPr id="39" name="Groupe 38">
            <a:extLst>
              <a:ext uri="{FF2B5EF4-FFF2-40B4-BE49-F238E27FC236}">
                <a16:creationId xmlns:a16="http://schemas.microsoft.com/office/drawing/2014/main" id="{8EE9454A-CBA5-95F7-EBD2-B768D454D9D7}"/>
              </a:ext>
            </a:extLst>
          </p:cNvPr>
          <p:cNvGrpSpPr/>
          <p:nvPr/>
        </p:nvGrpSpPr>
        <p:grpSpPr>
          <a:xfrm>
            <a:off x="5525086" y="4809994"/>
            <a:ext cx="1077485" cy="997548"/>
            <a:chOff x="6296025" y="2855357"/>
            <a:chExt cx="600075" cy="612815"/>
          </a:xfrm>
        </p:grpSpPr>
        <p:sp>
          <p:nvSpPr>
            <p:cNvPr id="40" name="Organigramme : Connecteur 39">
              <a:extLst>
                <a:ext uri="{FF2B5EF4-FFF2-40B4-BE49-F238E27FC236}">
                  <a16:creationId xmlns:a16="http://schemas.microsoft.com/office/drawing/2014/main" id="{64AFC52E-A658-B7B2-6943-FB77E4453749}"/>
                </a:ext>
              </a:extLst>
            </p:cNvPr>
            <p:cNvSpPr/>
            <p:nvPr/>
          </p:nvSpPr>
          <p:spPr>
            <a:xfrm>
              <a:off x="6296025" y="2855357"/>
              <a:ext cx="600075" cy="612815"/>
            </a:xfrm>
            <a:prstGeom prst="flowChartConnector">
              <a:avLst/>
            </a:prstGeom>
            <a:solidFill>
              <a:schemeClr val="bg1"/>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I"/>
            </a:p>
          </p:txBody>
        </p:sp>
        <p:sp>
          <p:nvSpPr>
            <p:cNvPr id="41" name="Organigramme : Connecteur 40">
              <a:extLst>
                <a:ext uri="{FF2B5EF4-FFF2-40B4-BE49-F238E27FC236}">
                  <a16:creationId xmlns:a16="http://schemas.microsoft.com/office/drawing/2014/main" id="{A2041C5D-5471-9F25-256B-CBECD5010711}"/>
                </a:ext>
              </a:extLst>
            </p:cNvPr>
            <p:cNvSpPr/>
            <p:nvPr/>
          </p:nvSpPr>
          <p:spPr>
            <a:xfrm>
              <a:off x="6386752" y="2964924"/>
              <a:ext cx="385763" cy="393680"/>
            </a:xfrm>
            <a:prstGeom prst="flowChartConnector">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I" dirty="0"/>
            </a:p>
          </p:txBody>
        </p:sp>
      </p:grpSp>
      <p:pic>
        <p:nvPicPr>
          <p:cNvPr id="1033" name="Graphic 1033" descr="Données"/>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817047" y="5080168"/>
            <a:ext cx="457200" cy="457200"/>
          </a:xfrm>
          <a:prstGeom prst="rect">
            <a:avLst/>
          </a:prstGeom>
        </p:spPr>
      </p:pic>
      <p:grpSp>
        <p:nvGrpSpPr>
          <p:cNvPr id="42" name="Groupe 41">
            <a:extLst>
              <a:ext uri="{FF2B5EF4-FFF2-40B4-BE49-F238E27FC236}">
                <a16:creationId xmlns:a16="http://schemas.microsoft.com/office/drawing/2014/main" id="{5799FBE8-24EA-4E4E-EDE7-83C2987A466C}"/>
              </a:ext>
            </a:extLst>
          </p:cNvPr>
          <p:cNvGrpSpPr/>
          <p:nvPr/>
        </p:nvGrpSpPr>
        <p:grpSpPr>
          <a:xfrm>
            <a:off x="7755502" y="4809994"/>
            <a:ext cx="1077485" cy="997548"/>
            <a:chOff x="6296025" y="2855357"/>
            <a:chExt cx="600075" cy="612815"/>
          </a:xfrm>
        </p:grpSpPr>
        <p:sp>
          <p:nvSpPr>
            <p:cNvPr id="43" name="Organigramme : Connecteur 42">
              <a:extLst>
                <a:ext uri="{FF2B5EF4-FFF2-40B4-BE49-F238E27FC236}">
                  <a16:creationId xmlns:a16="http://schemas.microsoft.com/office/drawing/2014/main" id="{600F48A0-59D4-0B59-5DE9-D1BF8C442A50}"/>
                </a:ext>
              </a:extLst>
            </p:cNvPr>
            <p:cNvSpPr/>
            <p:nvPr/>
          </p:nvSpPr>
          <p:spPr>
            <a:xfrm>
              <a:off x="6296025" y="2855357"/>
              <a:ext cx="600075" cy="612815"/>
            </a:xfrm>
            <a:prstGeom prst="flowChartConnector">
              <a:avLst/>
            </a:prstGeom>
            <a:solidFill>
              <a:schemeClr val="bg1"/>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I"/>
            </a:p>
          </p:txBody>
        </p:sp>
        <p:sp>
          <p:nvSpPr>
            <p:cNvPr id="46" name="Organigramme : Connecteur 45">
              <a:extLst>
                <a:ext uri="{FF2B5EF4-FFF2-40B4-BE49-F238E27FC236}">
                  <a16:creationId xmlns:a16="http://schemas.microsoft.com/office/drawing/2014/main" id="{D190EAE1-D5CA-7486-CF5D-70F39E58E147}"/>
                </a:ext>
              </a:extLst>
            </p:cNvPr>
            <p:cNvSpPr/>
            <p:nvPr/>
          </p:nvSpPr>
          <p:spPr>
            <a:xfrm>
              <a:off x="6403180" y="2964924"/>
              <a:ext cx="385763" cy="393680"/>
            </a:xfrm>
            <a:prstGeom prst="flowChartConnector">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I" dirty="0"/>
            </a:p>
          </p:txBody>
        </p:sp>
      </p:grpSp>
      <p:pic>
        <p:nvPicPr>
          <p:cNvPr id="1034" name="Graphic 1034" descr="Modélisation"/>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089823" y="5080168"/>
            <a:ext cx="457200" cy="457200"/>
          </a:xfrm>
          <a:prstGeom prst="rect">
            <a:avLst/>
          </a:prstGeom>
        </p:spPr>
      </p:pic>
      <p:grpSp>
        <p:nvGrpSpPr>
          <p:cNvPr id="55" name="Groupe 54">
            <a:extLst>
              <a:ext uri="{FF2B5EF4-FFF2-40B4-BE49-F238E27FC236}">
                <a16:creationId xmlns:a16="http://schemas.microsoft.com/office/drawing/2014/main" id="{754BA66B-74A7-C0A8-B0C9-238ED891C9FA}"/>
              </a:ext>
            </a:extLst>
          </p:cNvPr>
          <p:cNvGrpSpPr/>
          <p:nvPr/>
        </p:nvGrpSpPr>
        <p:grpSpPr>
          <a:xfrm>
            <a:off x="9985918" y="4809994"/>
            <a:ext cx="1077485" cy="997548"/>
            <a:chOff x="6296025" y="2855357"/>
            <a:chExt cx="600075" cy="612815"/>
          </a:xfrm>
        </p:grpSpPr>
        <p:sp>
          <p:nvSpPr>
            <p:cNvPr id="56" name="Organigramme : Connecteur 55">
              <a:extLst>
                <a:ext uri="{FF2B5EF4-FFF2-40B4-BE49-F238E27FC236}">
                  <a16:creationId xmlns:a16="http://schemas.microsoft.com/office/drawing/2014/main" id="{397B1653-287F-5194-DC80-EEA9171A0E3D}"/>
                </a:ext>
              </a:extLst>
            </p:cNvPr>
            <p:cNvSpPr/>
            <p:nvPr/>
          </p:nvSpPr>
          <p:spPr>
            <a:xfrm>
              <a:off x="6296025" y="2855357"/>
              <a:ext cx="600075" cy="612815"/>
            </a:xfrm>
            <a:prstGeom prst="flowChartConnector">
              <a:avLst/>
            </a:prstGeom>
            <a:solidFill>
              <a:schemeClr val="bg1"/>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I"/>
            </a:p>
          </p:txBody>
        </p:sp>
        <p:sp>
          <p:nvSpPr>
            <p:cNvPr id="61" name="Organigramme : Connecteur 60">
              <a:extLst>
                <a:ext uri="{FF2B5EF4-FFF2-40B4-BE49-F238E27FC236}">
                  <a16:creationId xmlns:a16="http://schemas.microsoft.com/office/drawing/2014/main" id="{8E1E2A26-AA1F-A03A-6E89-454D13B0174F}"/>
                </a:ext>
              </a:extLst>
            </p:cNvPr>
            <p:cNvSpPr/>
            <p:nvPr/>
          </p:nvSpPr>
          <p:spPr>
            <a:xfrm>
              <a:off x="6412281" y="2953301"/>
              <a:ext cx="385763" cy="393680"/>
            </a:xfrm>
            <a:prstGeom prst="flowChartConnector">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I" dirty="0"/>
            </a:p>
          </p:txBody>
        </p:sp>
      </p:grpSp>
      <p:pic>
        <p:nvPicPr>
          <p:cNvPr id="1035" name="Graphic 1035" descr="Perspectives"/>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312400" y="5061246"/>
            <a:ext cx="457200" cy="457200"/>
          </a:xfrm>
          <a:prstGeom prst="rect">
            <a:avLst/>
          </a:prstGeom>
        </p:spPr>
      </p:pic>
    </p:spTree>
    <p:extLst>
      <p:ext uri="{BB962C8B-B14F-4D97-AF65-F5344CB8AC3E}">
        <p14:creationId xmlns:p14="http://schemas.microsoft.com/office/powerpoint/2010/main" val="24368086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7E14F9-02E4-7BCD-C432-B90B6388EA1C}"/>
            </a:ext>
          </a:extLst>
        </p:cNvPr>
        <p:cNvGrpSpPr/>
        <p:nvPr/>
      </p:nvGrpSpPr>
      <p:grpSpPr>
        <a:xfrm>
          <a:off x="0" y="0"/>
          <a:ext cx="0" cy="0"/>
          <a:chOff x="0" y="0"/>
          <a:chExt cx="0" cy="0"/>
        </a:xfrm>
      </p:grpSpPr>
      <p:sp>
        <p:nvSpPr>
          <p:cNvPr id="18" name="Larme 17">
            <a:extLst>
              <a:ext uri="{FF2B5EF4-FFF2-40B4-BE49-F238E27FC236}">
                <a16:creationId xmlns:a16="http://schemas.microsoft.com/office/drawing/2014/main" id="{04275B37-4EEA-B01B-C7DE-0F2E9901837C}"/>
              </a:ext>
            </a:extLst>
          </p:cNvPr>
          <p:cNvSpPr/>
          <p:nvPr/>
        </p:nvSpPr>
        <p:spPr>
          <a:xfrm>
            <a:off x="7010400" y="0"/>
            <a:ext cx="5181600" cy="5478308"/>
          </a:xfrm>
          <a:prstGeom prst="teardrop">
            <a:avLst/>
          </a:prstGeom>
          <a:solidFill>
            <a:srgbClr val="E5EA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Text 1">
            <a:extLst>
              <a:ext uri="{FF2B5EF4-FFF2-40B4-BE49-F238E27FC236}">
                <a16:creationId xmlns:a16="http://schemas.microsoft.com/office/drawing/2014/main" id="{50BE561A-1A88-8129-5D24-56DCDF46E86D}"/>
              </a:ext>
            </a:extLst>
          </p:cNvPr>
          <p:cNvSpPr/>
          <p:nvPr/>
        </p:nvSpPr>
        <p:spPr>
          <a:xfrm>
            <a:off x="609600" y="2438400"/>
            <a:ext cx="10972800" cy="609600"/>
          </a:xfrm>
          <a:prstGeom prst="rect">
            <a:avLst/>
          </a:prstGeom>
          <a:noFill/>
          <a:ln/>
        </p:spPr>
        <p:txBody>
          <a:bodyPr wrap="square" rtlCol="0" anchor="ctr"/>
          <a:lstStyle/>
          <a:p>
            <a:pPr algn="ctr" defTabSz="1219170"/>
            <a:r>
              <a:rPr lang="en-US" sz="1867" b="1" kern="0" spc="533" dirty="0">
                <a:solidFill>
                  <a:srgbClr val="7C8BA8"/>
                </a:solidFill>
                <a:latin typeface="Calibri" panose="020F0502020204030204"/>
              </a:rPr>
              <a:t>PARTIE 01</a:t>
            </a:r>
            <a:endParaRPr lang="en-US" sz="1867" b="1" dirty="0">
              <a:solidFill>
                <a:prstClr val="black"/>
              </a:solidFill>
              <a:latin typeface="Calibri" panose="020F0502020204030204"/>
            </a:endParaRPr>
          </a:p>
        </p:txBody>
      </p:sp>
      <p:sp>
        <p:nvSpPr>
          <p:cNvPr id="4" name="Text 2">
            <a:extLst>
              <a:ext uri="{FF2B5EF4-FFF2-40B4-BE49-F238E27FC236}">
                <a16:creationId xmlns:a16="http://schemas.microsoft.com/office/drawing/2014/main" id="{7ABA0F41-2942-E1F0-E67C-3E75602DBB3C}"/>
              </a:ext>
            </a:extLst>
          </p:cNvPr>
          <p:cNvSpPr/>
          <p:nvPr/>
        </p:nvSpPr>
        <p:spPr>
          <a:xfrm>
            <a:off x="609600" y="3048000"/>
            <a:ext cx="10972800" cy="1219200"/>
          </a:xfrm>
          <a:prstGeom prst="rect">
            <a:avLst/>
          </a:prstGeom>
          <a:noFill/>
          <a:ln/>
        </p:spPr>
        <p:txBody>
          <a:bodyPr wrap="square" rtlCol="0" anchor="ctr"/>
          <a:lstStyle/>
          <a:p>
            <a:pPr algn="ctr" defTabSz="1219170"/>
            <a:r>
              <a:rPr lang="en-US" sz="4267" b="1" dirty="0">
                <a:solidFill>
                  <a:srgbClr val="002060"/>
                </a:solidFill>
                <a:latin typeface="Calibri" panose="020F0502020204030204"/>
              </a:rPr>
              <a:t>STRUCTURE D'ACCUEIL</a:t>
            </a:r>
            <a:r>
              <a:rPr lang="en-US" sz="4267" b="1" dirty="0">
                <a:solidFill>
                  <a:srgbClr val="002060"/>
                </a:solidFill>
              </a:rPr>
              <a:t> &amp; CONTEXTE</a:t>
            </a:r>
            <a:endParaRPr lang="en-US" sz="4267" b="1" dirty="0">
              <a:solidFill>
                <a:srgbClr val="002060"/>
              </a:solidFill>
              <a:latin typeface="Calibri" panose="020F0502020204030204"/>
            </a:endParaRPr>
          </a:p>
        </p:txBody>
      </p:sp>
      <p:sp>
        <p:nvSpPr>
          <p:cNvPr id="5" name="Shape 3">
            <a:extLst>
              <a:ext uri="{FF2B5EF4-FFF2-40B4-BE49-F238E27FC236}">
                <a16:creationId xmlns:a16="http://schemas.microsoft.com/office/drawing/2014/main" id="{7950A28C-4761-0AC6-9898-A59BC0E2035E}"/>
              </a:ext>
            </a:extLst>
          </p:cNvPr>
          <p:cNvSpPr/>
          <p:nvPr/>
        </p:nvSpPr>
        <p:spPr>
          <a:xfrm>
            <a:off x="5181600" y="4511040"/>
            <a:ext cx="1828800" cy="48768"/>
          </a:xfrm>
          <a:prstGeom prst="rect">
            <a:avLst/>
          </a:prstGeom>
          <a:solidFill>
            <a:srgbClr val="F59E0B"/>
          </a:solidFill>
          <a:ln w="12700">
            <a:solidFill>
              <a:srgbClr val="F59E0B"/>
            </a:solidFill>
            <a:prstDash val="solid"/>
          </a:ln>
        </p:spPr>
        <p:txBody>
          <a:bodyPr/>
          <a:lstStyle/>
          <a:p>
            <a:endParaRPr lang="fr-FR"/>
          </a:p>
        </p:txBody>
      </p:sp>
      <p:grpSp>
        <p:nvGrpSpPr>
          <p:cNvPr id="17" name="Groupe 16">
            <a:extLst>
              <a:ext uri="{FF2B5EF4-FFF2-40B4-BE49-F238E27FC236}">
                <a16:creationId xmlns:a16="http://schemas.microsoft.com/office/drawing/2014/main" id="{F2E9AE8B-A1D6-919E-D2C4-E2430BD9753E}"/>
              </a:ext>
            </a:extLst>
          </p:cNvPr>
          <p:cNvGrpSpPr/>
          <p:nvPr/>
        </p:nvGrpSpPr>
        <p:grpSpPr>
          <a:xfrm>
            <a:off x="5594752" y="1197012"/>
            <a:ext cx="1002497" cy="997548"/>
            <a:chOff x="5594751" y="1197012"/>
            <a:chExt cx="1002497" cy="997548"/>
          </a:xfrm>
        </p:grpSpPr>
        <p:grpSp>
          <p:nvGrpSpPr>
            <p:cNvPr id="13" name="Groupe 12">
              <a:extLst>
                <a:ext uri="{FF2B5EF4-FFF2-40B4-BE49-F238E27FC236}">
                  <a16:creationId xmlns:a16="http://schemas.microsoft.com/office/drawing/2014/main" id="{80203C77-FA29-F066-B79B-EB23AB40C290}"/>
                </a:ext>
              </a:extLst>
            </p:cNvPr>
            <p:cNvGrpSpPr/>
            <p:nvPr/>
          </p:nvGrpSpPr>
          <p:grpSpPr>
            <a:xfrm>
              <a:off x="5594751" y="1197012"/>
              <a:ext cx="1002497" cy="997548"/>
              <a:chOff x="6263169" y="2855357"/>
              <a:chExt cx="600075" cy="612815"/>
            </a:xfrm>
          </p:grpSpPr>
          <p:sp>
            <p:nvSpPr>
              <p:cNvPr id="14" name="Organigramme : Connecteur 13">
                <a:extLst>
                  <a:ext uri="{FF2B5EF4-FFF2-40B4-BE49-F238E27FC236}">
                    <a16:creationId xmlns:a16="http://schemas.microsoft.com/office/drawing/2014/main" id="{365CB6E1-94A4-E69E-C7EB-84DFCEBED578}"/>
                  </a:ext>
                </a:extLst>
              </p:cNvPr>
              <p:cNvSpPr/>
              <p:nvPr/>
            </p:nvSpPr>
            <p:spPr>
              <a:xfrm>
                <a:off x="6263169" y="2855357"/>
                <a:ext cx="600075" cy="612815"/>
              </a:xfrm>
              <a:prstGeom prst="flowChartConnector">
                <a:avLst/>
              </a:prstGeom>
              <a:solidFill>
                <a:schemeClr val="bg1"/>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I"/>
              </a:p>
            </p:txBody>
          </p:sp>
          <p:sp>
            <p:nvSpPr>
              <p:cNvPr id="15" name="Organigramme : Connecteur 14">
                <a:extLst>
                  <a:ext uri="{FF2B5EF4-FFF2-40B4-BE49-F238E27FC236}">
                    <a16:creationId xmlns:a16="http://schemas.microsoft.com/office/drawing/2014/main" id="{4801896C-7BC0-5C1F-36F7-0FF9ED60F00B}"/>
                  </a:ext>
                </a:extLst>
              </p:cNvPr>
              <p:cNvSpPr/>
              <p:nvPr/>
            </p:nvSpPr>
            <p:spPr>
              <a:xfrm>
                <a:off x="6370324" y="2964924"/>
                <a:ext cx="385763" cy="393680"/>
              </a:xfrm>
              <a:prstGeom prst="flowChartConnector">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I" dirty="0"/>
              </a:p>
            </p:txBody>
          </p:sp>
        </p:grpSp>
        <p:pic>
          <p:nvPicPr>
            <p:cNvPr id="16" name="Graphic 1031" descr="Contexte">
              <a:extLst>
                <a:ext uri="{FF2B5EF4-FFF2-40B4-BE49-F238E27FC236}">
                  <a16:creationId xmlns:a16="http://schemas.microsoft.com/office/drawing/2014/main" id="{D49B49C6-FE64-B0A1-483D-803557CB3FD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867397" y="1467186"/>
              <a:ext cx="457200" cy="457200"/>
            </a:xfrm>
            <a:prstGeom prst="rect">
              <a:avLst/>
            </a:prstGeom>
          </p:spPr>
        </p:pic>
      </p:grpSp>
    </p:spTree>
    <p:extLst>
      <p:ext uri="{BB962C8B-B14F-4D97-AF65-F5344CB8AC3E}">
        <p14:creationId xmlns:p14="http://schemas.microsoft.com/office/powerpoint/2010/main" val="36216634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2B3ADD-1D61-1DD4-5AAD-903E378EA534}"/>
            </a:ext>
          </a:extLst>
        </p:cNvPr>
        <p:cNvGrpSpPr/>
        <p:nvPr/>
      </p:nvGrpSpPr>
      <p:grpSpPr>
        <a:xfrm>
          <a:off x="0" y="0"/>
          <a:ext cx="0" cy="0"/>
          <a:chOff x="0" y="0"/>
          <a:chExt cx="0" cy="0"/>
        </a:xfrm>
      </p:grpSpPr>
      <p:sp>
        <p:nvSpPr>
          <p:cNvPr id="21" name="Rectangle : coins arrondis 20">
            <a:extLst>
              <a:ext uri="{FF2B5EF4-FFF2-40B4-BE49-F238E27FC236}">
                <a16:creationId xmlns:a16="http://schemas.microsoft.com/office/drawing/2014/main" id="{962F626F-ADBB-D5EB-FB36-83D7A0DCEA9C}"/>
              </a:ext>
            </a:extLst>
          </p:cNvPr>
          <p:cNvSpPr/>
          <p:nvPr/>
        </p:nvSpPr>
        <p:spPr>
          <a:xfrm>
            <a:off x="616943" y="2019868"/>
            <a:ext cx="11079187" cy="830997"/>
          </a:xfrm>
          <a:prstGeom prst="round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I"/>
          </a:p>
        </p:txBody>
      </p:sp>
      <p:sp>
        <p:nvSpPr>
          <p:cNvPr id="5" name="Title 1">
            <a:extLst>
              <a:ext uri="{FF2B5EF4-FFF2-40B4-BE49-F238E27FC236}">
                <a16:creationId xmlns:a16="http://schemas.microsoft.com/office/drawing/2014/main" id="{942AE145-CBE4-D1E0-11D1-866F20D64922}"/>
              </a:ext>
            </a:extLst>
          </p:cNvPr>
          <p:cNvSpPr txBox="1">
            <a:spLocks/>
          </p:cNvSpPr>
          <p:nvPr/>
        </p:nvSpPr>
        <p:spPr>
          <a:xfrm>
            <a:off x="1866563" y="635000"/>
            <a:ext cx="8458874" cy="1016000"/>
          </a:xfrm>
          <a:prstGeom prst="rect">
            <a:avLst/>
          </a:prstGeom>
          <a:ln w="19050">
            <a:noFill/>
          </a:ln>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n-lt"/>
                <a:ea typeface="+mj-ea"/>
                <a:cs typeface="+mj-cs"/>
              </a:defRPr>
            </a:lvl1pPr>
          </a:lstStyle>
          <a:p>
            <a:pPr algn="ctr"/>
            <a:r>
              <a:rPr lang="fr-CI" sz="3600" b="1" dirty="0">
                <a:solidFill>
                  <a:srgbClr val="002060"/>
                </a:solidFill>
                <a:latin typeface="+mn-lt" panose="02020603050405020304" pitchFamily="18" charset="0"/>
                <a:cs typeface="+mn-cs" panose="02020603050405020304" pitchFamily="18" charset="0"/>
              </a:rPr>
              <a:t>Le Groupe Africa Link Capital (Groupe ALC)</a:t>
            </a:r>
          </a:p>
        </p:txBody>
      </p:sp>
      <p:sp>
        <p:nvSpPr>
          <p:cNvPr id="11" name="Rectangle : coins arrondis 10">
            <a:extLst>
              <a:ext uri="{FF2B5EF4-FFF2-40B4-BE49-F238E27FC236}">
                <a16:creationId xmlns:a16="http://schemas.microsoft.com/office/drawing/2014/main" id="{8D6395DD-1EB4-6171-5535-186F3330A72D}"/>
              </a:ext>
            </a:extLst>
          </p:cNvPr>
          <p:cNvSpPr/>
          <p:nvPr/>
        </p:nvSpPr>
        <p:spPr>
          <a:xfrm>
            <a:off x="817451" y="2155587"/>
            <a:ext cx="2232621" cy="559558"/>
          </a:xfrm>
          <a:prstGeom prst="round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I" sz="2000" b="1">
              <a:latin typeface="+mn-lt" panose="02020603050405020304" pitchFamily="18" charset="0"/>
              <a:cs typeface="+mn-cs" panose="02020603050405020304" pitchFamily="18" charset="0"/>
            </a:endParaRPr>
          </a:p>
        </p:txBody>
      </p:sp>
      <p:sp>
        <p:nvSpPr>
          <p:cNvPr id="24" name="ZoneTexte 23">
            <a:extLst>
              <a:ext uri="{FF2B5EF4-FFF2-40B4-BE49-F238E27FC236}">
                <a16:creationId xmlns:a16="http://schemas.microsoft.com/office/drawing/2014/main" id="{7A1F36D3-0C6C-CF3F-6816-8BE67F68B800}"/>
              </a:ext>
            </a:extLst>
          </p:cNvPr>
          <p:cNvSpPr txBox="1"/>
          <p:nvPr/>
        </p:nvSpPr>
        <p:spPr>
          <a:xfrm>
            <a:off x="1110677" y="2228909"/>
            <a:ext cx="1646171" cy="401321"/>
          </a:xfrm>
          <a:prstGeom prst="rect">
            <a:avLst/>
          </a:prstGeom>
          <a:noFill/>
        </p:spPr>
        <p:txBody>
          <a:bodyPr wrap="square" rtlCol="0">
            <a:spAutoFit/>
          </a:bodyPr>
          <a:lstStyle/>
          <a:p>
            <a:pPr algn="ctr"/>
            <a:r>
              <a:rPr lang="fr-CI" b="1" dirty="0">
                <a:solidFill>
                  <a:schemeClr val="bg1"/>
                </a:solidFill>
                <a:latin typeface="+mn-lt" panose="02020603050405020304" pitchFamily="18" charset="0"/>
                <a:cs typeface="+mn-cs" panose="02020603050405020304" pitchFamily="18" charset="0"/>
              </a:rPr>
              <a:t>Présentation</a:t>
            </a:r>
          </a:p>
          <a:p>
            <a:pPr algn="ctr"/>
            <a:endParaRPr lang="fr-CI" dirty="0">
              <a:solidFill>
                <a:schemeClr val="bg1"/>
              </a:solidFill>
            </a:endParaRPr>
          </a:p>
        </p:txBody>
      </p:sp>
      <p:pic>
        <p:nvPicPr>
          <p:cNvPr id="1026" name="Picture 2" descr="réunion d'affaires et brainstorming, concept d'entreprise pour le travail d'équipe,  recherche de nouvelles solutions, les petites personnes sont assises sur  des ampoules à la recherche d'idées illustration de design plat moderne  7117420">
            <a:extLst>
              <a:ext uri="{FF2B5EF4-FFF2-40B4-BE49-F238E27FC236}">
                <a16:creationId xmlns:a16="http://schemas.microsoft.com/office/drawing/2014/main" id="{DD34DED7-3BFA-7B27-A185-714E710DC4FD}"/>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19582" y="2931004"/>
            <a:ext cx="5438811" cy="3397645"/>
          </a:xfrm>
          <a:prstGeom prst="rect">
            <a:avLst/>
          </a:prstGeom>
          <a:noFill/>
          <a:extLst>
            <a:ext uri="{909E8E84-426E-40DD-AFC4-6F175D3DCCD1}">
              <a14:hiddenFill xmlns:a14="http://schemas.microsoft.com/office/drawing/2010/main">
                <a:solidFill>
                  <a:srgbClr val="FFFFFF"/>
                </a:solidFill>
              </a14:hiddenFill>
            </a:ext>
          </a:extLst>
        </p:spPr>
      </p:pic>
      <p:sp>
        <p:nvSpPr>
          <p:cNvPr id="33" name="ZoneTexte 32">
            <a:extLst>
              <a:ext uri="{FF2B5EF4-FFF2-40B4-BE49-F238E27FC236}">
                <a16:creationId xmlns:a16="http://schemas.microsoft.com/office/drawing/2014/main" id="{A0B7BBBB-2E5A-ECDE-448A-49416D0B5E17}"/>
              </a:ext>
            </a:extLst>
          </p:cNvPr>
          <p:cNvSpPr txBox="1"/>
          <p:nvPr/>
        </p:nvSpPr>
        <p:spPr>
          <a:xfrm>
            <a:off x="5102352" y="3263443"/>
            <a:ext cx="6593778" cy="2062103"/>
          </a:xfrm>
          <a:prstGeom prst="rect">
            <a:avLst/>
          </a:prstGeom>
          <a:noFill/>
        </p:spPr>
        <p:txBody>
          <a:bodyPr wrap="square" anchor="ctr" anchorCtr="0">
            <a:spAutoFit/>
          </a:bodyPr>
          <a:lstStyle/>
          <a:p>
            <a:pPr marL="265113" indent="-265113" algn="just">
              <a:spcBef>
                <a:spcPts val="600"/>
              </a:spcBef>
              <a:spcAft>
                <a:spcPts val="600"/>
              </a:spcAft>
              <a:buFont typeface="Arial" panose="020B0604020202020204" pitchFamily="34" charset="0"/>
              <a:buChar char="•"/>
            </a:pPr>
            <a:r>
              <a:rPr lang="fr-CI" b="1" dirty="0">
                <a:solidFill>
                  <a:srgbClr val="002060"/>
                </a:solidFill>
                <a:latin typeface="+mn-lt" panose="02020603050405020304" pitchFamily="18" charset="0"/>
                <a:cs typeface="+mn-cs" panose="02020603050405020304" pitchFamily="18" charset="0"/>
              </a:rPr>
              <a:t>Opérant depuis 2006, le Groupe ALC est spécialisé dans les métiers d'Investment Banking et de Titrisation (Structuration et gestion de Fonds Communs de Titrisation de Créances « FCTC »).</a:t>
            </a:r>
            <a:endParaRPr lang="fr-CI" sz="1000" dirty="0"/>
          </a:p>
          <a:p>
            <a:pPr marL="265113" indent="-265113">
              <a:spcBef>
                <a:spcPts val="600"/>
              </a:spcBef>
              <a:spcAft>
                <a:spcPts val="600"/>
              </a:spcAft>
              <a:buFont typeface="Arial"/>
              <a:buChar char="•"/>
            </a:pPr>
            <a:r>
              <a:rPr lang="fr-CI" b="1" dirty="0">
                <a:solidFill>
                  <a:srgbClr val="002060"/>
                </a:solidFill>
                <a:latin typeface="+mn-lt" panose="02020603050405020304" pitchFamily="18" charset="0"/>
                <a:cs typeface="+mn-cs" panose="02020603050405020304" pitchFamily="18" charset="0"/>
              </a:rPr>
              <a:t>Pionnière en UEMOA : 1</a:t>
            </a:r>
            <a:r>
              <a:rPr lang="fr-CI" b="1" baseline="30000" dirty="0">
                <a:solidFill>
                  <a:srgbClr val="002060"/>
                </a:solidFill>
                <a:latin typeface="+mn-lt" panose="02020603050405020304" pitchFamily="18" charset="0"/>
                <a:cs typeface="+mn-cs" panose="02020603050405020304" pitchFamily="18" charset="0"/>
              </a:rPr>
              <a:t>re</a:t>
            </a:r>
            <a:r>
              <a:rPr lang="fr-CI" b="1" dirty="0">
                <a:solidFill>
                  <a:srgbClr val="002060"/>
                </a:solidFill>
                <a:latin typeface="+mn-lt" panose="02020603050405020304" pitchFamily="18" charset="0"/>
                <a:cs typeface="+mn-cs" panose="02020603050405020304" pitchFamily="18" charset="0"/>
              </a:rPr>
              <a:t> société privée de gestion de FCTC agréée par l’AMF-UMOA</a:t>
            </a:r>
          </a:p>
          <a:p>
            <a:pPr marL="265113" indent="-265113">
              <a:spcBef>
                <a:spcPts val="600"/>
              </a:spcBef>
              <a:spcAft>
                <a:spcPts val="600"/>
              </a:spcAft>
              <a:buFont typeface="Arial"/>
              <a:buChar char="•"/>
            </a:pPr>
            <a:r>
              <a:rPr lang="fr-CI" b="1" dirty="0">
                <a:solidFill>
                  <a:srgbClr val="002060"/>
                </a:solidFill>
                <a:latin typeface="+mn-lt" panose="02020603050405020304" pitchFamily="18" charset="0"/>
                <a:cs typeface="+mn-cs" panose="02020603050405020304" pitchFamily="18" charset="0"/>
              </a:rPr>
              <a:t>~</a:t>
            </a:r>
            <a:r>
              <a:rPr lang="fr-CI" b="1" dirty="0">
                <a:solidFill>
                  <a:srgbClr val="002060"/>
                </a:solidFill>
                <a:highlight>
                  <a:srgbClr val="FFFF00"/>
                </a:highlight>
                <a:latin typeface="+mn-lt" panose="02020603050405020304" pitchFamily="18" charset="0"/>
                <a:cs typeface="+mn-cs" panose="02020603050405020304" pitchFamily="18" charset="0"/>
              </a:rPr>
              <a:t>30</a:t>
            </a:r>
            <a:r>
              <a:rPr lang="fr-CI" b="1" dirty="0">
                <a:solidFill>
                  <a:srgbClr val="002060"/>
                </a:solidFill>
                <a:latin typeface="+mn-lt" panose="02020603050405020304" pitchFamily="18" charset="0"/>
                <a:cs typeface="+mn-cs" panose="02020603050405020304" pitchFamily="18" charset="0"/>
              </a:rPr>
              <a:t> collaborateurs</a:t>
            </a:r>
          </a:p>
        </p:txBody>
      </p:sp>
      <p:sp>
        <p:nvSpPr>
          <p:cNvPr id="2" name="ZoneTexte 1">
            <a:extLst>
              <a:ext uri="{FF2B5EF4-FFF2-40B4-BE49-F238E27FC236}">
                <a16:creationId xmlns:a16="http://schemas.microsoft.com/office/drawing/2014/main" id="{036B65A7-D108-5066-293A-3C0D5CA706F0}"/>
              </a:ext>
            </a:extLst>
          </p:cNvPr>
          <p:cNvSpPr txBox="1"/>
          <p:nvPr/>
        </p:nvSpPr>
        <p:spPr>
          <a:xfrm>
            <a:off x="61747" y="40933"/>
            <a:ext cx="5767553" cy="369332"/>
          </a:xfrm>
          <a:prstGeom prst="rect">
            <a:avLst/>
          </a:prstGeom>
          <a:noFill/>
          <a:effectLst>
            <a:reflection stA="63000" endPos="11000" dist="50800" dir="5400000" sy="-100000" algn="bl" rotWithShape="0"/>
          </a:effectLst>
        </p:spPr>
        <p:txBody>
          <a:bodyPr wrap="square" rtlCol="0">
            <a:spAutoFit/>
          </a:bodyPr>
          <a:lstStyle/>
          <a:p>
            <a:r>
              <a:rPr lang="fr-CI" b="1" dirty="0">
                <a:solidFill>
                  <a:schemeClr val="accent1">
                    <a:lumMod val="50000"/>
                  </a:schemeClr>
                </a:solidFill>
                <a:latin typeface="+mn-lt" panose="020E0705020206020404" pitchFamily="34" charset="0"/>
              </a:rPr>
              <a:t>Partie 1 : Structure d’accueil &amp; Contexte</a:t>
            </a:r>
          </a:p>
        </p:txBody>
      </p:sp>
      <p:grpSp>
        <p:nvGrpSpPr>
          <p:cNvPr id="12" name="Groupe 11">
            <a:extLst>
              <a:ext uri="{FF2B5EF4-FFF2-40B4-BE49-F238E27FC236}">
                <a16:creationId xmlns:a16="http://schemas.microsoft.com/office/drawing/2014/main" id="{1D3D2A3B-060C-CC55-FFE6-87474EE7F1D8}"/>
              </a:ext>
            </a:extLst>
          </p:cNvPr>
          <p:cNvGrpSpPr/>
          <p:nvPr/>
        </p:nvGrpSpPr>
        <p:grpSpPr>
          <a:xfrm>
            <a:off x="11127756" y="40933"/>
            <a:ext cx="1002497" cy="997548"/>
            <a:chOff x="5594751" y="1197012"/>
            <a:chExt cx="1002497" cy="997548"/>
          </a:xfrm>
        </p:grpSpPr>
        <p:grpSp>
          <p:nvGrpSpPr>
            <p:cNvPr id="13" name="Groupe 12">
              <a:extLst>
                <a:ext uri="{FF2B5EF4-FFF2-40B4-BE49-F238E27FC236}">
                  <a16:creationId xmlns:a16="http://schemas.microsoft.com/office/drawing/2014/main" id="{44D4BD73-71F2-C1E3-0B07-BE3A14810CC8}"/>
                </a:ext>
              </a:extLst>
            </p:cNvPr>
            <p:cNvGrpSpPr/>
            <p:nvPr/>
          </p:nvGrpSpPr>
          <p:grpSpPr>
            <a:xfrm>
              <a:off x="5594751" y="1197012"/>
              <a:ext cx="1002497" cy="997548"/>
              <a:chOff x="6263169" y="2855357"/>
              <a:chExt cx="600075" cy="612815"/>
            </a:xfrm>
          </p:grpSpPr>
          <p:sp>
            <p:nvSpPr>
              <p:cNvPr id="15" name="Organigramme : Connecteur 14">
                <a:extLst>
                  <a:ext uri="{FF2B5EF4-FFF2-40B4-BE49-F238E27FC236}">
                    <a16:creationId xmlns:a16="http://schemas.microsoft.com/office/drawing/2014/main" id="{C1C22155-FD54-1E86-F1FD-AA9873196C14}"/>
                  </a:ext>
                </a:extLst>
              </p:cNvPr>
              <p:cNvSpPr/>
              <p:nvPr/>
            </p:nvSpPr>
            <p:spPr>
              <a:xfrm>
                <a:off x="6263169" y="2855357"/>
                <a:ext cx="600075" cy="612815"/>
              </a:xfrm>
              <a:prstGeom prst="flowChartConnector">
                <a:avLst/>
              </a:prstGeom>
              <a:solidFill>
                <a:schemeClr val="bg1"/>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I"/>
              </a:p>
            </p:txBody>
          </p:sp>
          <p:sp>
            <p:nvSpPr>
              <p:cNvPr id="16" name="Organigramme : Connecteur 15">
                <a:extLst>
                  <a:ext uri="{FF2B5EF4-FFF2-40B4-BE49-F238E27FC236}">
                    <a16:creationId xmlns:a16="http://schemas.microsoft.com/office/drawing/2014/main" id="{61473441-E07E-DFE0-3BC7-F5282EF86C43}"/>
                  </a:ext>
                </a:extLst>
              </p:cNvPr>
              <p:cNvSpPr/>
              <p:nvPr/>
            </p:nvSpPr>
            <p:spPr>
              <a:xfrm>
                <a:off x="6370324" y="2964924"/>
                <a:ext cx="385763" cy="393680"/>
              </a:xfrm>
              <a:prstGeom prst="flowChartConnector">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I" dirty="0"/>
              </a:p>
            </p:txBody>
          </p:sp>
        </p:grpSp>
        <p:pic>
          <p:nvPicPr>
            <p:cNvPr id="14" name="Graphic 1031" descr="Contexte">
              <a:extLst>
                <a:ext uri="{FF2B5EF4-FFF2-40B4-BE49-F238E27FC236}">
                  <a16:creationId xmlns:a16="http://schemas.microsoft.com/office/drawing/2014/main" id="{2B9CCF88-9CAF-3170-9380-B8876ABEFFA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867397" y="1467186"/>
              <a:ext cx="457200" cy="457200"/>
            </a:xfrm>
            <a:prstGeom prst="rect">
              <a:avLst/>
            </a:prstGeom>
          </p:spPr>
        </p:pic>
      </p:grpSp>
    </p:spTree>
    <p:extLst>
      <p:ext uri="{BB962C8B-B14F-4D97-AF65-F5344CB8AC3E}">
        <p14:creationId xmlns:p14="http://schemas.microsoft.com/office/powerpoint/2010/main" val="31498517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AE1E09-578E-C278-69FF-1916FCEA5616}"/>
            </a:ext>
          </a:extLst>
        </p:cNvPr>
        <p:cNvGrpSpPr/>
        <p:nvPr/>
      </p:nvGrpSpPr>
      <p:grpSpPr>
        <a:xfrm>
          <a:off x="0" y="0"/>
          <a:ext cx="0" cy="0"/>
          <a:chOff x="0" y="0"/>
          <a:chExt cx="0" cy="0"/>
        </a:xfrm>
      </p:grpSpPr>
      <p:sp>
        <p:nvSpPr>
          <p:cNvPr id="21" name="Rectangle : coins arrondis 20">
            <a:extLst>
              <a:ext uri="{FF2B5EF4-FFF2-40B4-BE49-F238E27FC236}">
                <a16:creationId xmlns:a16="http://schemas.microsoft.com/office/drawing/2014/main" id="{C8EED4EC-03A6-EC32-625C-96BCA82F8B8A}"/>
              </a:ext>
            </a:extLst>
          </p:cNvPr>
          <p:cNvSpPr/>
          <p:nvPr/>
        </p:nvSpPr>
        <p:spPr>
          <a:xfrm>
            <a:off x="616943" y="2019868"/>
            <a:ext cx="11079187" cy="830997"/>
          </a:xfrm>
          <a:prstGeom prst="round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I"/>
          </a:p>
        </p:txBody>
      </p:sp>
      <p:sp>
        <p:nvSpPr>
          <p:cNvPr id="5" name="Title 1">
            <a:extLst>
              <a:ext uri="{FF2B5EF4-FFF2-40B4-BE49-F238E27FC236}">
                <a16:creationId xmlns:a16="http://schemas.microsoft.com/office/drawing/2014/main" id="{F425C74C-59EC-58C4-4385-19AD5F11FC45}"/>
              </a:ext>
            </a:extLst>
          </p:cNvPr>
          <p:cNvSpPr txBox="1">
            <a:spLocks/>
          </p:cNvSpPr>
          <p:nvPr/>
        </p:nvSpPr>
        <p:spPr>
          <a:xfrm>
            <a:off x="1954191" y="635000"/>
            <a:ext cx="8283618" cy="1016000"/>
          </a:xfrm>
          <a:prstGeom prst="rect">
            <a:avLst/>
          </a:prstGeom>
          <a:ln w="19050">
            <a:noFill/>
          </a:ln>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n-lt"/>
                <a:ea typeface="+mj-ea"/>
                <a:cs typeface="+mj-cs"/>
              </a:defRPr>
            </a:lvl1pPr>
          </a:lstStyle>
          <a:p>
            <a:r>
              <a:rPr lang="fr-CI" sz="3600" b="1" dirty="0">
                <a:solidFill>
                  <a:srgbClr val="002060"/>
                </a:solidFill>
              </a:rPr>
              <a:t>Le Groupe Africa Link Capital (Groupe ALC)</a:t>
            </a:r>
          </a:p>
        </p:txBody>
      </p:sp>
      <p:sp>
        <p:nvSpPr>
          <p:cNvPr id="12" name="Rectangle : coins arrondis 11">
            <a:extLst>
              <a:ext uri="{FF2B5EF4-FFF2-40B4-BE49-F238E27FC236}">
                <a16:creationId xmlns:a16="http://schemas.microsoft.com/office/drawing/2014/main" id="{2868C39D-7E1E-4A0C-3F81-26A56597587C}"/>
              </a:ext>
            </a:extLst>
          </p:cNvPr>
          <p:cNvSpPr/>
          <p:nvPr/>
        </p:nvSpPr>
        <p:spPr>
          <a:xfrm>
            <a:off x="3586555" y="2172269"/>
            <a:ext cx="2232621" cy="559558"/>
          </a:xfrm>
          <a:prstGeom prst="round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I" sz="2000" b="1">
              <a:latin typeface="+mn-lt" panose="02020603050405020304" pitchFamily="18" charset="0"/>
              <a:cs typeface="+mn-cs" panose="02020603050405020304" pitchFamily="18" charset="0"/>
            </a:endParaRPr>
          </a:p>
        </p:txBody>
      </p:sp>
      <p:sp>
        <p:nvSpPr>
          <p:cNvPr id="26" name="ZoneTexte 25">
            <a:extLst>
              <a:ext uri="{FF2B5EF4-FFF2-40B4-BE49-F238E27FC236}">
                <a16:creationId xmlns:a16="http://schemas.microsoft.com/office/drawing/2014/main" id="{00BFFC90-3FD2-5766-6CEC-38A3B9646068}"/>
              </a:ext>
            </a:extLst>
          </p:cNvPr>
          <p:cNvSpPr txBox="1"/>
          <p:nvPr/>
        </p:nvSpPr>
        <p:spPr>
          <a:xfrm>
            <a:off x="3876817" y="2254523"/>
            <a:ext cx="1646171" cy="369332"/>
          </a:xfrm>
          <a:prstGeom prst="rect">
            <a:avLst/>
          </a:prstGeom>
          <a:noFill/>
        </p:spPr>
        <p:txBody>
          <a:bodyPr wrap="square" rtlCol="0">
            <a:spAutoFit/>
          </a:bodyPr>
          <a:lstStyle/>
          <a:p>
            <a:pPr algn="ctr"/>
            <a:r>
              <a:rPr lang="fr-CI" b="1" dirty="0">
                <a:solidFill>
                  <a:schemeClr val="bg1"/>
                </a:solidFill>
                <a:latin typeface="+mn-lt" panose="02020603050405020304" pitchFamily="18" charset="0"/>
                <a:cs typeface="+mn-cs" panose="02020603050405020304" pitchFamily="18" charset="0"/>
              </a:rPr>
              <a:t>Structure</a:t>
            </a:r>
          </a:p>
        </p:txBody>
      </p:sp>
      <p:sp>
        <p:nvSpPr>
          <p:cNvPr id="29" name="ZoneTexte 28">
            <a:extLst>
              <a:ext uri="{FF2B5EF4-FFF2-40B4-BE49-F238E27FC236}">
                <a16:creationId xmlns:a16="http://schemas.microsoft.com/office/drawing/2014/main" id="{4E354867-F2E2-B2A3-41E9-EA9023D749F2}"/>
              </a:ext>
            </a:extLst>
          </p:cNvPr>
          <p:cNvSpPr txBox="1"/>
          <p:nvPr/>
        </p:nvSpPr>
        <p:spPr>
          <a:xfrm>
            <a:off x="5890635" y="3260603"/>
            <a:ext cx="5966968" cy="2762551"/>
          </a:xfrm>
          <a:prstGeom prst="rect">
            <a:avLst/>
          </a:prstGeom>
          <a:noFill/>
        </p:spPr>
        <p:txBody>
          <a:bodyPr wrap="square" anchor="t" anchorCtr="0">
            <a:spAutoFit/>
          </a:bodyPr>
          <a:lstStyle/>
          <a:p>
            <a:pPr algn="l"/>
            <a:r>
              <a:rPr lang="fr-CI" sz="1600" dirty="0">
                <a:solidFill>
                  <a:srgbClr val="002060"/>
                </a:solidFill>
                <a:latin typeface="+mn-lt" panose="02020603050405020304" pitchFamily="18" charset="0"/>
                <a:cs typeface="+mn-cs" panose="02020603050405020304" pitchFamily="18" charset="0"/>
              </a:rPr>
              <a:t>Le Groupe ALC s'organise autour de quatre pôles d'activité :</a:t>
            </a:r>
          </a:p>
          <a:p>
            <a:pPr algn="l"/>
            <a:endParaRPr lang="fr-CI" sz="1600" dirty="0">
              <a:solidFill>
                <a:srgbClr val="002060"/>
              </a:solidFill>
              <a:latin typeface="+mn-lt" panose="02020603050405020304" pitchFamily="18" charset="0"/>
              <a:cs typeface="+mn-cs" panose="02020603050405020304" pitchFamily="18" charset="0"/>
            </a:endParaRPr>
          </a:p>
          <a:p>
            <a:pPr marL="228600" indent="-228600">
              <a:lnSpc>
                <a:spcPct val="150000"/>
              </a:lnSpc>
              <a:buFont typeface="Arial"/>
              <a:buChar char="•"/>
            </a:pPr>
            <a:r>
              <a:rPr lang="fr-CI" sz="1600" b="1" dirty="0">
                <a:solidFill>
                  <a:srgbClr val="002060"/>
                </a:solidFill>
              </a:rPr>
              <a:t>ALC : </a:t>
            </a:r>
            <a:r>
              <a:rPr lang="fr-FR" sz="1600" dirty="0">
                <a:solidFill>
                  <a:prstClr val="black"/>
                </a:solidFill>
                <a:latin typeface="Calibri" panose="020F0502020204030204" pitchFamily="34" charset="0"/>
                <a:ea typeface="Calibri" panose="020F0502020204030204" pitchFamily="34" charset="0"/>
                <a:cs typeface="Calibri" panose="020F0502020204030204" pitchFamily="34" charset="0"/>
                <a:sym typeface="Wingdings" pitchFamily="2" charset="2"/>
              </a:rPr>
              <a:t>Activité de Conseil Financier et Arrangeur (Banque d’affaires)</a:t>
            </a:r>
          </a:p>
          <a:p>
            <a:pPr marL="228600" indent="-228600">
              <a:lnSpc>
                <a:spcPct val="150000"/>
              </a:lnSpc>
              <a:buFont typeface="Arial"/>
              <a:buChar char="•"/>
            </a:pPr>
            <a:r>
              <a:rPr lang="fr-CI" sz="1600" b="1" dirty="0">
                <a:solidFill>
                  <a:srgbClr val="002060"/>
                </a:solidFill>
              </a:rPr>
              <a:t>ALC Structuration : </a:t>
            </a:r>
            <a:r>
              <a:rPr lang="fr-FR" sz="1600" dirty="0">
                <a:solidFill>
                  <a:prstClr val="black"/>
                </a:solidFill>
                <a:latin typeface="Calibri" panose="020F0502020204030204" pitchFamily="34" charset="0"/>
                <a:ea typeface="Calibri" panose="020F0502020204030204" pitchFamily="34" charset="0"/>
                <a:cs typeface="Calibri" panose="020F0502020204030204" pitchFamily="34" charset="0"/>
                <a:sym typeface="Wingdings" pitchFamily="2" charset="2"/>
              </a:rPr>
              <a:t> Société d’Origination et d’Arrangement d’opérations de titrisation</a:t>
            </a:r>
            <a:endParaRPr lang="fr-CI" sz="1600" dirty="0">
              <a:solidFill>
                <a:srgbClr val="002060"/>
              </a:solidFill>
              <a:latin typeface="+mn-lt" panose="02020603050405020304" pitchFamily="18" charset="0"/>
              <a:cs typeface="+mn-cs" panose="02020603050405020304" pitchFamily="18" charset="0"/>
            </a:endParaRPr>
          </a:p>
          <a:p>
            <a:pPr marL="228600" indent="-228600">
              <a:lnSpc>
                <a:spcPct val="150000"/>
              </a:lnSpc>
              <a:buFont typeface="Arial"/>
              <a:buChar char="•"/>
            </a:pPr>
            <a:r>
              <a:rPr lang="fr-CI" sz="1600" b="1" dirty="0">
                <a:solidFill>
                  <a:srgbClr val="002060"/>
                </a:solidFill>
                <a:latin typeface="+mn-lt" panose="02020603050405020304" pitchFamily="18" charset="0"/>
                <a:cs typeface="+mn-cs" panose="02020603050405020304" pitchFamily="18" charset="0"/>
              </a:rPr>
              <a:t>ALC Titrisation : </a:t>
            </a:r>
            <a:r>
              <a:rPr lang="fr-FR" sz="1600" dirty="0">
                <a:solidFill>
                  <a:prstClr val="black"/>
                </a:solidFill>
                <a:latin typeface="Calibri" panose="020F0502020204030204" pitchFamily="34" charset="0"/>
                <a:ea typeface="Calibri" panose="020F0502020204030204" pitchFamily="34" charset="0"/>
                <a:cs typeface="Calibri" panose="020F0502020204030204" pitchFamily="34" charset="0"/>
                <a:sym typeface="Wingdings" pitchFamily="2" charset="2"/>
              </a:rPr>
              <a:t>Société de Gestion de FCTC (Fonds communs de titrisation de créances)</a:t>
            </a:r>
          </a:p>
          <a:p>
            <a:pPr marL="228600" indent="-228600">
              <a:lnSpc>
                <a:spcPct val="150000"/>
              </a:lnSpc>
              <a:buFont typeface="Arial"/>
              <a:buChar char="•"/>
            </a:pPr>
            <a:r>
              <a:rPr lang="fr-FR" sz="1600" b="1" dirty="0">
                <a:solidFill>
                  <a:srgbClr val="002060"/>
                </a:solidFill>
                <a:latin typeface="+mn-lt" panose="02020603050405020304" pitchFamily="18" charset="0"/>
                <a:cs typeface="+mn-cs" panose="02020603050405020304" pitchFamily="18" charset="0"/>
              </a:rPr>
              <a:t>ALC Microfinance : </a:t>
            </a:r>
            <a:r>
              <a:rPr lang="fr-FR" sz="1600" dirty="0">
                <a:latin typeface="+mn-lt" panose="02020603050405020304" pitchFamily="18" charset="0"/>
                <a:cs typeface="+mn-cs" panose="02020603050405020304" pitchFamily="18" charset="0"/>
              </a:rPr>
              <a:t>Activité de services financiers adaptés aux PME</a:t>
            </a:r>
          </a:p>
        </p:txBody>
      </p:sp>
      <p:grpSp>
        <p:nvGrpSpPr>
          <p:cNvPr id="22" name="Groupe 21">
            <a:extLst>
              <a:ext uri="{FF2B5EF4-FFF2-40B4-BE49-F238E27FC236}">
                <a16:creationId xmlns:a16="http://schemas.microsoft.com/office/drawing/2014/main" id="{E00D0869-4CD8-A738-A471-7846F0B47BAD}"/>
              </a:ext>
            </a:extLst>
          </p:cNvPr>
          <p:cNvGrpSpPr/>
          <p:nvPr/>
        </p:nvGrpSpPr>
        <p:grpSpPr>
          <a:xfrm>
            <a:off x="207779" y="3666010"/>
            <a:ext cx="5611397" cy="2266600"/>
            <a:chOff x="512971" y="4167657"/>
            <a:chExt cx="5611397" cy="2266600"/>
          </a:xfrm>
        </p:grpSpPr>
        <p:sp>
          <p:nvSpPr>
            <p:cNvPr id="24" name="Rectangle 23">
              <a:extLst>
                <a:ext uri="{FF2B5EF4-FFF2-40B4-BE49-F238E27FC236}">
                  <a16:creationId xmlns:a16="http://schemas.microsoft.com/office/drawing/2014/main" id="{D9F56B2D-EE56-7EAB-FDA8-B9C132FF4A40}"/>
                </a:ext>
              </a:extLst>
            </p:cNvPr>
            <p:cNvSpPr/>
            <p:nvPr>
              <p:custDataLst>
                <p:tags r:id="rId1"/>
              </p:custDataLst>
            </p:nvPr>
          </p:nvSpPr>
          <p:spPr>
            <a:xfrm>
              <a:off x="512971" y="5239300"/>
              <a:ext cx="1872577" cy="1194957"/>
            </a:xfrm>
            <a:prstGeom prst="rect">
              <a:avLst/>
            </a:prstGeom>
            <a:no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1050" b="1" noProof="0" dirty="0">
                  <a:solidFill>
                    <a:schemeClr val="tx1"/>
                  </a:solidFill>
                  <a:latin typeface="Calibri" panose="020F0502020204030204" pitchFamily="34" charset="0"/>
                  <a:ea typeface="Calibri" panose="020F0502020204030204" pitchFamily="34" charset="0"/>
                  <a:cs typeface="Calibri" panose="020F0502020204030204" pitchFamily="34" charset="0"/>
                </a:rPr>
                <a:t>Pôle Banque d’Affaires</a:t>
              </a:r>
            </a:p>
          </p:txBody>
        </p:sp>
        <p:grpSp>
          <p:nvGrpSpPr>
            <p:cNvPr id="25" name="Groupe 24">
              <a:extLst>
                <a:ext uri="{FF2B5EF4-FFF2-40B4-BE49-F238E27FC236}">
                  <a16:creationId xmlns:a16="http://schemas.microsoft.com/office/drawing/2014/main" id="{E0023319-AD42-4035-5691-E868475233E2}"/>
                </a:ext>
              </a:extLst>
            </p:cNvPr>
            <p:cNvGrpSpPr/>
            <p:nvPr>
              <p:custDataLst>
                <p:tags r:id="rId2"/>
              </p:custDataLst>
            </p:nvPr>
          </p:nvGrpSpPr>
          <p:grpSpPr>
            <a:xfrm>
              <a:off x="628624" y="4167657"/>
              <a:ext cx="5362502" cy="2266599"/>
              <a:chOff x="1039716" y="3667413"/>
              <a:chExt cx="5362502" cy="2266599"/>
            </a:xfrm>
          </p:grpSpPr>
          <p:sp>
            <p:nvSpPr>
              <p:cNvPr id="28" name="ZoneTexte 27">
                <a:extLst>
                  <a:ext uri="{FF2B5EF4-FFF2-40B4-BE49-F238E27FC236}">
                    <a16:creationId xmlns:a16="http://schemas.microsoft.com/office/drawing/2014/main" id="{3AB83FF9-228A-367F-3DF0-DE2D969F1B5D}"/>
                  </a:ext>
                </a:extLst>
              </p:cNvPr>
              <p:cNvSpPr txBox="1"/>
              <p:nvPr>
                <p:custDataLst>
                  <p:tags r:id="rId4"/>
                </p:custDataLst>
              </p:nvPr>
            </p:nvSpPr>
            <p:spPr>
              <a:xfrm>
                <a:off x="1593123" y="3667413"/>
                <a:ext cx="4037744" cy="307777"/>
              </a:xfrm>
              <a:prstGeom prst="rect">
                <a:avLst/>
              </a:prstGeom>
              <a:noFill/>
            </p:spPr>
            <p:txBody>
              <a:bodyPr wrap="square" rtlCol="0">
                <a:spAutoFit/>
              </a:bodyPr>
              <a:lstStyle/>
              <a:p>
                <a:pPr algn="ctr"/>
                <a:r>
                  <a:rPr lang="fr-FR" sz="1400" b="1" u="sng" noProof="0" dirty="0">
                    <a:latin typeface="Calibri" panose="020F0502020204030204" pitchFamily="34" charset="0"/>
                    <a:ea typeface="Calibri" panose="020F0502020204030204" pitchFamily="34" charset="0"/>
                    <a:cs typeface="Calibri" panose="020F0502020204030204" pitchFamily="34" charset="0"/>
                  </a:rPr>
                  <a:t>Organisation du Groupe Africa Link Capital</a:t>
                </a:r>
              </a:p>
            </p:txBody>
          </p:sp>
          <p:grpSp>
            <p:nvGrpSpPr>
              <p:cNvPr id="31" name="Groupe 30">
                <a:extLst>
                  <a:ext uri="{FF2B5EF4-FFF2-40B4-BE49-F238E27FC236}">
                    <a16:creationId xmlns:a16="http://schemas.microsoft.com/office/drawing/2014/main" id="{B14E654E-EC2A-70C9-F3B6-B8DE9F29384E}"/>
                  </a:ext>
                </a:extLst>
              </p:cNvPr>
              <p:cNvGrpSpPr/>
              <p:nvPr>
                <p:custDataLst>
                  <p:tags r:id="rId5"/>
                </p:custDataLst>
              </p:nvPr>
            </p:nvGrpSpPr>
            <p:grpSpPr>
              <a:xfrm>
                <a:off x="1039716" y="4073141"/>
                <a:ext cx="5362502" cy="1860871"/>
                <a:chOff x="1775969" y="2988094"/>
                <a:chExt cx="6945672" cy="2849741"/>
              </a:xfrm>
            </p:grpSpPr>
            <p:grpSp>
              <p:nvGrpSpPr>
                <p:cNvPr id="32" name="Groupe 31">
                  <a:extLst>
                    <a:ext uri="{FF2B5EF4-FFF2-40B4-BE49-F238E27FC236}">
                      <a16:creationId xmlns:a16="http://schemas.microsoft.com/office/drawing/2014/main" id="{1F4C0603-B45C-624B-D69D-1F1CC57946F3}"/>
                    </a:ext>
                  </a:extLst>
                </p:cNvPr>
                <p:cNvGrpSpPr/>
                <p:nvPr/>
              </p:nvGrpSpPr>
              <p:grpSpPr>
                <a:xfrm>
                  <a:off x="1775969" y="2988094"/>
                  <a:ext cx="6945672" cy="2849741"/>
                  <a:chOff x="1775969" y="2988094"/>
                  <a:chExt cx="6945672" cy="2849741"/>
                </a:xfrm>
              </p:grpSpPr>
              <p:sp>
                <p:nvSpPr>
                  <p:cNvPr id="36" name="Rectangle 35">
                    <a:extLst>
                      <a:ext uri="{FF2B5EF4-FFF2-40B4-BE49-F238E27FC236}">
                        <a16:creationId xmlns:a16="http://schemas.microsoft.com/office/drawing/2014/main" id="{06C76FB2-29CA-EBAD-825D-7128990BFCE8}"/>
                      </a:ext>
                    </a:extLst>
                  </p:cNvPr>
                  <p:cNvSpPr/>
                  <p:nvPr/>
                </p:nvSpPr>
                <p:spPr>
                  <a:xfrm>
                    <a:off x="4006993" y="4007876"/>
                    <a:ext cx="2425417" cy="1829959"/>
                  </a:xfrm>
                  <a:prstGeom prst="rect">
                    <a:avLst/>
                  </a:prstGeom>
                  <a:no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1050" b="1" noProof="0" dirty="0">
                        <a:solidFill>
                          <a:schemeClr val="tx1"/>
                        </a:solidFill>
                        <a:latin typeface="Calibri" panose="020F0502020204030204" pitchFamily="34" charset="0"/>
                        <a:ea typeface="Calibri" panose="020F0502020204030204" pitchFamily="34" charset="0"/>
                        <a:cs typeface="Calibri" panose="020F0502020204030204" pitchFamily="34" charset="0"/>
                      </a:rPr>
                      <a:t>Pôle Titrisation</a:t>
                    </a:r>
                  </a:p>
                </p:txBody>
              </p:sp>
              <p:sp>
                <p:nvSpPr>
                  <p:cNvPr id="37" name="Rectangle 36">
                    <a:extLst>
                      <a:ext uri="{FF2B5EF4-FFF2-40B4-BE49-F238E27FC236}">
                        <a16:creationId xmlns:a16="http://schemas.microsoft.com/office/drawing/2014/main" id="{2E07FED2-6368-5090-4AA5-57FE8B0B4A4C}"/>
                      </a:ext>
                    </a:extLst>
                  </p:cNvPr>
                  <p:cNvSpPr/>
                  <p:nvPr/>
                </p:nvSpPr>
                <p:spPr>
                  <a:xfrm>
                    <a:off x="4179571" y="2988094"/>
                    <a:ext cx="2080261" cy="603472"/>
                  </a:xfrm>
                  <a:prstGeom prst="rect">
                    <a:avLst/>
                  </a:prstGeom>
                  <a:solidFill>
                    <a:schemeClr val="bg2">
                      <a:lumMod val="50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b="1" noProof="0" dirty="0">
                        <a:latin typeface="Calibri" panose="020F0502020204030204" pitchFamily="34" charset="0"/>
                        <a:ea typeface="Calibri" panose="020F0502020204030204" pitchFamily="34" charset="0"/>
                        <a:cs typeface="Calibri" panose="020F0502020204030204" pitchFamily="34" charset="0"/>
                      </a:rPr>
                      <a:t>ALC Group</a:t>
                    </a:r>
                  </a:p>
                </p:txBody>
              </p:sp>
              <p:sp>
                <p:nvSpPr>
                  <p:cNvPr id="38" name="Rectangle 37">
                    <a:extLst>
                      <a:ext uri="{FF2B5EF4-FFF2-40B4-BE49-F238E27FC236}">
                        <a16:creationId xmlns:a16="http://schemas.microsoft.com/office/drawing/2014/main" id="{299B49E2-62A0-BEEF-18D6-D72C7D5D72F8}"/>
                      </a:ext>
                    </a:extLst>
                  </p:cNvPr>
                  <p:cNvSpPr/>
                  <p:nvPr/>
                </p:nvSpPr>
                <p:spPr>
                  <a:xfrm>
                    <a:off x="1775969" y="4534295"/>
                    <a:ext cx="2080261" cy="811530"/>
                  </a:xfrm>
                  <a:prstGeom prst="rect">
                    <a:avLst/>
                  </a:prstGeom>
                  <a:solidFill>
                    <a:srgbClr val="003056"/>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b="1" noProof="0" dirty="0">
                        <a:latin typeface="Calibri" panose="020F0502020204030204" pitchFamily="34" charset="0"/>
                        <a:ea typeface="Calibri" panose="020F0502020204030204" pitchFamily="34" charset="0"/>
                        <a:cs typeface="Calibri" panose="020F0502020204030204" pitchFamily="34" charset="0"/>
                      </a:rPr>
                      <a:t>Africa Link Capital</a:t>
                    </a:r>
                  </a:p>
                  <a:p>
                    <a:pPr algn="ctr"/>
                    <a:r>
                      <a:rPr lang="fr-FR" sz="1050" b="1" noProof="0" dirty="0">
                        <a:latin typeface="Calibri" panose="020F0502020204030204" pitchFamily="34" charset="0"/>
                        <a:ea typeface="Calibri" panose="020F0502020204030204" pitchFamily="34" charset="0"/>
                        <a:cs typeface="Calibri" panose="020F0502020204030204" pitchFamily="34" charset="0"/>
                      </a:rPr>
                      <a:t>(ALC)</a:t>
                    </a:r>
                    <a:endParaRPr lang="fr-FR" sz="1050" noProof="0" dirty="0">
                      <a:latin typeface="Calibri" panose="020F0502020204030204" pitchFamily="34" charset="0"/>
                      <a:ea typeface="Calibri" panose="020F0502020204030204" pitchFamily="34" charset="0"/>
                      <a:cs typeface="Calibri" panose="020F0502020204030204" pitchFamily="34" charset="0"/>
                    </a:endParaRPr>
                  </a:p>
                </p:txBody>
              </p:sp>
              <p:sp>
                <p:nvSpPr>
                  <p:cNvPr id="39" name="Rectangle 38">
                    <a:extLst>
                      <a:ext uri="{FF2B5EF4-FFF2-40B4-BE49-F238E27FC236}">
                        <a16:creationId xmlns:a16="http://schemas.microsoft.com/office/drawing/2014/main" id="{2EF08C5D-D53A-4970-456D-16765F02942C}"/>
                      </a:ext>
                    </a:extLst>
                  </p:cNvPr>
                  <p:cNvSpPr/>
                  <p:nvPr/>
                </p:nvSpPr>
                <p:spPr>
                  <a:xfrm>
                    <a:off x="4179572" y="4385774"/>
                    <a:ext cx="2080260" cy="554286"/>
                  </a:xfrm>
                  <a:prstGeom prst="rect">
                    <a:avLst/>
                  </a:prstGeom>
                  <a:solidFill>
                    <a:srgbClr val="003056"/>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b="1" noProof="0" dirty="0">
                        <a:latin typeface="Calibri" panose="020F0502020204030204" pitchFamily="34" charset="0"/>
                        <a:ea typeface="Calibri" panose="020F0502020204030204" pitchFamily="34" charset="0"/>
                        <a:cs typeface="Calibri" panose="020F0502020204030204" pitchFamily="34" charset="0"/>
                      </a:rPr>
                      <a:t>ALC Structuration</a:t>
                    </a:r>
                  </a:p>
                </p:txBody>
              </p:sp>
              <p:sp>
                <p:nvSpPr>
                  <p:cNvPr id="40" name="Rectangle 39">
                    <a:extLst>
                      <a:ext uri="{FF2B5EF4-FFF2-40B4-BE49-F238E27FC236}">
                        <a16:creationId xmlns:a16="http://schemas.microsoft.com/office/drawing/2014/main" id="{C2451993-4087-0C63-604C-16D84937247E}"/>
                      </a:ext>
                    </a:extLst>
                  </p:cNvPr>
                  <p:cNvSpPr/>
                  <p:nvPr/>
                </p:nvSpPr>
                <p:spPr>
                  <a:xfrm>
                    <a:off x="4179572" y="5064698"/>
                    <a:ext cx="2080260" cy="554286"/>
                  </a:xfrm>
                  <a:prstGeom prst="rect">
                    <a:avLst/>
                  </a:prstGeom>
                  <a:solidFill>
                    <a:srgbClr val="003056"/>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b="1" noProof="0" dirty="0">
                        <a:latin typeface="Calibri" panose="020F0502020204030204" pitchFamily="34" charset="0"/>
                        <a:ea typeface="Calibri" panose="020F0502020204030204" pitchFamily="34" charset="0"/>
                        <a:cs typeface="Calibri" panose="020F0502020204030204" pitchFamily="34" charset="0"/>
                      </a:rPr>
                      <a:t>ALC Titrisation</a:t>
                    </a:r>
                  </a:p>
                </p:txBody>
              </p:sp>
              <p:sp>
                <p:nvSpPr>
                  <p:cNvPr id="41" name="Rectangle 40">
                    <a:extLst>
                      <a:ext uri="{FF2B5EF4-FFF2-40B4-BE49-F238E27FC236}">
                        <a16:creationId xmlns:a16="http://schemas.microsoft.com/office/drawing/2014/main" id="{60816FA6-22EC-03A0-A9D7-1441246D489C}"/>
                      </a:ext>
                    </a:extLst>
                  </p:cNvPr>
                  <p:cNvSpPr/>
                  <p:nvPr/>
                </p:nvSpPr>
                <p:spPr>
                  <a:xfrm>
                    <a:off x="6641380" y="4517090"/>
                    <a:ext cx="2080261" cy="811530"/>
                  </a:xfrm>
                  <a:prstGeom prst="rect">
                    <a:avLst/>
                  </a:prstGeom>
                  <a:solidFill>
                    <a:srgbClr val="003056"/>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b="1" dirty="0">
                        <a:latin typeface="Calibri" panose="020F0502020204030204" pitchFamily="34" charset="0"/>
                        <a:ea typeface="Calibri" panose="020F0502020204030204" pitchFamily="34" charset="0"/>
                        <a:cs typeface="Calibri" panose="020F0502020204030204" pitchFamily="34" charset="0"/>
                      </a:rPr>
                      <a:t>ALC Microfinance</a:t>
                    </a:r>
                    <a:endParaRPr lang="fr-FR" sz="1050" b="1" noProof="0" dirty="0">
                      <a:latin typeface="Calibri" panose="020F0502020204030204" pitchFamily="34" charset="0"/>
                      <a:ea typeface="Calibri" panose="020F0502020204030204" pitchFamily="34" charset="0"/>
                      <a:cs typeface="Calibri" panose="020F0502020204030204" pitchFamily="34" charset="0"/>
                    </a:endParaRPr>
                  </a:p>
                </p:txBody>
              </p:sp>
            </p:grpSp>
            <p:cxnSp>
              <p:nvCxnSpPr>
                <p:cNvPr id="33" name="Connecteur : en angle 32">
                  <a:extLst>
                    <a:ext uri="{FF2B5EF4-FFF2-40B4-BE49-F238E27FC236}">
                      <a16:creationId xmlns:a16="http://schemas.microsoft.com/office/drawing/2014/main" id="{E93E7D3C-12D1-EBD9-CC17-56EE689C2AD0}"/>
                    </a:ext>
                  </a:extLst>
                </p:cNvPr>
                <p:cNvCxnSpPr>
                  <a:cxnSpLocks/>
                  <a:stCxn id="37" idx="2"/>
                  <a:endCxn id="24" idx="0"/>
                </p:cNvCxnSpPr>
                <p:nvPr/>
              </p:nvCxnSpPr>
              <p:spPr>
                <a:xfrm rot="5400000">
                  <a:off x="3668440" y="2415884"/>
                  <a:ext cx="375581" cy="2726943"/>
                </a:xfrm>
                <a:prstGeom prst="bentConnector3">
                  <a:avLst>
                    <a:gd name="adj1" fmla="val 50000"/>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Connecteur : en angle 33">
                  <a:extLst>
                    <a:ext uri="{FF2B5EF4-FFF2-40B4-BE49-F238E27FC236}">
                      <a16:creationId xmlns:a16="http://schemas.microsoft.com/office/drawing/2014/main" id="{A67BF495-C655-5DFA-1BA1-73901654481D}"/>
                    </a:ext>
                  </a:extLst>
                </p:cNvPr>
                <p:cNvCxnSpPr>
                  <a:cxnSpLocks/>
                  <a:stCxn id="37" idx="2"/>
                  <a:endCxn id="36" idx="0"/>
                </p:cNvCxnSpPr>
                <p:nvPr/>
              </p:nvCxnSpPr>
              <p:spPr>
                <a:xfrm rot="16200000" flipH="1">
                  <a:off x="5011547" y="3799719"/>
                  <a:ext cx="416310" cy="1"/>
                </a:xfrm>
                <a:prstGeom prst="bentConnector3">
                  <a:avLst>
                    <a:gd name="adj1" fmla="val 50000"/>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Connecteur : en angle 34">
                  <a:extLst>
                    <a:ext uri="{FF2B5EF4-FFF2-40B4-BE49-F238E27FC236}">
                      <a16:creationId xmlns:a16="http://schemas.microsoft.com/office/drawing/2014/main" id="{60A70783-FCA9-5A93-273C-EF2F54FEC972}"/>
                    </a:ext>
                  </a:extLst>
                </p:cNvPr>
                <p:cNvCxnSpPr>
                  <a:cxnSpLocks/>
                  <a:stCxn id="37" idx="2"/>
                  <a:endCxn id="27" idx="0"/>
                </p:cNvCxnSpPr>
                <p:nvPr/>
              </p:nvCxnSpPr>
              <p:spPr>
                <a:xfrm rot="16200000" flipH="1">
                  <a:off x="6242452" y="2568814"/>
                  <a:ext cx="416310" cy="2461811"/>
                </a:xfrm>
                <a:prstGeom prst="bentConnector3">
                  <a:avLst>
                    <a:gd name="adj1" fmla="val 44047"/>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27" name="Rectangle 26">
              <a:extLst>
                <a:ext uri="{FF2B5EF4-FFF2-40B4-BE49-F238E27FC236}">
                  <a16:creationId xmlns:a16="http://schemas.microsoft.com/office/drawing/2014/main" id="{22B92062-9EA3-58FB-6051-056318B1BD16}"/>
                </a:ext>
              </a:extLst>
            </p:cNvPr>
            <p:cNvSpPr/>
            <p:nvPr>
              <p:custDataLst>
                <p:tags r:id="rId3"/>
              </p:custDataLst>
            </p:nvPr>
          </p:nvSpPr>
          <p:spPr>
            <a:xfrm>
              <a:off x="4251791" y="5239299"/>
              <a:ext cx="1872577" cy="1194957"/>
            </a:xfrm>
            <a:prstGeom prst="rect">
              <a:avLst/>
            </a:prstGeom>
            <a:no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1050" b="1" noProof="0" dirty="0">
                  <a:solidFill>
                    <a:schemeClr val="tx1"/>
                  </a:solidFill>
                  <a:latin typeface="Calibri" panose="020F0502020204030204" pitchFamily="34" charset="0"/>
                  <a:ea typeface="Calibri" panose="020F0502020204030204" pitchFamily="34" charset="0"/>
                  <a:cs typeface="Calibri" panose="020F0502020204030204" pitchFamily="34" charset="0"/>
                </a:rPr>
                <a:t>Pôle Microfinance</a:t>
              </a:r>
            </a:p>
          </p:txBody>
        </p:sp>
      </p:grpSp>
      <p:sp>
        <p:nvSpPr>
          <p:cNvPr id="4" name="ZoneTexte 3">
            <a:extLst>
              <a:ext uri="{FF2B5EF4-FFF2-40B4-BE49-F238E27FC236}">
                <a16:creationId xmlns:a16="http://schemas.microsoft.com/office/drawing/2014/main" id="{78CABB0F-C646-716D-17E4-54017F1D2703}"/>
              </a:ext>
            </a:extLst>
          </p:cNvPr>
          <p:cNvSpPr txBox="1"/>
          <p:nvPr/>
        </p:nvSpPr>
        <p:spPr>
          <a:xfrm>
            <a:off x="61747" y="40933"/>
            <a:ext cx="5767553" cy="369332"/>
          </a:xfrm>
          <a:prstGeom prst="rect">
            <a:avLst/>
          </a:prstGeom>
          <a:noFill/>
          <a:effectLst>
            <a:reflection stA="63000" endPos="11000" dist="50800" dir="5400000" sy="-100000" algn="bl" rotWithShape="0"/>
          </a:effectLst>
        </p:spPr>
        <p:txBody>
          <a:bodyPr wrap="square" rtlCol="0">
            <a:spAutoFit/>
          </a:bodyPr>
          <a:lstStyle/>
          <a:p>
            <a:r>
              <a:rPr lang="fr-CI" b="1" dirty="0">
                <a:solidFill>
                  <a:schemeClr val="accent1">
                    <a:lumMod val="50000"/>
                  </a:schemeClr>
                </a:solidFill>
                <a:latin typeface="+mn-lt" panose="020E0705020206020404" pitchFamily="34" charset="0"/>
              </a:rPr>
              <a:t>Partie 1 : Structure d’accueil &amp; Contexte</a:t>
            </a:r>
          </a:p>
        </p:txBody>
      </p:sp>
      <p:grpSp>
        <p:nvGrpSpPr>
          <p:cNvPr id="7" name="Groupe 6">
            <a:extLst>
              <a:ext uri="{FF2B5EF4-FFF2-40B4-BE49-F238E27FC236}">
                <a16:creationId xmlns:a16="http://schemas.microsoft.com/office/drawing/2014/main" id="{EFC3AA70-BB67-7AF3-880D-9CCB26DD1692}"/>
              </a:ext>
            </a:extLst>
          </p:cNvPr>
          <p:cNvGrpSpPr/>
          <p:nvPr/>
        </p:nvGrpSpPr>
        <p:grpSpPr>
          <a:xfrm>
            <a:off x="11127756" y="40933"/>
            <a:ext cx="1002497" cy="997548"/>
            <a:chOff x="5594751" y="1197012"/>
            <a:chExt cx="1002497" cy="997548"/>
          </a:xfrm>
        </p:grpSpPr>
        <p:grpSp>
          <p:nvGrpSpPr>
            <p:cNvPr id="8" name="Groupe 7">
              <a:extLst>
                <a:ext uri="{FF2B5EF4-FFF2-40B4-BE49-F238E27FC236}">
                  <a16:creationId xmlns:a16="http://schemas.microsoft.com/office/drawing/2014/main" id="{6C03EA9F-983E-0785-A02E-1DA6261F9E1C}"/>
                </a:ext>
              </a:extLst>
            </p:cNvPr>
            <p:cNvGrpSpPr/>
            <p:nvPr/>
          </p:nvGrpSpPr>
          <p:grpSpPr>
            <a:xfrm>
              <a:off x="5594751" y="1197012"/>
              <a:ext cx="1002497" cy="997548"/>
              <a:chOff x="6263169" y="2855357"/>
              <a:chExt cx="600075" cy="612815"/>
            </a:xfrm>
          </p:grpSpPr>
          <p:sp>
            <p:nvSpPr>
              <p:cNvPr id="10" name="Organigramme : Connecteur 9">
                <a:extLst>
                  <a:ext uri="{FF2B5EF4-FFF2-40B4-BE49-F238E27FC236}">
                    <a16:creationId xmlns:a16="http://schemas.microsoft.com/office/drawing/2014/main" id="{CEDD04C6-5FFD-ABC6-ACBA-597EA723858E}"/>
                  </a:ext>
                </a:extLst>
              </p:cNvPr>
              <p:cNvSpPr/>
              <p:nvPr/>
            </p:nvSpPr>
            <p:spPr>
              <a:xfrm>
                <a:off x="6263169" y="2855357"/>
                <a:ext cx="600075" cy="612815"/>
              </a:xfrm>
              <a:prstGeom prst="flowChartConnector">
                <a:avLst/>
              </a:prstGeom>
              <a:solidFill>
                <a:schemeClr val="bg1"/>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I"/>
              </a:p>
            </p:txBody>
          </p:sp>
          <p:sp>
            <p:nvSpPr>
              <p:cNvPr id="11" name="Organigramme : Connecteur 10">
                <a:extLst>
                  <a:ext uri="{FF2B5EF4-FFF2-40B4-BE49-F238E27FC236}">
                    <a16:creationId xmlns:a16="http://schemas.microsoft.com/office/drawing/2014/main" id="{714FBA2B-21AF-1CA1-55C7-2A2A05DE3E28}"/>
                  </a:ext>
                </a:extLst>
              </p:cNvPr>
              <p:cNvSpPr/>
              <p:nvPr/>
            </p:nvSpPr>
            <p:spPr>
              <a:xfrm>
                <a:off x="6370324" y="2964924"/>
                <a:ext cx="385763" cy="393680"/>
              </a:xfrm>
              <a:prstGeom prst="flowChartConnector">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I" dirty="0"/>
              </a:p>
            </p:txBody>
          </p:sp>
        </p:grpSp>
        <p:pic>
          <p:nvPicPr>
            <p:cNvPr id="9" name="Graphic 1031" descr="Contexte">
              <a:extLst>
                <a:ext uri="{FF2B5EF4-FFF2-40B4-BE49-F238E27FC236}">
                  <a16:creationId xmlns:a16="http://schemas.microsoft.com/office/drawing/2014/main" id="{F51BC37D-A4BE-D95A-F369-4C5723D17BD6}"/>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867397" y="1467186"/>
              <a:ext cx="457200" cy="457200"/>
            </a:xfrm>
            <a:prstGeom prst="rect">
              <a:avLst/>
            </a:prstGeom>
          </p:spPr>
        </p:pic>
      </p:grpSp>
    </p:spTree>
    <p:extLst>
      <p:ext uri="{BB962C8B-B14F-4D97-AF65-F5344CB8AC3E}">
        <p14:creationId xmlns:p14="http://schemas.microsoft.com/office/powerpoint/2010/main" val="32966664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Rectangle : coins arrondis 54">
            <a:extLst>
              <a:ext uri="{FF2B5EF4-FFF2-40B4-BE49-F238E27FC236}">
                <a16:creationId xmlns:a16="http://schemas.microsoft.com/office/drawing/2014/main" id="{A9A3B9BD-F474-48AE-2178-E0FB41F41CE2}"/>
              </a:ext>
            </a:extLst>
          </p:cNvPr>
          <p:cNvSpPr/>
          <p:nvPr/>
        </p:nvSpPr>
        <p:spPr>
          <a:xfrm>
            <a:off x="616943" y="2019868"/>
            <a:ext cx="11079187" cy="830997"/>
          </a:xfrm>
          <a:prstGeom prst="roundRect">
            <a:avLst/>
          </a:prstGeom>
          <a:solidFill>
            <a:sysClr val="window" lastClr="FFFFFF"/>
          </a:solidFill>
          <a:ln w="28575"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CI"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62" name="Rectangle : coins arrondis 61">
            <a:extLst>
              <a:ext uri="{FF2B5EF4-FFF2-40B4-BE49-F238E27FC236}">
                <a16:creationId xmlns:a16="http://schemas.microsoft.com/office/drawing/2014/main" id="{9F154E80-1345-1167-ECEF-DFDD3D7A9B28}"/>
              </a:ext>
            </a:extLst>
          </p:cNvPr>
          <p:cNvSpPr/>
          <p:nvPr/>
        </p:nvSpPr>
        <p:spPr>
          <a:xfrm>
            <a:off x="6241304" y="2141628"/>
            <a:ext cx="2232621" cy="559558"/>
          </a:xfrm>
          <a:prstGeom prst="roundRect">
            <a:avLst/>
          </a:prstGeom>
          <a:solidFill>
            <a:srgbClr val="00206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CI" sz="2000" b="1"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63" name="ZoneTexte 62">
            <a:extLst>
              <a:ext uri="{FF2B5EF4-FFF2-40B4-BE49-F238E27FC236}">
                <a16:creationId xmlns:a16="http://schemas.microsoft.com/office/drawing/2014/main" id="{6D74BBFA-D538-8E42-25B7-998184849809}"/>
              </a:ext>
            </a:extLst>
          </p:cNvPr>
          <p:cNvSpPr txBox="1"/>
          <p:nvPr/>
        </p:nvSpPr>
        <p:spPr>
          <a:xfrm>
            <a:off x="6531566" y="2223882"/>
            <a:ext cx="1646171" cy="369332"/>
          </a:xfrm>
          <a:prstGeom prst="rect">
            <a:avLst/>
          </a:prstGeom>
          <a:noFill/>
        </p:spPr>
        <p:txBody>
          <a:bodyPr wrap="square" rtlCol="0">
            <a:spAutoFit/>
          </a:bodyPr>
          <a:lstStyle/>
          <a:p>
            <a:pPr algn="ctr"/>
            <a:r>
              <a:rPr lang="fr-CI" b="1" dirty="0">
                <a:solidFill>
                  <a:prstClr val="white"/>
                </a:solidFill>
                <a:latin typeface="Calibri" panose="020F0502020204030204"/>
              </a:rPr>
              <a:t>Titrisation</a:t>
            </a:r>
          </a:p>
        </p:txBody>
      </p:sp>
      <p:sp>
        <p:nvSpPr>
          <p:cNvPr id="2" name="Title 1">
            <a:extLst>
              <a:ext uri="{FF2B5EF4-FFF2-40B4-BE49-F238E27FC236}">
                <a16:creationId xmlns:a16="http://schemas.microsoft.com/office/drawing/2014/main" id="{2DAB9615-01FD-D39B-2A9D-21C69488CF06}"/>
              </a:ext>
            </a:extLst>
          </p:cNvPr>
          <p:cNvSpPr txBox="1">
            <a:spLocks/>
          </p:cNvSpPr>
          <p:nvPr/>
        </p:nvSpPr>
        <p:spPr>
          <a:xfrm>
            <a:off x="1954191" y="635000"/>
            <a:ext cx="8283618" cy="1016000"/>
          </a:xfrm>
          <a:prstGeom prst="rect">
            <a:avLst/>
          </a:prstGeom>
          <a:ln w="19050">
            <a:noFill/>
          </a:ln>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n-lt"/>
                <a:ea typeface="+mj-ea"/>
                <a:cs typeface="+mj-cs"/>
              </a:defRPr>
            </a:lvl1pPr>
          </a:lstStyle>
          <a:p>
            <a:r>
              <a:rPr lang="fr-CI" sz="3600" b="1" dirty="0">
                <a:solidFill>
                  <a:srgbClr val="002060"/>
                </a:solidFill>
              </a:rPr>
              <a:t>Contexte</a:t>
            </a:r>
          </a:p>
        </p:txBody>
      </p:sp>
      <p:sp>
        <p:nvSpPr>
          <p:cNvPr id="3" name="ZoneTexte 2">
            <a:extLst>
              <a:ext uri="{FF2B5EF4-FFF2-40B4-BE49-F238E27FC236}">
                <a16:creationId xmlns:a16="http://schemas.microsoft.com/office/drawing/2014/main" id="{A61BB184-7A82-03FF-DF8F-BEA3FE7600D9}"/>
              </a:ext>
            </a:extLst>
          </p:cNvPr>
          <p:cNvSpPr txBox="1"/>
          <p:nvPr/>
        </p:nvSpPr>
        <p:spPr>
          <a:xfrm>
            <a:off x="61747" y="40933"/>
            <a:ext cx="5767553" cy="369332"/>
          </a:xfrm>
          <a:prstGeom prst="rect">
            <a:avLst/>
          </a:prstGeom>
          <a:noFill/>
          <a:effectLst>
            <a:reflection stA="63000" endPos="11000" dist="50800" dir="5400000" sy="-100000" algn="bl" rotWithShape="0"/>
          </a:effectLst>
        </p:spPr>
        <p:txBody>
          <a:bodyPr wrap="square" rtlCol="0">
            <a:spAutoFit/>
          </a:bodyPr>
          <a:lstStyle/>
          <a:p>
            <a:r>
              <a:rPr lang="fr-CI" b="1" dirty="0">
                <a:solidFill>
                  <a:schemeClr val="accent1">
                    <a:lumMod val="50000"/>
                  </a:schemeClr>
                </a:solidFill>
                <a:latin typeface="+mn-lt" panose="020E0705020206020404" pitchFamily="34" charset="0"/>
              </a:rPr>
              <a:t>Partie 1 : Structure d’accueil </a:t>
            </a:r>
            <a:r>
              <a:rPr lang="fr-CI" b="1" dirty="0">
                <a:solidFill>
                  <a:schemeClr val="accent1">
                    <a:lumMod val="50000"/>
                  </a:schemeClr>
                </a:solidFill>
              </a:rPr>
              <a:t>&amp;</a:t>
            </a:r>
            <a:r>
              <a:rPr lang="fr-CI" b="1" dirty="0">
                <a:solidFill>
                  <a:schemeClr val="accent1">
                    <a:lumMod val="50000"/>
                  </a:schemeClr>
                </a:solidFill>
                <a:latin typeface="+mn-lt" panose="020E0705020206020404" pitchFamily="34" charset="0"/>
              </a:rPr>
              <a:t> </a:t>
            </a:r>
            <a:r>
              <a:rPr lang="fr-CI" b="1" dirty="0">
                <a:solidFill>
                  <a:schemeClr val="accent1">
                    <a:lumMod val="50000"/>
                  </a:schemeClr>
                </a:solidFill>
              </a:rPr>
              <a:t>Contexte</a:t>
            </a:r>
            <a:endParaRPr lang="fr-CI" b="1" dirty="0">
              <a:solidFill>
                <a:schemeClr val="accent1">
                  <a:lumMod val="50000"/>
                </a:schemeClr>
              </a:solidFill>
              <a:latin typeface="+mn-lt" panose="020E0705020206020404" pitchFamily="34" charset="0"/>
            </a:endParaRPr>
          </a:p>
        </p:txBody>
      </p:sp>
      <p:grpSp>
        <p:nvGrpSpPr>
          <p:cNvPr id="10" name="Groupe 9">
            <a:extLst>
              <a:ext uri="{FF2B5EF4-FFF2-40B4-BE49-F238E27FC236}">
                <a16:creationId xmlns:a16="http://schemas.microsoft.com/office/drawing/2014/main" id="{B1C21E03-460A-E2CC-BFB6-C97044C621E5}"/>
              </a:ext>
            </a:extLst>
          </p:cNvPr>
          <p:cNvGrpSpPr/>
          <p:nvPr/>
        </p:nvGrpSpPr>
        <p:grpSpPr>
          <a:xfrm>
            <a:off x="11127756" y="40933"/>
            <a:ext cx="1002497" cy="997548"/>
            <a:chOff x="5594751" y="1197012"/>
            <a:chExt cx="1002497" cy="997548"/>
          </a:xfrm>
        </p:grpSpPr>
        <p:grpSp>
          <p:nvGrpSpPr>
            <p:cNvPr id="11" name="Groupe 10">
              <a:extLst>
                <a:ext uri="{FF2B5EF4-FFF2-40B4-BE49-F238E27FC236}">
                  <a16:creationId xmlns:a16="http://schemas.microsoft.com/office/drawing/2014/main" id="{0A418808-3141-A795-DCAB-59F97E88FC96}"/>
                </a:ext>
              </a:extLst>
            </p:cNvPr>
            <p:cNvGrpSpPr/>
            <p:nvPr/>
          </p:nvGrpSpPr>
          <p:grpSpPr>
            <a:xfrm>
              <a:off x="5594751" y="1197012"/>
              <a:ext cx="1002497" cy="997548"/>
              <a:chOff x="6263169" y="2855357"/>
              <a:chExt cx="600075" cy="612815"/>
            </a:xfrm>
          </p:grpSpPr>
          <p:sp>
            <p:nvSpPr>
              <p:cNvPr id="24" name="Organigramme : Connecteur 23">
                <a:extLst>
                  <a:ext uri="{FF2B5EF4-FFF2-40B4-BE49-F238E27FC236}">
                    <a16:creationId xmlns:a16="http://schemas.microsoft.com/office/drawing/2014/main" id="{E3D4FEAB-A343-0B94-8B43-18ED5B23367A}"/>
                  </a:ext>
                </a:extLst>
              </p:cNvPr>
              <p:cNvSpPr/>
              <p:nvPr/>
            </p:nvSpPr>
            <p:spPr>
              <a:xfrm>
                <a:off x="6263169" y="2855357"/>
                <a:ext cx="600075" cy="612815"/>
              </a:xfrm>
              <a:prstGeom prst="flowChartConnector">
                <a:avLst/>
              </a:prstGeom>
              <a:solidFill>
                <a:schemeClr val="bg1"/>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I"/>
              </a:p>
            </p:txBody>
          </p:sp>
          <p:sp>
            <p:nvSpPr>
              <p:cNvPr id="44" name="Organigramme : Connecteur 43">
                <a:extLst>
                  <a:ext uri="{FF2B5EF4-FFF2-40B4-BE49-F238E27FC236}">
                    <a16:creationId xmlns:a16="http://schemas.microsoft.com/office/drawing/2014/main" id="{3FC921A4-9AC7-5A33-D019-C53173B83E0D}"/>
                  </a:ext>
                </a:extLst>
              </p:cNvPr>
              <p:cNvSpPr/>
              <p:nvPr/>
            </p:nvSpPr>
            <p:spPr>
              <a:xfrm>
                <a:off x="6370324" y="2964924"/>
                <a:ext cx="385763" cy="393680"/>
              </a:xfrm>
              <a:prstGeom prst="flowChartConnector">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I" dirty="0"/>
              </a:p>
            </p:txBody>
          </p:sp>
        </p:grpSp>
        <p:pic>
          <p:nvPicPr>
            <p:cNvPr id="12" name="Graphic 1031" descr="Contexte">
              <a:extLst>
                <a:ext uri="{FF2B5EF4-FFF2-40B4-BE49-F238E27FC236}">
                  <a16:creationId xmlns:a16="http://schemas.microsoft.com/office/drawing/2014/main" id="{818DF26C-B069-2830-3FDA-D1D7512A956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867397" y="1467186"/>
              <a:ext cx="457200" cy="457200"/>
            </a:xfrm>
            <a:prstGeom prst="rect">
              <a:avLst/>
            </a:prstGeom>
          </p:spPr>
        </p:pic>
      </p:grpSp>
      <p:pic>
        <p:nvPicPr>
          <p:cNvPr id="9" name="Image 8" descr="Titrisation des actifs: de nouveaux développements dans le pipe">
            <a:extLst>
              <a:ext uri="{FF2B5EF4-FFF2-40B4-BE49-F238E27FC236}">
                <a16:creationId xmlns:a16="http://schemas.microsoft.com/office/drawing/2014/main" id="{D8B40428-D419-9ED6-8551-278F57E43D8C}"/>
              </a:ext>
            </a:extLst>
          </p:cNvPr>
          <p:cNvPicPr>
            <a:picLocks noChangeAspect="1"/>
          </p:cNvPicPr>
          <p:nvPr/>
        </p:nvPicPr>
        <p:blipFill>
          <a:blip r:embed="rId3"/>
          <a:stretch>
            <a:fillRect/>
          </a:stretch>
        </p:blipFill>
        <p:spPr>
          <a:xfrm>
            <a:off x="2251710" y="3875692"/>
            <a:ext cx="1762506" cy="1207643"/>
          </a:xfrm>
          <a:prstGeom prst="rect">
            <a:avLst/>
          </a:prstGeom>
        </p:spPr>
      </p:pic>
      <p:sp>
        <p:nvSpPr>
          <p:cNvPr id="14" name="ZoneTexte 13">
            <a:extLst>
              <a:ext uri="{FF2B5EF4-FFF2-40B4-BE49-F238E27FC236}">
                <a16:creationId xmlns:a16="http://schemas.microsoft.com/office/drawing/2014/main" id="{DA7D99D6-821F-AC63-86B1-593958EE3110}"/>
              </a:ext>
            </a:extLst>
          </p:cNvPr>
          <p:cNvSpPr txBox="1"/>
          <p:nvPr/>
        </p:nvSpPr>
        <p:spPr>
          <a:xfrm>
            <a:off x="4446269" y="3875692"/>
            <a:ext cx="7059931" cy="1477328"/>
          </a:xfrm>
          <a:prstGeom prst="rect">
            <a:avLst/>
          </a:prstGeom>
          <a:noFill/>
        </p:spPr>
        <p:txBody>
          <a:bodyPr wrap="square">
            <a:spAutoFit/>
          </a:bodyPr>
          <a:lstStyle/>
          <a:p>
            <a:pPr marL="268288" marR="0" lvl="1" indent="0" algn="just" defTabSz="914400" rtl="0" eaLnBrk="0" fontAlgn="base" latinLnBrk="0" hangingPunct="0">
              <a:lnSpc>
                <a:spcPct val="100000"/>
              </a:lnSpc>
              <a:spcBef>
                <a:spcPts val="600"/>
              </a:spcBef>
              <a:spcAft>
                <a:spcPts val="0"/>
              </a:spcAft>
              <a:buClr>
                <a:srgbClr val="0070C0"/>
              </a:buClr>
              <a:buSzPct val="120000"/>
              <a:buFont typeface="Arial" panose="020B0604020202020204" pitchFamily="34" charset="0"/>
              <a:buNone/>
              <a:tabLst/>
              <a:defRPr/>
            </a:pPr>
            <a:r>
              <a:rPr kumimoji="0" lang="fr-FR" b="0" i="0" u="none" strike="noStrike" kern="1200" cap="none" spc="0" normalizeH="0" baseline="0" noProof="0" dirty="0">
                <a:ln>
                  <a:noFill/>
                </a:ln>
                <a:solidFill>
                  <a:schemeClr val="accent1">
                    <a:lumMod val="75000"/>
                  </a:schemeClr>
                </a:solidFill>
                <a:effectLst/>
                <a:uLnTx/>
                <a:uFillTx/>
                <a:ea typeface="+mn-ea"/>
                <a:cs typeface="+mn-cs"/>
              </a:rPr>
              <a:t>La Titrisation est une technique financière qui permet à une entité, publique ou privée, de mobiliser des fonds adossés à un portefeuille d’actifs (des créances) qu’elle  détient. Les actifs sont donc transformés en titres négociables sur le marché financier (généralement des obligations), avec des maturités variées (court, moyen, long  terme).</a:t>
            </a:r>
          </a:p>
        </p:txBody>
      </p:sp>
    </p:spTree>
    <p:extLst>
      <p:ext uri="{BB962C8B-B14F-4D97-AF65-F5344CB8AC3E}">
        <p14:creationId xmlns:p14="http://schemas.microsoft.com/office/powerpoint/2010/main" val="22569179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8700A7-EB49-0A95-33AB-78B6EB32E5A1}"/>
            </a:ext>
          </a:extLst>
        </p:cNvPr>
        <p:cNvGrpSpPr/>
        <p:nvPr/>
      </p:nvGrpSpPr>
      <p:grpSpPr>
        <a:xfrm>
          <a:off x="0" y="0"/>
          <a:ext cx="0" cy="0"/>
          <a:chOff x="0" y="0"/>
          <a:chExt cx="0" cy="0"/>
        </a:xfrm>
      </p:grpSpPr>
      <p:sp>
        <p:nvSpPr>
          <p:cNvPr id="21" name="Rectangle : coins arrondis 20">
            <a:extLst>
              <a:ext uri="{FF2B5EF4-FFF2-40B4-BE49-F238E27FC236}">
                <a16:creationId xmlns:a16="http://schemas.microsoft.com/office/drawing/2014/main" id="{0E48AA83-38B3-B018-36B2-0AAA20CA1BFC}"/>
              </a:ext>
            </a:extLst>
          </p:cNvPr>
          <p:cNvSpPr/>
          <p:nvPr/>
        </p:nvSpPr>
        <p:spPr>
          <a:xfrm>
            <a:off x="616943" y="2019868"/>
            <a:ext cx="11079187" cy="830997"/>
          </a:xfrm>
          <a:prstGeom prst="round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I"/>
          </a:p>
        </p:txBody>
      </p:sp>
      <p:pic>
        <p:nvPicPr>
          <p:cNvPr id="61" name="Graphique 60" descr="Ampoule avec un remplissage uni">
            <a:extLst>
              <a:ext uri="{FF2B5EF4-FFF2-40B4-BE49-F238E27FC236}">
                <a16:creationId xmlns:a16="http://schemas.microsoft.com/office/drawing/2014/main" id="{3926D3AF-59BC-8050-F95B-7AD7F464004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545139" y="5160428"/>
            <a:ext cx="692670" cy="547654"/>
          </a:xfrm>
          <a:prstGeom prst="rect">
            <a:avLst/>
          </a:prstGeom>
        </p:spPr>
      </p:pic>
      <p:sp>
        <p:nvSpPr>
          <p:cNvPr id="5" name="Title 1">
            <a:extLst>
              <a:ext uri="{FF2B5EF4-FFF2-40B4-BE49-F238E27FC236}">
                <a16:creationId xmlns:a16="http://schemas.microsoft.com/office/drawing/2014/main" id="{86B14B93-1208-37BA-1C44-CC0563FC91E3}"/>
              </a:ext>
            </a:extLst>
          </p:cNvPr>
          <p:cNvSpPr txBox="1">
            <a:spLocks/>
          </p:cNvSpPr>
          <p:nvPr/>
        </p:nvSpPr>
        <p:spPr>
          <a:xfrm>
            <a:off x="2921000" y="635000"/>
            <a:ext cx="6350000" cy="1016000"/>
          </a:xfrm>
          <a:prstGeom prst="rect">
            <a:avLst/>
          </a:prstGeom>
          <a:ln w="19050">
            <a:noFill/>
          </a:ln>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n-lt"/>
                <a:ea typeface="+mj-ea"/>
                <a:cs typeface="+mj-cs"/>
              </a:defRPr>
            </a:lvl1pPr>
          </a:lstStyle>
          <a:p>
            <a:pPr algn="ctr"/>
            <a:r>
              <a:rPr lang="fr-CI" sz="3600" b="1" dirty="0">
                <a:solidFill>
                  <a:srgbClr val="002060"/>
                </a:solidFill>
                <a:latin typeface="+mn-lt" panose="02020603050405020304" pitchFamily="18" charset="0"/>
                <a:cs typeface="+mn-cs" panose="02020603050405020304" pitchFamily="18" charset="0"/>
              </a:rPr>
              <a:t>Contexte</a:t>
            </a:r>
          </a:p>
        </p:txBody>
      </p:sp>
      <p:sp>
        <p:nvSpPr>
          <p:cNvPr id="6" name="ZoneTexte 5">
            <a:extLst>
              <a:ext uri="{FF2B5EF4-FFF2-40B4-BE49-F238E27FC236}">
                <a16:creationId xmlns:a16="http://schemas.microsoft.com/office/drawing/2014/main" id="{CE6B5477-F0E2-7E54-5011-D8C684565936}"/>
              </a:ext>
            </a:extLst>
          </p:cNvPr>
          <p:cNvSpPr txBox="1"/>
          <p:nvPr/>
        </p:nvSpPr>
        <p:spPr>
          <a:xfrm>
            <a:off x="11539960" y="6285053"/>
            <a:ext cx="370390" cy="369332"/>
          </a:xfrm>
          <a:prstGeom prst="rect">
            <a:avLst/>
          </a:prstGeom>
          <a:noFill/>
          <a:ln>
            <a:solidFill>
              <a:srgbClr val="002060"/>
            </a:solidFill>
          </a:ln>
        </p:spPr>
        <p:txBody>
          <a:bodyPr wrap="square" rtlCol="0">
            <a:spAutoFit/>
          </a:bodyPr>
          <a:lstStyle/>
          <a:p>
            <a:r>
              <a:rPr lang="fr-CI">
                <a:solidFill>
                  <a:srgbClr val="002060"/>
                </a:solidFill>
                <a:latin typeface="+mn-lt" panose="020B0A04020102020204" pitchFamily="34" charset="0"/>
              </a:rPr>
              <a:t>4</a:t>
            </a:r>
          </a:p>
        </p:txBody>
      </p:sp>
      <p:sp>
        <p:nvSpPr>
          <p:cNvPr id="17" name="Rectangle : coins arrondis 16">
            <a:extLst>
              <a:ext uri="{FF2B5EF4-FFF2-40B4-BE49-F238E27FC236}">
                <a16:creationId xmlns:a16="http://schemas.microsoft.com/office/drawing/2014/main" id="{8E8E8832-6787-9932-2FC1-C212A7F48D2B}"/>
              </a:ext>
            </a:extLst>
          </p:cNvPr>
          <p:cNvSpPr/>
          <p:nvPr/>
        </p:nvSpPr>
        <p:spPr>
          <a:xfrm>
            <a:off x="9342436" y="2172269"/>
            <a:ext cx="2232621" cy="559558"/>
          </a:xfrm>
          <a:prstGeom prst="round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I" sz="2000" b="1">
              <a:latin typeface="+mn-lt" panose="02020603050405020304" pitchFamily="18" charset="0"/>
              <a:cs typeface="+mn-cs" panose="02020603050405020304" pitchFamily="18" charset="0"/>
            </a:endParaRPr>
          </a:p>
        </p:txBody>
      </p:sp>
      <p:sp>
        <p:nvSpPr>
          <p:cNvPr id="28" name="ZoneTexte 27">
            <a:extLst>
              <a:ext uri="{FF2B5EF4-FFF2-40B4-BE49-F238E27FC236}">
                <a16:creationId xmlns:a16="http://schemas.microsoft.com/office/drawing/2014/main" id="{001D52C1-57CC-D45E-7649-8426A1C06DF5}"/>
              </a:ext>
            </a:extLst>
          </p:cNvPr>
          <p:cNvSpPr txBox="1"/>
          <p:nvPr/>
        </p:nvSpPr>
        <p:spPr>
          <a:xfrm>
            <a:off x="9635660" y="2267382"/>
            <a:ext cx="1646171" cy="369332"/>
          </a:xfrm>
          <a:prstGeom prst="rect">
            <a:avLst/>
          </a:prstGeom>
          <a:noFill/>
        </p:spPr>
        <p:txBody>
          <a:bodyPr wrap="square" rtlCol="0">
            <a:spAutoFit/>
          </a:bodyPr>
          <a:lstStyle/>
          <a:p>
            <a:pPr algn="ctr"/>
            <a:r>
              <a:rPr lang="fr-CI" b="1" dirty="0">
                <a:solidFill>
                  <a:schemeClr val="bg1"/>
                </a:solidFill>
                <a:latin typeface="+mn-lt" panose="02020603050405020304" pitchFamily="18" charset="0"/>
                <a:cs typeface="+mn-cs" panose="02020603050405020304" pitchFamily="18" charset="0"/>
              </a:rPr>
              <a:t>PEPT</a:t>
            </a:r>
          </a:p>
        </p:txBody>
      </p:sp>
      <p:sp>
        <p:nvSpPr>
          <p:cNvPr id="7" name="EPT Visual Circle">
            <a:extLst>
              <a:ext uri="{FF2B5EF4-FFF2-40B4-BE49-F238E27FC236}">
                <a16:creationId xmlns:a16="http://schemas.microsoft.com/office/drawing/2014/main" id="{87684454-BA4F-46B9-8E1E-C85E431F8B5B}"/>
              </a:ext>
            </a:extLst>
          </p:cNvPr>
          <p:cNvSpPr/>
          <p:nvPr/>
        </p:nvSpPr>
        <p:spPr>
          <a:xfrm>
            <a:off x="1206500" y="3810000"/>
            <a:ext cx="2095500" cy="2095500"/>
          </a:xfrm>
          <a:prstGeom prst="ellipse">
            <a:avLst/>
          </a:prstGeom>
          <a:solidFill>
            <a:schemeClr val="accent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dirty="0"/>
          </a:p>
        </p:txBody>
      </p:sp>
      <p:sp>
        <p:nvSpPr>
          <p:cNvPr id="8" name="EPT Heading">
            <a:extLst>
              <a:ext uri="{FF2B5EF4-FFF2-40B4-BE49-F238E27FC236}">
                <a16:creationId xmlns:a16="http://schemas.microsoft.com/office/drawing/2014/main" id="{32952A85-4EF6-4D8A-AE68-1ABE5B33D582}"/>
              </a:ext>
            </a:extLst>
          </p:cNvPr>
          <p:cNvSpPr txBox="1"/>
          <p:nvPr/>
        </p:nvSpPr>
        <p:spPr>
          <a:xfrm>
            <a:off x="3873500" y="3048000"/>
            <a:ext cx="7747000" cy="430887"/>
          </a:xfrm>
          <a:prstGeom prst="rect">
            <a:avLst/>
          </a:prstGeom>
          <a:noFill/>
        </p:spPr>
        <p:txBody>
          <a:bodyPr vertOverflow="overflow" vert="horz" wrap="square" rtlCol="0" anchor="t">
            <a:spAutoFit/>
          </a:bodyPr>
          <a:lstStyle/>
          <a:p>
            <a:pPr algn="l"/>
            <a:r>
              <a:rPr lang="fr-FR" sz="2200" b="1" dirty="0">
                <a:solidFill>
                  <a:schemeClr val="accent2"/>
                </a:solidFill>
                <a:ea typeface="+mn-lt"/>
                <a:cs typeface="+mn-lt"/>
              </a:rPr>
              <a:t>Programme Électricité Pour Tous </a:t>
            </a:r>
            <a:r>
              <a:rPr lang="fr-FR" sz="2200" b="1" dirty="0">
                <a:solidFill>
                  <a:srgbClr val="00B050"/>
                </a:solidFill>
                <a:ea typeface="+mn-lt"/>
                <a:cs typeface="+mn-lt"/>
              </a:rPr>
              <a:t>(PEPT)</a:t>
            </a:r>
          </a:p>
        </p:txBody>
      </p:sp>
      <p:sp>
        <p:nvSpPr>
          <p:cNvPr id="9" name="EPT Paragraph">
            <a:extLst>
              <a:ext uri="{FF2B5EF4-FFF2-40B4-BE49-F238E27FC236}">
                <a16:creationId xmlns:a16="http://schemas.microsoft.com/office/drawing/2014/main" id="{17EEE639-8469-4BA1-86A6-A1DD89C3AFD0}"/>
              </a:ext>
            </a:extLst>
          </p:cNvPr>
          <p:cNvSpPr txBox="1"/>
          <p:nvPr/>
        </p:nvSpPr>
        <p:spPr>
          <a:xfrm>
            <a:off x="3873500" y="3657600"/>
            <a:ext cx="7747000" cy="1397000"/>
          </a:xfrm>
          <a:prstGeom prst="rect">
            <a:avLst/>
          </a:prstGeom>
          <a:noFill/>
        </p:spPr>
        <p:txBody>
          <a:bodyPr vertOverflow="overflow" vert="horz" wrap="square" rtlCol="0" anchor="t">
            <a:spAutoFit/>
          </a:bodyPr>
          <a:lstStyle/>
          <a:p>
            <a:pPr algn="l"/>
            <a:r>
              <a:rPr lang="fr-FR" sz="1600" dirty="0">
                <a:solidFill>
                  <a:srgbClr val="002060"/>
                </a:solidFill>
                <a:ea typeface="+mn-lt"/>
                <a:cs typeface="+mn-lt"/>
              </a:rPr>
              <a:t>Dans le cadre du Plan National de Développement, le Ministère des Mines, du Pétrole et de l'Énergie a initié un programme dénommé « Programme Électricité Pour Tous » (Programme EPT), en vue d'offrir aux populations économiquement faibles un accès plus aisé à l'électricité.</a:t>
            </a:r>
          </a:p>
        </p:txBody>
      </p:sp>
      <p:sp>
        <p:nvSpPr>
          <p:cNvPr id="10" name="EPT Points">
            <a:extLst>
              <a:ext uri="{FF2B5EF4-FFF2-40B4-BE49-F238E27FC236}">
                <a16:creationId xmlns:a16="http://schemas.microsoft.com/office/drawing/2014/main" id="{4EFAAC7C-31A5-4C0E-B8FB-62AB79911A66}"/>
              </a:ext>
            </a:extLst>
          </p:cNvPr>
          <p:cNvSpPr txBox="1"/>
          <p:nvPr/>
        </p:nvSpPr>
        <p:spPr>
          <a:xfrm>
            <a:off x="3873500" y="5105400"/>
            <a:ext cx="7747000" cy="984885"/>
          </a:xfrm>
          <a:prstGeom prst="rect">
            <a:avLst/>
          </a:prstGeom>
          <a:noFill/>
        </p:spPr>
        <p:txBody>
          <a:bodyPr vertOverflow="overflow" vert="horz" wrap="square" rtlCol="0" anchor="t">
            <a:spAutoFit/>
          </a:bodyPr>
          <a:lstStyle/>
          <a:p>
            <a:pPr marL="228600" indent="-228600" algn="l">
              <a:spcBef>
                <a:spcPts val="600"/>
              </a:spcBef>
              <a:buFont typeface="Arial"/>
              <a:buChar char="•"/>
            </a:pPr>
            <a:r>
              <a:rPr lang="fr-CI" sz="1600" b="1" dirty="0">
                <a:solidFill>
                  <a:srgbClr val="002060"/>
                </a:solidFill>
                <a:latin typeface="+mn-lt"/>
              </a:rPr>
              <a:t>Cadre : </a:t>
            </a:r>
            <a:r>
              <a:rPr lang="fr-CI" sz="1600" dirty="0">
                <a:solidFill>
                  <a:srgbClr val="002060"/>
                </a:solidFill>
                <a:latin typeface="+mn-lt"/>
              </a:rPr>
              <a:t>Plan National de Développement</a:t>
            </a:r>
          </a:p>
          <a:p>
            <a:pPr marL="228600" indent="-228600" algn="l">
              <a:spcBef>
                <a:spcPts val="600"/>
              </a:spcBef>
              <a:buFont typeface="Arial"/>
              <a:buChar char="•"/>
            </a:pPr>
            <a:r>
              <a:rPr lang="fr-CI" sz="1600" b="1" dirty="0">
                <a:solidFill>
                  <a:srgbClr val="002060"/>
                </a:solidFill>
                <a:latin typeface="+mn-lt"/>
              </a:rPr>
              <a:t>Initiateur : </a:t>
            </a:r>
            <a:r>
              <a:rPr lang="fr-CI" sz="1600" dirty="0">
                <a:solidFill>
                  <a:srgbClr val="002060"/>
                </a:solidFill>
                <a:latin typeface="+mn-lt"/>
              </a:rPr>
              <a:t>Ministère des Mines, du Pétrole et de l'Énergie</a:t>
            </a:r>
          </a:p>
          <a:p>
            <a:pPr marL="228600" indent="-228600" algn="l">
              <a:spcBef>
                <a:spcPts val="600"/>
              </a:spcBef>
              <a:buFont typeface="Arial"/>
              <a:buChar char="•"/>
            </a:pPr>
            <a:r>
              <a:rPr lang="fr-CI" sz="1600" b="1" dirty="0">
                <a:solidFill>
                  <a:srgbClr val="002060"/>
                </a:solidFill>
                <a:latin typeface="+mn-lt"/>
              </a:rPr>
              <a:t>Objectif : </a:t>
            </a:r>
            <a:r>
              <a:rPr lang="fr-CI" sz="1600" dirty="0">
                <a:solidFill>
                  <a:srgbClr val="002060"/>
                </a:solidFill>
                <a:latin typeface="+mn-lt"/>
              </a:rPr>
              <a:t>faciliter l'accès à l'électricité pour les populations économiquement faibles</a:t>
            </a:r>
          </a:p>
        </p:txBody>
      </p:sp>
      <p:pic>
        <p:nvPicPr>
          <p:cNvPr id="62" name="Graphic 62" descr="Lightbulb icon for EPT program"/>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52600" y="4356100"/>
            <a:ext cx="1016000" cy="1016000"/>
          </a:xfrm>
          <a:prstGeom prst="rect">
            <a:avLst/>
          </a:prstGeom>
        </p:spPr>
      </p:pic>
      <p:sp>
        <p:nvSpPr>
          <p:cNvPr id="11" name="ZoneTexte 10">
            <a:extLst>
              <a:ext uri="{FF2B5EF4-FFF2-40B4-BE49-F238E27FC236}">
                <a16:creationId xmlns:a16="http://schemas.microsoft.com/office/drawing/2014/main" id="{B306C10B-318E-8AAF-0151-DD067B1E0AD4}"/>
              </a:ext>
            </a:extLst>
          </p:cNvPr>
          <p:cNvSpPr txBox="1"/>
          <p:nvPr/>
        </p:nvSpPr>
        <p:spPr>
          <a:xfrm>
            <a:off x="61747" y="40933"/>
            <a:ext cx="5767553" cy="369332"/>
          </a:xfrm>
          <a:prstGeom prst="rect">
            <a:avLst/>
          </a:prstGeom>
          <a:noFill/>
          <a:effectLst>
            <a:reflection stA="63000" endPos="11000" dist="50800" dir="5400000" sy="-100000" algn="bl" rotWithShape="0"/>
          </a:effectLst>
        </p:spPr>
        <p:txBody>
          <a:bodyPr wrap="square" rtlCol="0">
            <a:spAutoFit/>
          </a:bodyPr>
          <a:lstStyle/>
          <a:p>
            <a:r>
              <a:rPr lang="fr-CI" b="1" dirty="0">
                <a:solidFill>
                  <a:schemeClr val="accent1">
                    <a:lumMod val="50000"/>
                  </a:schemeClr>
                </a:solidFill>
                <a:latin typeface="+mn-lt" panose="020E0705020206020404" pitchFamily="34" charset="0"/>
              </a:rPr>
              <a:t>Partie 1 : Contexte &amp; Structure d’accueil</a:t>
            </a:r>
          </a:p>
        </p:txBody>
      </p:sp>
      <p:grpSp>
        <p:nvGrpSpPr>
          <p:cNvPr id="12" name="Groupe 11">
            <a:extLst>
              <a:ext uri="{FF2B5EF4-FFF2-40B4-BE49-F238E27FC236}">
                <a16:creationId xmlns:a16="http://schemas.microsoft.com/office/drawing/2014/main" id="{A2CCAFE3-DD3F-1971-C45B-91B9C2D047E3}"/>
              </a:ext>
            </a:extLst>
          </p:cNvPr>
          <p:cNvGrpSpPr/>
          <p:nvPr/>
        </p:nvGrpSpPr>
        <p:grpSpPr>
          <a:xfrm>
            <a:off x="11127756" y="40933"/>
            <a:ext cx="1002497" cy="997548"/>
            <a:chOff x="5594751" y="1197012"/>
            <a:chExt cx="1002497" cy="997548"/>
          </a:xfrm>
        </p:grpSpPr>
        <p:grpSp>
          <p:nvGrpSpPr>
            <p:cNvPr id="13" name="Groupe 12">
              <a:extLst>
                <a:ext uri="{FF2B5EF4-FFF2-40B4-BE49-F238E27FC236}">
                  <a16:creationId xmlns:a16="http://schemas.microsoft.com/office/drawing/2014/main" id="{9F41A5C8-10D6-17B3-5547-6D1DB70A559C}"/>
                </a:ext>
              </a:extLst>
            </p:cNvPr>
            <p:cNvGrpSpPr/>
            <p:nvPr/>
          </p:nvGrpSpPr>
          <p:grpSpPr>
            <a:xfrm>
              <a:off x="5594751" y="1197012"/>
              <a:ext cx="1002497" cy="997548"/>
              <a:chOff x="6263169" y="2855357"/>
              <a:chExt cx="600075" cy="612815"/>
            </a:xfrm>
          </p:grpSpPr>
          <p:sp>
            <p:nvSpPr>
              <p:cNvPr id="15" name="Organigramme : Connecteur 14">
                <a:extLst>
                  <a:ext uri="{FF2B5EF4-FFF2-40B4-BE49-F238E27FC236}">
                    <a16:creationId xmlns:a16="http://schemas.microsoft.com/office/drawing/2014/main" id="{C65A84DA-D083-8C2E-AF6C-0E1BB7196B6A}"/>
                  </a:ext>
                </a:extLst>
              </p:cNvPr>
              <p:cNvSpPr/>
              <p:nvPr/>
            </p:nvSpPr>
            <p:spPr>
              <a:xfrm>
                <a:off x="6263169" y="2855357"/>
                <a:ext cx="600075" cy="612815"/>
              </a:xfrm>
              <a:prstGeom prst="flowChartConnector">
                <a:avLst/>
              </a:prstGeom>
              <a:solidFill>
                <a:schemeClr val="bg1"/>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I"/>
              </a:p>
            </p:txBody>
          </p:sp>
          <p:sp>
            <p:nvSpPr>
              <p:cNvPr id="16" name="Organigramme : Connecteur 15">
                <a:extLst>
                  <a:ext uri="{FF2B5EF4-FFF2-40B4-BE49-F238E27FC236}">
                    <a16:creationId xmlns:a16="http://schemas.microsoft.com/office/drawing/2014/main" id="{0299D5A9-DA4E-67BD-27E8-CF6943A84450}"/>
                  </a:ext>
                </a:extLst>
              </p:cNvPr>
              <p:cNvSpPr/>
              <p:nvPr/>
            </p:nvSpPr>
            <p:spPr>
              <a:xfrm>
                <a:off x="6370324" y="2964924"/>
                <a:ext cx="385763" cy="393680"/>
              </a:xfrm>
              <a:prstGeom prst="flowChartConnector">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I" dirty="0"/>
              </a:p>
            </p:txBody>
          </p:sp>
        </p:grpSp>
        <p:pic>
          <p:nvPicPr>
            <p:cNvPr id="14" name="Graphic 1031" descr="Contexte">
              <a:extLst>
                <a:ext uri="{FF2B5EF4-FFF2-40B4-BE49-F238E27FC236}">
                  <a16:creationId xmlns:a16="http://schemas.microsoft.com/office/drawing/2014/main" id="{AC033E84-550D-6F43-3D17-59636CE505A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867397" y="1467186"/>
              <a:ext cx="457200" cy="457200"/>
            </a:xfrm>
            <a:prstGeom prst="rect">
              <a:avLst/>
            </a:prstGeom>
          </p:spPr>
        </p:pic>
      </p:grpSp>
    </p:spTree>
    <p:extLst>
      <p:ext uri="{BB962C8B-B14F-4D97-AF65-F5344CB8AC3E}">
        <p14:creationId xmlns:p14="http://schemas.microsoft.com/office/powerpoint/2010/main" val="41287386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20F439-B35D-4F46-A4AF-7461F6D9533D}"/>
            </a:ext>
          </a:extLst>
        </p:cNvPr>
        <p:cNvGrpSpPr/>
        <p:nvPr/>
      </p:nvGrpSpPr>
      <p:grpSpPr>
        <a:xfrm>
          <a:off x="0" y="0"/>
          <a:ext cx="0" cy="0"/>
          <a:chOff x="0" y="0"/>
          <a:chExt cx="0" cy="0"/>
        </a:xfrm>
      </p:grpSpPr>
      <p:sp>
        <p:nvSpPr>
          <p:cNvPr id="18" name="Larme 17">
            <a:extLst>
              <a:ext uri="{FF2B5EF4-FFF2-40B4-BE49-F238E27FC236}">
                <a16:creationId xmlns:a16="http://schemas.microsoft.com/office/drawing/2014/main" id="{0DE3C2FE-E19A-FC07-B122-78171147E201}"/>
              </a:ext>
            </a:extLst>
          </p:cNvPr>
          <p:cNvSpPr/>
          <p:nvPr/>
        </p:nvSpPr>
        <p:spPr>
          <a:xfrm>
            <a:off x="7010400" y="0"/>
            <a:ext cx="5181600" cy="5478308"/>
          </a:xfrm>
          <a:prstGeom prst="teardrop">
            <a:avLst/>
          </a:prstGeom>
          <a:solidFill>
            <a:srgbClr val="E5EA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Text 1">
            <a:extLst>
              <a:ext uri="{FF2B5EF4-FFF2-40B4-BE49-F238E27FC236}">
                <a16:creationId xmlns:a16="http://schemas.microsoft.com/office/drawing/2014/main" id="{05B00922-5107-AF87-99DF-510DC1BB12DA}"/>
              </a:ext>
            </a:extLst>
          </p:cNvPr>
          <p:cNvSpPr/>
          <p:nvPr/>
        </p:nvSpPr>
        <p:spPr>
          <a:xfrm>
            <a:off x="609600" y="2438400"/>
            <a:ext cx="10972800" cy="609600"/>
          </a:xfrm>
          <a:prstGeom prst="rect">
            <a:avLst/>
          </a:prstGeom>
          <a:noFill/>
          <a:ln/>
        </p:spPr>
        <p:txBody>
          <a:bodyPr wrap="square" rtlCol="0" anchor="ctr"/>
          <a:lstStyle/>
          <a:p>
            <a:pPr algn="ctr" defTabSz="1219170"/>
            <a:r>
              <a:rPr lang="en-US" sz="1867" b="1" kern="0" spc="533" dirty="0">
                <a:solidFill>
                  <a:srgbClr val="7C8BA8"/>
                </a:solidFill>
                <a:latin typeface="Calibri" panose="020F0502020204030204"/>
              </a:rPr>
              <a:t>PARTIE 02</a:t>
            </a:r>
            <a:endParaRPr lang="en-US" sz="1867" b="1" dirty="0">
              <a:solidFill>
                <a:prstClr val="black"/>
              </a:solidFill>
              <a:latin typeface="Calibri" panose="020F0502020204030204"/>
            </a:endParaRPr>
          </a:p>
        </p:txBody>
      </p:sp>
      <p:sp>
        <p:nvSpPr>
          <p:cNvPr id="4" name="Text 2">
            <a:extLst>
              <a:ext uri="{FF2B5EF4-FFF2-40B4-BE49-F238E27FC236}">
                <a16:creationId xmlns:a16="http://schemas.microsoft.com/office/drawing/2014/main" id="{F7D98FF6-6EAF-0198-CA5D-88D6A67E2738}"/>
              </a:ext>
            </a:extLst>
          </p:cNvPr>
          <p:cNvSpPr/>
          <p:nvPr/>
        </p:nvSpPr>
        <p:spPr>
          <a:xfrm>
            <a:off x="609600" y="3048000"/>
            <a:ext cx="10972800" cy="1219200"/>
          </a:xfrm>
          <a:prstGeom prst="rect">
            <a:avLst/>
          </a:prstGeom>
          <a:noFill/>
          <a:ln/>
        </p:spPr>
        <p:txBody>
          <a:bodyPr wrap="square" rtlCol="0" anchor="ctr"/>
          <a:lstStyle/>
          <a:p>
            <a:pPr algn="ctr" defTabSz="1219170"/>
            <a:r>
              <a:rPr lang="en-US" sz="4267" b="1" dirty="0">
                <a:solidFill>
                  <a:srgbClr val="002060"/>
                </a:solidFill>
                <a:latin typeface="Calibri" panose="020F0502020204030204"/>
              </a:rPr>
              <a:t>PROBLÉMATIQUE &amp; OBJECTIFS</a:t>
            </a:r>
          </a:p>
        </p:txBody>
      </p:sp>
      <p:sp>
        <p:nvSpPr>
          <p:cNvPr id="5" name="Shape 3">
            <a:extLst>
              <a:ext uri="{FF2B5EF4-FFF2-40B4-BE49-F238E27FC236}">
                <a16:creationId xmlns:a16="http://schemas.microsoft.com/office/drawing/2014/main" id="{2EF7FED7-5566-6537-6B00-3DED576AB0A9}"/>
              </a:ext>
            </a:extLst>
          </p:cNvPr>
          <p:cNvSpPr/>
          <p:nvPr/>
        </p:nvSpPr>
        <p:spPr>
          <a:xfrm>
            <a:off x="5181600" y="4511040"/>
            <a:ext cx="1828800" cy="48768"/>
          </a:xfrm>
          <a:prstGeom prst="rect">
            <a:avLst/>
          </a:prstGeom>
          <a:solidFill>
            <a:srgbClr val="F59E0B"/>
          </a:solidFill>
          <a:ln w="12700">
            <a:solidFill>
              <a:srgbClr val="F59E0B"/>
            </a:solidFill>
            <a:prstDash val="solid"/>
          </a:ln>
        </p:spPr>
        <p:txBody>
          <a:bodyPr/>
          <a:lstStyle/>
          <a:p>
            <a:endParaRPr lang="fr-FR"/>
          </a:p>
        </p:txBody>
      </p:sp>
      <p:grpSp>
        <p:nvGrpSpPr>
          <p:cNvPr id="17" name="Groupe 16">
            <a:extLst>
              <a:ext uri="{FF2B5EF4-FFF2-40B4-BE49-F238E27FC236}">
                <a16:creationId xmlns:a16="http://schemas.microsoft.com/office/drawing/2014/main" id="{A3A6F7CA-5242-ED57-8C49-72AAB93CA4D2}"/>
              </a:ext>
            </a:extLst>
          </p:cNvPr>
          <p:cNvGrpSpPr/>
          <p:nvPr/>
        </p:nvGrpSpPr>
        <p:grpSpPr>
          <a:xfrm>
            <a:off x="5594752" y="1197012"/>
            <a:ext cx="1002497" cy="997548"/>
            <a:chOff x="5594751" y="1197012"/>
            <a:chExt cx="1002497" cy="997548"/>
          </a:xfrm>
        </p:grpSpPr>
        <p:grpSp>
          <p:nvGrpSpPr>
            <p:cNvPr id="13" name="Groupe 12">
              <a:extLst>
                <a:ext uri="{FF2B5EF4-FFF2-40B4-BE49-F238E27FC236}">
                  <a16:creationId xmlns:a16="http://schemas.microsoft.com/office/drawing/2014/main" id="{AAA71921-1EBA-9803-6E11-D276BCA8BB68}"/>
                </a:ext>
              </a:extLst>
            </p:cNvPr>
            <p:cNvGrpSpPr/>
            <p:nvPr/>
          </p:nvGrpSpPr>
          <p:grpSpPr>
            <a:xfrm>
              <a:off x="5594751" y="1197012"/>
              <a:ext cx="1002497" cy="997548"/>
              <a:chOff x="6263169" y="2855357"/>
              <a:chExt cx="600075" cy="612815"/>
            </a:xfrm>
          </p:grpSpPr>
          <p:sp>
            <p:nvSpPr>
              <p:cNvPr id="14" name="Organigramme : Connecteur 13">
                <a:extLst>
                  <a:ext uri="{FF2B5EF4-FFF2-40B4-BE49-F238E27FC236}">
                    <a16:creationId xmlns:a16="http://schemas.microsoft.com/office/drawing/2014/main" id="{A9E9D148-F0E9-03B4-EEEE-C3DEB80619C9}"/>
                  </a:ext>
                </a:extLst>
              </p:cNvPr>
              <p:cNvSpPr/>
              <p:nvPr/>
            </p:nvSpPr>
            <p:spPr>
              <a:xfrm>
                <a:off x="6263169" y="2855357"/>
                <a:ext cx="600075" cy="612815"/>
              </a:xfrm>
              <a:prstGeom prst="flowChartConnector">
                <a:avLst/>
              </a:prstGeom>
              <a:solidFill>
                <a:schemeClr val="bg1"/>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I"/>
              </a:p>
            </p:txBody>
          </p:sp>
          <p:sp>
            <p:nvSpPr>
              <p:cNvPr id="15" name="Organigramme : Connecteur 14">
                <a:extLst>
                  <a:ext uri="{FF2B5EF4-FFF2-40B4-BE49-F238E27FC236}">
                    <a16:creationId xmlns:a16="http://schemas.microsoft.com/office/drawing/2014/main" id="{4705B7E8-6E6D-54F2-CB5B-72537F667B1F}"/>
                  </a:ext>
                </a:extLst>
              </p:cNvPr>
              <p:cNvSpPr/>
              <p:nvPr/>
            </p:nvSpPr>
            <p:spPr>
              <a:xfrm>
                <a:off x="6370324" y="2964924"/>
                <a:ext cx="385763" cy="393680"/>
              </a:xfrm>
              <a:prstGeom prst="flowChartConnector">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I" dirty="0"/>
              </a:p>
            </p:txBody>
          </p:sp>
        </p:grpSp>
        <p:pic>
          <p:nvPicPr>
            <p:cNvPr id="16" name="Graphic 1031">
              <a:extLst>
                <a:ext uri="{FF2B5EF4-FFF2-40B4-BE49-F238E27FC236}">
                  <a16:creationId xmlns:a16="http://schemas.microsoft.com/office/drawing/2014/main" id="{D3C6404F-E621-DFC4-222D-9B06E596550F}"/>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867397" y="1467186"/>
              <a:ext cx="457200" cy="457200"/>
            </a:xfrm>
            <a:prstGeom prst="rect">
              <a:avLst/>
            </a:prstGeom>
          </p:spPr>
        </p:pic>
      </p:grpSp>
    </p:spTree>
    <p:extLst>
      <p:ext uri="{BB962C8B-B14F-4D97-AF65-F5344CB8AC3E}">
        <p14:creationId xmlns:p14="http://schemas.microsoft.com/office/powerpoint/2010/main" val="2331530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BEE966-1171-0AF8-0BFD-1FABEE2CBE8A}"/>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0002279C-BA5F-A6AC-E78C-25E4D667F5EB}"/>
              </a:ext>
            </a:extLst>
          </p:cNvPr>
          <p:cNvSpPr txBox="1">
            <a:spLocks/>
          </p:cNvSpPr>
          <p:nvPr/>
        </p:nvSpPr>
        <p:spPr>
          <a:xfrm>
            <a:off x="4306944" y="226883"/>
            <a:ext cx="3578111" cy="997549"/>
          </a:xfrm>
          <a:prstGeom prst="rect">
            <a:avLst/>
          </a:prstGeom>
          <a:ln w="19050">
            <a:noFill/>
          </a:ln>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n-lt"/>
                <a:ea typeface="+mj-ea"/>
                <a:cs typeface="+mj-cs"/>
              </a:defRPr>
            </a:lvl1pPr>
          </a:lstStyle>
          <a:p>
            <a:r>
              <a:rPr lang="fr-CI" sz="4000" b="1" dirty="0">
                <a:solidFill>
                  <a:srgbClr val="002060"/>
                </a:solidFill>
                <a:latin typeface="+mn-lt" panose="02020603050405020304" pitchFamily="18" charset="0"/>
                <a:cs typeface="+mn-cs" panose="02020603050405020304" pitchFamily="18" charset="0"/>
              </a:rPr>
              <a:t>Problématique</a:t>
            </a:r>
          </a:p>
        </p:txBody>
      </p:sp>
      <p:sp>
        <p:nvSpPr>
          <p:cNvPr id="7" name="Rectangle : avec coins arrondis en diagonale 6">
            <a:extLst>
              <a:ext uri="{FF2B5EF4-FFF2-40B4-BE49-F238E27FC236}">
                <a16:creationId xmlns:a16="http://schemas.microsoft.com/office/drawing/2014/main" id="{6C877784-3D14-A3C1-FEF1-0EC4A4DC6C4B}"/>
              </a:ext>
            </a:extLst>
          </p:cNvPr>
          <p:cNvSpPr/>
          <p:nvPr/>
        </p:nvSpPr>
        <p:spPr>
          <a:xfrm>
            <a:off x="3061318" y="2205203"/>
            <a:ext cx="8458200" cy="2826463"/>
          </a:xfrm>
          <a:prstGeom prst="round2DiagRect">
            <a:avLst/>
          </a:prstGeom>
          <a:solidFill>
            <a:srgbClr val="002060"/>
          </a:solidFill>
          <a:ln>
            <a:noFill/>
          </a:ln>
          <a:effectLst>
            <a:outerShdw blurRad="469900" dist="38100" dir="2700000" algn="tl" rotWithShape="0">
              <a:prstClr val="black">
                <a:alpha val="40000"/>
              </a:prstClr>
            </a:outerShdw>
            <a:reflection blurRad="6350" stA="50000" endA="300" endPos="38500" dist="508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2000" b="1" dirty="0">
                <a:latin typeface="+mn-lt" panose="02020603050405020304" pitchFamily="18" charset="0"/>
                <a:cs typeface="+mn-cs" panose="02020603050405020304" pitchFamily="18" charset="0"/>
              </a:rPr>
              <a:t>Dans quelle mesure un modèle de Machine Learning peut-il prédire mensuellement le comportement de paiement des abonnés PEPT, afin de fiabiliser les projections de flux et renforcer la crédibilité du processus de titrisation d'ALC ?</a:t>
            </a:r>
          </a:p>
        </p:txBody>
      </p:sp>
      <p:pic>
        <p:nvPicPr>
          <p:cNvPr id="9" name="Image 8">
            <a:extLst>
              <a:ext uri="{FF2B5EF4-FFF2-40B4-BE49-F238E27FC236}">
                <a16:creationId xmlns:a16="http://schemas.microsoft.com/office/drawing/2014/main" id="{8D43C6B6-CF8C-5299-3992-66736200D010}"/>
              </a:ext>
            </a:extLst>
          </p:cNvPr>
          <p:cNvPicPr>
            <a:picLocks noChangeAspect="1"/>
          </p:cNvPicPr>
          <p:nvPr/>
        </p:nvPicPr>
        <p:blipFill>
          <a:blip r:embed="rId2">
            <a:extLst>
              <a:ext uri="{28A0092B-C50C-407E-A947-70E740481C1C}">
                <a14:useLocalDpi xmlns:a14="http://schemas.microsoft.com/office/drawing/2010/main" val="0"/>
              </a:ext>
            </a:extLst>
          </a:blip>
          <a:srcRect l="10064" r="16575"/>
          <a:stretch>
            <a:fillRect/>
          </a:stretch>
        </p:blipFill>
        <p:spPr>
          <a:xfrm>
            <a:off x="282633" y="952086"/>
            <a:ext cx="3578111" cy="4877481"/>
          </a:xfrm>
          <a:prstGeom prst="rect">
            <a:avLst/>
          </a:prstGeom>
        </p:spPr>
      </p:pic>
      <p:sp>
        <p:nvSpPr>
          <p:cNvPr id="2" name="ZoneTexte 1">
            <a:extLst>
              <a:ext uri="{FF2B5EF4-FFF2-40B4-BE49-F238E27FC236}">
                <a16:creationId xmlns:a16="http://schemas.microsoft.com/office/drawing/2014/main" id="{3EAA9CA9-1F6A-A98E-3E2E-9376FAE93FA5}"/>
              </a:ext>
            </a:extLst>
          </p:cNvPr>
          <p:cNvSpPr txBox="1"/>
          <p:nvPr/>
        </p:nvSpPr>
        <p:spPr>
          <a:xfrm>
            <a:off x="61747" y="40933"/>
            <a:ext cx="5767553" cy="369332"/>
          </a:xfrm>
          <a:prstGeom prst="rect">
            <a:avLst/>
          </a:prstGeom>
          <a:noFill/>
          <a:effectLst>
            <a:reflection stA="63000" endPos="11000" dist="50800" dir="5400000" sy="-100000" algn="bl" rotWithShape="0"/>
          </a:effectLst>
        </p:spPr>
        <p:txBody>
          <a:bodyPr wrap="square" rtlCol="0">
            <a:spAutoFit/>
          </a:bodyPr>
          <a:lstStyle/>
          <a:p>
            <a:r>
              <a:rPr lang="fr-CI" b="1" dirty="0">
                <a:solidFill>
                  <a:schemeClr val="accent1">
                    <a:lumMod val="50000"/>
                  </a:schemeClr>
                </a:solidFill>
                <a:latin typeface="+mn-lt" panose="020E0705020206020404" pitchFamily="34" charset="0"/>
              </a:rPr>
              <a:t>Partie 2 : Problématique &amp; Objectifs</a:t>
            </a:r>
          </a:p>
        </p:txBody>
      </p:sp>
      <p:grpSp>
        <p:nvGrpSpPr>
          <p:cNvPr id="14" name="Groupe 13">
            <a:extLst>
              <a:ext uri="{FF2B5EF4-FFF2-40B4-BE49-F238E27FC236}">
                <a16:creationId xmlns:a16="http://schemas.microsoft.com/office/drawing/2014/main" id="{336B2847-76A8-0F8B-C394-0111DF018239}"/>
              </a:ext>
            </a:extLst>
          </p:cNvPr>
          <p:cNvGrpSpPr/>
          <p:nvPr/>
        </p:nvGrpSpPr>
        <p:grpSpPr>
          <a:xfrm>
            <a:off x="11127755" y="40933"/>
            <a:ext cx="1002497" cy="997548"/>
            <a:chOff x="5594751" y="1197012"/>
            <a:chExt cx="1002497" cy="997548"/>
          </a:xfrm>
        </p:grpSpPr>
        <p:grpSp>
          <p:nvGrpSpPr>
            <p:cNvPr id="15" name="Groupe 14">
              <a:extLst>
                <a:ext uri="{FF2B5EF4-FFF2-40B4-BE49-F238E27FC236}">
                  <a16:creationId xmlns:a16="http://schemas.microsoft.com/office/drawing/2014/main" id="{F416354E-D407-68F6-A998-90B8378495C5}"/>
                </a:ext>
              </a:extLst>
            </p:cNvPr>
            <p:cNvGrpSpPr/>
            <p:nvPr/>
          </p:nvGrpSpPr>
          <p:grpSpPr>
            <a:xfrm>
              <a:off x="5594751" y="1197012"/>
              <a:ext cx="1002497" cy="997548"/>
              <a:chOff x="6263169" y="2855357"/>
              <a:chExt cx="600075" cy="612815"/>
            </a:xfrm>
          </p:grpSpPr>
          <p:sp>
            <p:nvSpPr>
              <p:cNvPr id="17" name="Organigramme : Connecteur 16">
                <a:extLst>
                  <a:ext uri="{FF2B5EF4-FFF2-40B4-BE49-F238E27FC236}">
                    <a16:creationId xmlns:a16="http://schemas.microsoft.com/office/drawing/2014/main" id="{07D05B88-B9B3-1A2E-CF84-5B24AB966A1E}"/>
                  </a:ext>
                </a:extLst>
              </p:cNvPr>
              <p:cNvSpPr/>
              <p:nvPr/>
            </p:nvSpPr>
            <p:spPr>
              <a:xfrm>
                <a:off x="6263169" y="2855357"/>
                <a:ext cx="600075" cy="612815"/>
              </a:xfrm>
              <a:prstGeom prst="flowChartConnector">
                <a:avLst/>
              </a:prstGeom>
              <a:solidFill>
                <a:schemeClr val="bg1"/>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I"/>
              </a:p>
            </p:txBody>
          </p:sp>
          <p:sp>
            <p:nvSpPr>
              <p:cNvPr id="18" name="Organigramme : Connecteur 17">
                <a:extLst>
                  <a:ext uri="{FF2B5EF4-FFF2-40B4-BE49-F238E27FC236}">
                    <a16:creationId xmlns:a16="http://schemas.microsoft.com/office/drawing/2014/main" id="{7E7884DA-DE63-63CE-D6CC-F30510F30655}"/>
                  </a:ext>
                </a:extLst>
              </p:cNvPr>
              <p:cNvSpPr/>
              <p:nvPr/>
            </p:nvSpPr>
            <p:spPr>
              <a:xfrm>
                <a:off x="6370324" y="2964924"/>
                <a:ext cx="385763" cy="393680"/>
              </a:xfrm>
              <a:prstGeom prst="flowChartConnector">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I" dirty="0"/>
              </a:p>
            </p:txBody>
          </p:sp>
        </p:grpSp>
        <p:pic>
          <p:nvPicPr>
            <p:cNvPr id="16" name="Graphic 1031">
              <a:extLst>
                <a:ext uri="{FF2B5EF4-FFF2-40B4-BE49-F238E27FC236}">
                  <a16:creationId xmlns:a16="http://schemas.microsoft.com/office/drawing/2014/main" id="{E8BFAEEC-F489-9E52-823F-5ACA6B02E070}"/>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867397" y="1467186"/>
              <a:ext cx="457200" cy="457200"/>
            </a:xfrm>
            <a:prstGeom prst="rect">
              <a:avLst/>
            </a:prstGeom>
          </p:spPr>
        </p:pic>
      </p:grpSp>
    </p:spTree>
    <p:extLst>
      <p:ext uri="{BB962C8B-B14F-4D97-AF65-F5344CB8AC3E}">
        <p14:creationId xmlns:p14="http://schemas.microsoft.com/office/powerpoint/2010/main" val="20617791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49A645-780E-7DFF-49F7-B271CA36CB1C}"/>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223C3B55-158D-EED8-A364-2C52E0E6DDD9}"/>
              </a:ext>
            </a:extLst>
          </p:cNvPr>
          <p:cNvSpPr txBox="1">
            <a:spLocks/>
          </p:cNvSpPr>
          <p:nvPr/>
        </p:nvSpPr>
        <p:spPr>
          <a:xfrm>
            <a:off x="3048000" y="381000"/>
            <a:ext cx="6096000" cy="997549"/>
          </a:xfrm>
          <a:prstGeom prst="rect">
            <a:avLst/>
          </a:prstGeom>
          <a:ln w="19050">
            <a:noFill/>
          </a:ln>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n-lt"/>
                <a:ea typeface="+mj-ea"/>
                <a:cs typeface="+mj-cs"/>
              </a:defRPr>
            </a:lvl1pPr>
          </a:lstStyle>
          <a:p>
            <a:pPr algn="ctr"/>
            <a:r>
              <a:rPr lang="fr-FR" sz="4000" b="1" dirty="0">
                <a:solidFill>
                  <a:srgbClr val="002060"/>
                </a:solidFill>
                <a:latin typeface="+mn-lt" panose="02020603050405020304" pitchFamily="18" charset="0"/>
                <a:cs typeface="+mn-cs" panose="02020603050405020304" pitchFamily="18" charset="0"/>
              </a:rPr>
              <a:t>Objectif général</a:t>
            </a:r>
          </a:p>
        </p:txBody>
      </p:sp>
      <p:sp>
        <p:nvSpPr>
          <p:cNvPr id="8" name="Rectangle : avec coins arrondis en diagonale 7">
            <a:extLst>
              <a:ext uri="{FF2B5EF4-FFF2-40B4-BE49-F238E27FC236}">
                <a16:creationId xmlns:a16="http://schemas.microsoft.com/office/drawing/2014/main" id="{5AD33A33-5CDC-4974-8E6B-F7DAD84CD7F0}"/>
              </a:ext>
            </a:extLst>
          </p:cNvPr>
          <p:cNvSpPr/>
          <p:nvPr/>
        </p:nvSpPr>
        <p:spPr>
          <a:xfrm>
            <a:off x="1866900" y="2091914"/>
            <a:ext cx="8458200" cy="2826463"/>
          </a:xfrm>
          <a:prstGeom prst="round2DiagRect">
            <a:avLst>
              <a:gd name="adj1" fmla="val 0"/>
              <a:gd name="adj2" fmla="val 22352"/>
            </a:avLst>
          </a:prstGeom>
          <a:solidFill>
            <a:srgbClr val="002060"/>
          </a:solidFill>
          <a:ln>
            <a:noFill/>
          </a:ln>
          <a:effectLst>
            <a:outerShdw blurRad="469900" dist="38100" dir="2700000" algn="tl" rotWithShape="0">
              <a:prstClr val="black">
                <a:alpha val="40000"/>
              </a:prstClr>
            </a:outerShdw>
            <a:reflection blurRad="6350" stA="50000" endA="300" endPos="38500" dist="508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2000" b="1" dirty="0">
                <a:solidFill>
                  <a:srgbClr val="FFFFFF"/>
                </a:solidFill>
              </a:rPr>
              <a:t>Concevoir et déployer un modèle prédictif capable d'estimer, chaque mois et pour chaque abonné actif du portefeuille PEPT, la probabilité de retard dans le paiement de la redevance mensuelle, afin de fournir à ALC un outil performant de gestion proactive du risque, renforçant ainsi la fiabilité et la crédibilité de ses opérations de titrisation.</a:t>
            </a:r>
          </a:p>
        </p:txBody>
      </p:sp>
      <p:sp>
        <p:nvSpPr>
          <p:cNvPr id="9" name="ZoneTexte 8">
            <a:extLst>
              <a:ext uri="{FF2B5EF4-FFF2-40B4-BE49-F238E27FC236}">
                <a16:creationId xmlns:a16="http://schemas.microsoft.com/office/drawing/2014/main" id="{22EA30DD-86BE-84FC-F98E-6DB6B92452F8}"/>
              </a:ext>
            </a:extLst>
          </p:cNvPr>
          <p:cNvSpPr txBox="1"/>
          <p:nvPr/>
        </p:nvSpPr>
        <p:spPr>
          <a:xfrm>
            <a:off x="61747" y="40933"/>
            <a:ext cx="5767553" cy="369332"/>
          </a:xfrm>
          <a:prstGeom prst="rect">
            <a:avLst/>
          </a:prstGeom>
          <a:noFill/>
          <a:effectLst>
            <a:reflection stA="63000" endPos="11000" dist="50800" dir="5400000" sy="-100000" algn="bl" rotWithShape="0"/>
          </a:effectLst>
        </p:spPr>
        <p:txBody>
          <a:bodyPr wrap="square" rtlCol="0">
            <a:spAutoFit/>
          </a:bodyPr>
          <a:lstStyle/>
          <a:p>
            <a:r>
              <a:rPr lang="fr-CI" b="1" dirty="0">
                <a:solidFill>
                  <a:schemeClr val="accent1">
                    <a:lumMod val="50000"/>
                  </a:schemeClr>
                </a:solidFill>
                <a:latin typeface="+mn-lt" panose="020E0705020206020404" pitchFamily="34" charset="0"/>
              </a:rPr>
              <a:t>Partie 2 : Problématique &amp; Objectifs</a:t>
            </a:r>
          </a:p>
        </p:txBody>
      </p:sp>
      <p:grpSp>
        <p:nvGrpSpPr>
          <p:cNvPr id="10" name="Groupe 9">
            <a:extLst>
              <a:ext uri="{FF2B5EF4-FFF2-40B4-BE49-F238E27FC236}">
                <a16:creationId xmlns:a16="http://schemas.microsoft.com/office/drawing/2014/main" id="{08ABA3DA-2882-8F1B-0CC2-04EB1ECF1E68}"/>
              </a:ext>
            </a:extLst>
          </p:cNvPr>
          <p:cNvGrpSpPr/>
          <p:nvPr/>
        </p:nvGrpSpPr>
        <p:grpSpPr>
          <a:xfrm>
            <a:off x="11127755" y="40933"/>
            <a:ext cx="1002497" cy="997548"/>
            <a:chOff x="5594751" y="1197012"/>
            <a:chExt cx="1002497" cy="997548"/>
          </a:xfrm>
        </p:grpSpPr>
        <p:grpSp>
          <p:nvGrpSpPr>
            <p:cNvPr id="11" name="Groupe 10">
              <a:extLst>
                <a:ext uri="{FF2B5EF4-FFF2-40B4-BE49-F238E27FC236}">
                  <a16:creationId xmlns:a16="http://schemas.microsoft.com/office/drawing/2014/main" id="{0397FA9F-E339-EBE4-40A7-26EEDDE3BB1C}"/>
                </a:ext>
              </a:extLst>
            </p:cNvPr>
            <p:cNvGrpSpPr/>
            <p:nvPr/>
          </p:nvGrpSpPr>
          <p:grpSpPr>
            <a:xfrm>
              <a:off x="5594751" y="1197012"/>
              <a:ext cx="1002497" cy="997548"/>
              <a:chOff x="6263169" y="2855357"/>
              <a:chExt cx="600075" cy="612815"/>
            </a:xfrm>
          </p:grpSpPr>
          <p:sp>
            <p:nvSpPr>
              <p:cNvPr id="13" name="Organigramme : Connecteur 12">
                <a:extLst>
                  <a:ext uri="{FF2B5EF4-FFF2-40B4-BE49-F238E27FC236}">
                    <a16:creationId xmlns:a16="http://schemas.microsoft.com/office/drawing/2014/main" id="{D19780BA-7509-139D-6E13-AB3813F85FBE}"/>
                  </a:ext>
                </a:extLst>
              </p:cNvPr>
              <p:cNvSpPr/>
              <p:nvPr/>
            </p:nvSpPr>
            <p:spPr>
              <a:xfrm>
                <a:off x="6263169" y="2855357"/>
                <a:ext cx="600075" cy="612815"/>
              </a:xfrm>
              <a:prstGeom prst="flowChartConnector">
                <a:avLst/>
              </a:prstGeom>
              <a:solidFill>
                <a:schemeClr val="bg1"/>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I"/>
              </a:p>
            </p:txBody>
          </p:sp>
          <p:sp>
            <p:nvSpPr>
              <p:cNvPr id="14" name="Organigramme : Connecteur 13">
                <a:extLst>
                  <a:ext uri="{FF2B5EF4-FFF2-40B4-BE49-F238E27FC236}">
                    <a16:creationId xmlns:a16="http://schemas.microsoft.com/office/drawing/2014/main" id="{59FC0AA7-7413-F580-9D5B-561A4027124E}"/>
                  </a:ext>
                </a:extLst>
              </p:cNvPr>
              <p:cNvSpPr/>
              <p:nvPr/>
            </p:nvSpPr>
            <p:spPr>
              <a:xfrm>
                <a:off x="6370324" y="2964924"/>
                <a:ext cx="385763" cy="393680"/>
              </a:xfrm>
              <a:prstGeom prst="flowChartConnector">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I" dirty="0"/>
              </a:p>
            </p:txBody>
          </p:sp>
        </p:grpSp>
        <p:pic>
          <p:nvPicPr>
            <p:cNvPr id="12" name="Graphic 1031">
              <a:extLst>
                <a:ext uri="{FF2B5EF4-FFF2-40B4-BE49-F238E27FC236}">
                  <a16:creationId xmlns:a16="http://schemas.microsoft.com/office/drawing/2014/main" id="{C05693F8-0C38-7C4B-A87A-AABAE39055C9}"/>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5867397" y="1467186"/>
              <a:ext cx="457200" cy="457200"/>
            </a:xfrm>
            <a:prstGeom prst="rect">
              <a:avLst/>
            </a:prstGeom>
          </p:spPr>
        </p:pic>
      </p:grpSp>
    </p:spTree>
    <p:extLst>
      <p:ext uri="{BB962C8B-B14F-4D97-AF65-F5344CB8AC3E}">
        <p14:creationId xmlns:p14="http://schemas.microsoft.com/office/powerpoint/2010/main" val="1594123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CABF1C-2742-4B43-6BA1-4B1A990C545B}"/>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A92E2FDD-FD1C-5C4D-A552-49FA99BC5FA9}"/>
              </a:ext>
            </a:extLst>
          </p:cNvPr>
          <p:cNvSpPr txBox="1">
            <a:spLocks/>
          </p:cNvSpPr>
          <p:nvPr/>
        </p:nvSpPr>
        <p:spPr>
          <a:xfrm>
            <a:off x="2921000" y="355600"/>
            <a:ext cx="6350000" cy="1003300"/>
          </a:xfrm>
          <a:prstGeom prst="rect">
            <a:avLst/>
          </a:prstGeom>
          <a:ln w="19050">
            <a:noFill/>
          </a:ln>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n-lt"/>
                <a:ea typeface="+mj-ea"/>
                <a:cs typeface="+mj-cs"/>
              </a:defRPr>
            </a:lvl1pPr>
          </a:lstStyle>
          <a:p>
            <a:r>
              <a:rPr lang="fr-CI" sz="4000" b="1" dirty="0">
                <a:solidFill>
                  <a:srgbClr val="002060"/>
                </a:solidFill>
                <a:latin typeface="+mn-lt" panose="02020603050405020304" pitchFamily="18" charset="0"/>
                <a:cs typeface="+mn-cs" panose="02020603050405020304" pitchFamily="18" charset="0"/>
              </a:rPr>
              <a:t>Objectifs spécifiques</a:t>
            </a:r>
          </a:p>
        </p:txBody>
      </p:sp>
      <p:grpSp>
        <p:nvGrpSpPr>
          <p:cNvPr id="58" name="Groupe 57">
            <a:extLst>
              <a:ext uri="{FF2B5EF4-FFF2-40B4-BE49-F238E27FC236}">
                <a16:creationId xmlns:a16="http://schemas.microsoft.com/office/drawing/2014/main" id="{4DBD5AE4-8739-B5A6-083A-0D4D7024FBD3}"/>
              </a:ext>
            </a:extLst>
          </p:cNvPr>
          <p:cNvGrpSpPr/>
          <p:nvPr/>
        </p:nvGrpSpPr>
        <p:grpSpPr>
          <a:xfrm>
            <a:off x="5617494" y="2048760"/>
            <a:ext cx="3680940" cy="4236293"/>
            <a:chOff x="6134604" y="2141034"/>
            <a:chExt cx="3680940" cy="4236293"/>
          </a:xfrm>
        </p:grpSpPr>
        <p:sp>
          <p:nvSpPr>
            <p:cNvPr id="59" name="ZoneTexte 58">
              <a:extLst>
                <a:ext uri="{FF2B5EF4-FFF2-40B4-BE49-F238E27FC236}">
                  <a16:creationId xmlns:a16="http://schemas.microsoft.com/office/drawing/2014/main" id="{9DB74095-8A80-E9C5-E311-DBBF3C97CECF}"/>
                </a:ext>
              </a:extLst>
            </p:cNvPr>
            <p:cNvSpPr txBox="1"/>
            <p:nvPr/>
          </p:nvSpPr>
          <p:spPr>
            <a:xfrm>
              <a:off x="6134604" y="3730449"/>
              <a:ext cx="1059366" cy="2646878"/>
            </a:xfrm>
            <a:prstGeom prst="rect">
              <a:avLst/>
            </a:prstGeom>
            <a:noFill/>
            <a:effectLst>
              <a:outerShdw blurRad="317500" dist="825500" dir="10800000" sx="66000" sy="66000" algn="r" rotWithShape="0">
                <a:prstClr val="black">
                  <a:alpha val="40000"/>
                </a:prstClr>
              </a:outerShdw>
            </a:effectLst>
          </p:spPr>
          <p:txBody>
            <a:bodyPr wrap="square" rtlCol="0">
              <a:spAutoFit/>
            </a:bodyPr>
            <a:lstStyle/>
            <a:p>
              <a:r>
                <a:rPr lang="fr-CI" sz="16600">
                  <a:solidFill>
                    <a:schemeClr val="accent5">
                      <a:lumMod val="75000"/>
                    </a:schemeClr>
                  </a:solidFill>
                  <a:latin typeface="+mn-lt" panose="020B0903060703020204" pitchFamily="34" charset="0"/>
                  <a:cs typeface="+mn-cs" panose="02020603050405020304" pitchFamily="18" charset="0"/>
                </a:rPr>
                <a:t>3</a:t>
              </a:r>
            </a:p>
          </p:txBody>
        </p:sp>
        <p:sp>
          <p:nvSpPr>
            <p:cNvPr id="60" name="Parallélogramme 59">
              <a:extLst>
                <a:ext uri="{FF2B5EF4-FFF2-40B4-BE49-F238E27FC236}">
                  <a16:creationId xmlns:a16="http://schemas.microsoft.com/office/drawing/2014/main" id="{0E4E21E6-30BE-4F6C-7922-25F32434D1E4}"/>
                </a:ext>
              </a:extLst>
            </p:cNvPr>
            <p:cNvSpPr/>
            <p:nvPr/>
          </p:nvSpPr>
          <p:spPr>
            <a:xfrm>
              <a:off x="6619277" y="2141034"/>
              <a:ext cx="3196267" cy="4058624"/>
            </a:xfrm>
            <a:prstGeom prst="parallelogram">
              <a:avLst/>
            </a:prstGeom>
            <a:solidFill>
              <a:schemeClr val="bg1"/>
            </a:solidFill>
            <a:ln>
              <a:noFill/>
            </a:ln>
            <a:effectLst>
              <a:outerShdw blurRad="317500" dist="508000" dir="10800000" sx="65000" sy="65000" algn="ctr" rotWithShape="0">
                <a:prstClr val="black">
                  <a:alpha val="40000"/>
                </a:prstClr>
              </a:outerShdw>
              <a:reflection blurRad="317500" stA="33000" endPos="65000" dist="11938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I"/>
            </a:p>
          </p:txBody>
        </p:sp>
        <p:grpSp>
          <p:nvGrpSpPr>
            <p:cNvPr id="61" name="Groupe 60">
              <a:extLst>
                <a:ext uri="{FF2B5EF4-FFF2-40B4-BE49-F238E27FC236}">
                  <a16:creationId xmlns:a16="http://schemas.microsoft.com/office/drawing/2014/main" id="{D3D53522-CBE7-1E75-1307-724743ACBBDF}"/>
                </a:ext>
              </a:extLst>
            </p:cNvPr>
            <p:cNvGrpSpPr/>
            <p:nvPr/>
          </p:nvGrpSpPr>
          <p:grpSpPr>
            <a:xfrm>
              <a:off x="6750652" y="2624113"/>
              <a:ext cx="2127742" cy="1536091"/>
              <a:chOff x="758048" y="2691441"/>
              <a:chExt cx="2127742" cy="1536091"/>
            </a:xfrm>
            <a:solidFill>
              <a:schemeClr val="accent1">
                <a:lumMod val="75000"/>
              </a:schemeClr>
            </a:solidFill>
            <a:effectLst>
              <a:outerShdw blurRad="203200" dist="101600" dir="4800000" algn="tl" rotWithShape="0">
                <a:prstClr val="black">
                  <a:alpha val="40000"/>
                </a:prstClr>
              </a:outerShdw>
            </a:effectLst>
          </p:grpSpPr>
          <p:sp>
            <p:nvSpPr>
              <p:cNvPr id="64" name="Forme libre : forme 63">
                <a:extLst>
                  <a:ext uri="{FF2B5EF4-FFF2-40B4-BE49-F238E27FC236}">
                    <a16:creationId xmlns:a16="http://schemas.microsoft.com/office/drawing/2014/main" id="{8C3223E3-DD98-D5C1-C3EF-06C8B930F8FE}"/>
                  </a:ext>
                </a:extLst>
              </p:cNvPr>
              <p:cNvSpPr/>
              <p:nvPr/>
            </p:nvSpPr>
            <p:spPr>
              <a:xfrm>
                <a:off x="758048" y="2691441"/>
                <a:ext cx="2127742" cy="804887"/>
              </a:xfrm>
              <a:custGeom>
                <a:avLst/>
                <a:gdLst>
                  <a:gd name="connsiteX0" fmla="*/ 197689 w 1982280"/>
                  <a:gd name="connsiteY0" fmla="*/ 0 h 862642"/>
                  <a:gd name="connsiteX1" fmla="*/ 1550959 w 1982280"/>
                  <a:gd name="connsiteY1" fmla="*/ 0 h 862642"/>
                  <a:gd name="connsiteX2" fmla="*/ 1982280 w 1982280"/>
                  <a:gd name="connsiteY2" fmla="*/ 431321 h 862642"/>
                  <a:gd name="connsiteX3" fmla="*/ 1550959 w 1982280"/>
                  <a:gd name="connsiteY3" fmla="*/ 862642 h 862642"/>
                  <a:gd name="connsiteX4" fmla="*/ 0 w 1982280"/>
                  <a:gd name="connsiteY4" fmla="*/ 862642 h 8626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82280" h="862642">
                    <a:moveTo>
                      <a:pt x="197689" y="0"/>
                    </a:moveTo>
                    <a:lnTo>
                      <a:pt x="1550959" y="0"/>
                    </a:lnTo>
                    <a:cubicBezTo>
                      <a:pt x="1789171" y="0"/>
                      <a:pt x="1982280" y="193109"/>
                      <a:pt x="1982280" y="431321"/>
                    </a:cubicBezTo>
                    <a:cubicBezTo>
                      <a:pt x="1982280" y="669533"/>
                      <a:pt x="1789171" y="862642"/>
                      <a:pt x="1550959" y="862642"/>
                    </a:cubicBezTo>
                    <a:lnTo>
                      <a:pt x="0" y="862642"/>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fr-CI" sz="2000" b="1">
                    <a:solidFill>
                      <a:schemeClr val="bg1"/>
                    </a:solidFill>
                    <a:latin typeface="+mn-lt" panose="02020603050405020304" pitchFamily="18" charset="0"/>
                    <a:cs typeface="+mn-cs" panose="02020603050405020304" pitchFamily="18" charset="0"/>
                  </a:rPr>
                  <a:t>Modélisation</a:t>
                </a:r>
              </a:p>
            </p:txBody>
          </p:sp>
          <p:sp>
            <p:nvSpPr>
              <p:cNvPr id="67" name="Triangle isocèle 66">
                <a:extLst>
                  <a:ext uri="{FF2B5EF4-FFF2-40B4-BE49-F238E27FC236}">
                    <a16:creationId xmlns:a16="http://schemas.microsoft.com/office/drawing/2014/main" id="{95E292A3-7389-D33D-5476-B6CF580E3679}"/>
                  </a:ext>
                </a:extLst>
              </p:cNvPr>
              <p:cNvSpPr/>
              <p:nvPr/>
            </p:nvSpPr>
            <p:spPr>
              <a:xfrm rot="10800000">
                <a:off x="758545" y="3489975"/>
                <a:ext cx="409065" cy="737557"/>
              </a:xfrm>
              <a:prstGeom prst="triangle">
                <a:avLst>
                  <a:gd name="adj" fmla="val 38672"/>
                </a:avLst>
              </a:prstGeom>
              <a:grpFill/>
              <a:ln>
                <a:noFill/>
              </a:ln>
              <a:effectLst>
                <a:innerShdw blurRad="266700" dist="50800" dir="81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I">
                  <a:solidFill>
                    <a:schemeClr val="tx2">
                      <a:lumMod val="40000"/>
                      <a:lumOff val="60000"/>
                    </a:schemeClr>
                  </a:solidFill>
                </a:endParaRPr>
              </a:p>
            </p:txBody>
          </p:sp>
        </p:grpSp>
        <p:sp>
          <p:nvSpPr>
            <p:cNvPr id="63" name="ZoneTexte 62">
              <a:extLst>
                <a:ext uri="{FF2B5EF4-FFF2-40B4-BE49-F238E27FC236}">
                  <a16:creationId xmlns:a16="http://schemas.microsoft.com/office/drawing/2014/main" id="{D97C0E66-60B1-44A1-38E1-20D3410EDBF2}"/>
                </a:ext>
              </a:extLst>
            </p:cNvPr>
            <p:cNvSpPr txBox="1"/>
            <p:nvPr/>
          </p:nvSpPr>
          <p:spPr>
            <a:xfrm>
              <a:off x="7269576" y="3546161"/>
              <a:ext cx="1849087" cy="2308324"/>
            </a:xfrm>
            <a:prstGeom prst="rect">
              <a:avLst/>
            </a:prstGeom>
            <a:noFill/>
          </p:spPr>
          <p:txBody>
            <a:bodyPr wrap="square" rtlCol="0">
              <a:spAutoFit/>
            </a:bodyPr>
            <a:lstStyle/>
            <a:p>
              <a:r>
                <a:rPr lang="fr-FR" dirty="0">
                  <a:latin typeface="+mn-lt" panose="02020603050405020304" pitchFamily="18" charset="0"/>
                  <a:cs typeface="+mn-cs" panose="02020603050405020304" pitchFamily="18" charset="0"/>
                </a:rPr>
                <a:t>Entraîner et comparer 3 algorithmes de Machine Learning</a:t>
              </a:r>
              <a:endParaRPr lang="fr-CI" dirty="0">
                <a:latin typeface="+mn-lt" panose="02020603050405020304" pitchFamily="18" charset="0"/>
                <a:cs typeface="+mn-cs" panose="02020603050405020304" pitchFamily="18" charset="0"/>
              </a:endParaRPr>
            </a:p>
          </p:txBody>
        </p:sp>
      </p:grpSp>
      <p:grpSp>
        <p:nvGrpSpPr>
          <p:cNvPr id="72" name="Groupe 71">
            <a:extLst>
              <a:ext uri="{FF2B5EF4-FFF2-40B4-BE49-F238E27FC236}">
                <a16:creationId xmlns:a16="http://schemas.microsoft.com/office/drawing/2014/main" id="{A064B724-51DE-49AA-442A-CCF45DE1C336}"/>
              </a:ext>
            </a:extLst>
          </p:cNvPr>
          <p:cNvGrpSpPr/>
          <p:nvPr/>
        </p:nvGrpSpPr>
        <p:grpSpPr>
          <a:xfrm>
            <a:off x="92343" y="2091826"/>
            <a:ext cx="3588597" cy="4236293"/>
            <a:chOff x="626004" y="2178058"/>
            <a:chExt cx="3680940" cy="4236293"/>
          </a:xfrm>
        </p:grpSpPr>
        <p:sp>
          <p:nvSpPr>
            <p:cNvPr id="73" name="ZoneTexte 72">
              <a:extLst>
                <a:ext uri="{FF2B5EF4-FFF2-40B4-BE49-F238E27FC236}">
                  <a16:creationId xmlns:a16="http://schemas.microsoft.com/office/drawing/2014/main" id="{29E652D4-9B8A-FEFA-11D7-503710B0A7C4}"/>
                </a:ext>
              </a:extLst>
            </p:cNvPr>
            <p:cNvSpPr txBox="1"/>
            <p:nvPr/>
          </p:nvSpPr>
          <p:spPr>
            <a:xfrm>
              <a:off x="626004" y="3767473"/>
              <a:ext cx="1059366" cy="2646878"/>
            </a:xfrm>
            <a:prstGeom prst="rect">
              <a:avLst/>
            </a:prstGeom>
            <a:noFill/>
            <a:effectLst>
              <a:outerShdw blurRad="317500" dist="825500" dir="10800000" sx="66000" sy="66000" algn="r" rotWithShape="0">
                <a:prstClr val="black">
                  <a:alpha val="40000"/>
                </a:prstClr>
              </a:outerShdw>
            </a:effectLst>
          </p:spPr>
          <p:txBody>
            <a:bodyPr wrap="square" rtlCol="0">
              <a:spAutoFit/>
            </a:bodyPr>
            <a:lstStyle/>
            <a:p>
              <a:r>
                <a:rPr lang="fr-CI" sz="16600">
                  <a:solidFill>
                    <a:schemeClr val="tx2">
                      <a:lumMod val="40000"/>
                      <a:lumOff val="60000"/>
                    </a:schemeClr>
                  </a:solidFill>
                  <a:latin typeface="+mn-lt" panose="020B0903060703020204" pitchFamily="34" charset="0"/>
                  <a:cs typeface="+mn-cs" panose="02020603050405020304" pitchFamily="18" charset="0"/>
                </a:rPr>
                <a:t>1</a:t>
              </a:r>
            </a:p>
          </p:txBody>
        </p:sp>
        <p:sp>
          <p:nvSpPr>
            <p:cNvPr id="74" name="Parallélogramme 73">
              <a:extLst>
                <a:ext uri="{FF2B5EF4-FFF2-40B4-BE49-F238E27FC236}">
                  <a16:creationId xmlns:a16="http://schemas.microsoft.com/office/drawing/2014/main" id="{993433A5-9F1B-350F-C679-394DA8EB2D62}"/>
                </a:ext>
              </a:extLst>
            </p:cNvPr>
            <p:cNvSpPr/>
            <p:nvPr/>
          </p:nvSpPr>
          <p:spPr>
            <a:xfrm>
              <a:off x="1110677" y="2178058"/>
              <a:ext cx="3196267" cy="4058624"/>
            </a:xfrm>
            <a:prstGeom prst="parallelogram">
              <a:avLst/>
            </a:prstGeom>
            <a:solidFill>
              <a:schemeClr val="bg1"/>
            </a:solidFill>
            <a:ln>
              <a:noFill/>
            </a:ln>
            <a:effectLst>
              <a:outerShdw blurRad="317500" dist="508000" dir="10800000" sx="65000" sy="65000" algn="ctr" rotWithShape="0">
                <a:prstClr val="black">
                  <a:alpha val="40000"/>
                </a:prstClr>
              </a:outerShdw>
              <a:reflection blurRad="317500" stA="33000" endPos="65000" dist="11938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I"/>
            </a:p>
          </p:txBody>
        </p:sp>
        <p:grpSp>
          <p:nvGrpSpPr>
            <p:cNvPr id="75" name="Groupe 74">
              <a:extLst>
                <a:ext uri="{FF2B5EF4-FFF2-40B4-BE49-F238E27FC236}">
                  <a16:creationId xmlns:a16="http://schemas.microsoft.com/office/drawing/2014/main" id="{CE39E0E5-A7F4-F1B9-293E-FB3DB6C9864D}"/>
                </a:ext>
              </a:extLst>
            </p:cNvPr>
            <p:cNvGrpSpPr/>
            <p:nvPr/>
          </p:nvGrpSpPr>
          <p:grpSpPr>
            <a:xfrm>
              <a:off x="1231295" y="2661137"/>
              <a:ext cx="1993037" cy="1475115"/>
              <a:chOff x="747291" y="2691441"/>
              <a:chExt cx="1993037" cy="1475115"/>
            </a:xfrm>
            <a:solidFill>
              <a:schemeClr val="tx2">
                <a:lumMod val="40000"/>
                <a:lumOff val="60000"/>
              </a:schemeClr>
            </a:solidFill>
            <a:effectLst>
              <a:outerShdw blurRad="266700" dist="152400" dir="6000000" algn="tl" rotWithShape="0">
                <a:prstClr val="black">
                  <a:alpha val="40000"/>
                </a:prstClr>
              </a:outerShdw>
            </a:effectLst>
          </p:grpSpPr>
          <p:sp>
            <p:nvSpPr>
              <p:cNvPr id="77" name="Forme libre : forme 76">
                <a:extLst>
                  <a:ext uri="{FF2B5EF4-FFF2-40B4-BE49-F238E27FC236}">
                    <a16:creationId xmlns:a16="http://schemas.microsoft.com/office/drawing/2014/main" id="{F2905413-EDF1-E9C9-0894-74397F5FBE9C}"/>
                  </a:ext>
                </a:extLst>
              </p:cNvPr>
              <p:cNvSpPr/>
              <p:nvPr/>
            </p:nvSpPr>
            <p:spPr>
              <a:xfrm>
                <a:off x="758048" y="2691441"/>
                <a:ext cx="1982280" cy="737559"/>
              </a:xfrm>
              <a:custGeom>
                <a:avLst/>
                <a:gdLst>
                  <a:gd name="connsiteX0" fmla="*/ 197689 w 1982280"/>
                  <a:gd name="connsiteY0" fmla="*/ 0 h 862642"/>
                  <a:gd name="connsiteX1" fmla="*/ 1550959 w 1982280"/>
                  <a:gd name="connsiteY1" fmla="*/ 0 h 862642"/>
                  <a:gd name="connsiteX2" fmla="*/ 1982280 w 1982280"/>
                  <a:gd name="connsiteY2" fmla="*/ 431321 h 862642"/>
                  <a:gd name="connsiteX3" fmla="*/ 1550959 w 1982280"/>
                  <a:gd name="connsiteY3" fmla="*/ 862642 h 862642"/>
                  <a:gd name="connsiteX4" fmla="*/ 0 w 1982280"/>
                  <a:gd name="connsiteY4" fmla="*/ 862642 h 8626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82280" h="862642">
                    <a:moveTo>
                      <a:pt x="197689" y="0"/>
                    </a:moveTo>
                    <a:lnTo>
                      <a:pt x="1550959" y="0"/>
                    </a:lnTo>
                    <a:cubicBezTo>
                      <a:pt x="1789171" y="0"/>
                      <a:pt x="1982280" y="193109"/>
                      <a:pt x="1982280" y="431321"/>
                    </a:cubicBezTo>
                    <a:cubicBezTo>
                      <a:pt x="1982280" y="669533"/>
                      <a:pt x="1789171" y="862642"/>
                      <a:pt x="1550959" y="862642"/>
                    </a:cubicBezTo>
                    <a:lnTo>
                      <a:pt x="0" y="862642"/>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fr-CI" sz="2400" b="1">
                    <a:latin typeface="+mn-lt" panose="02020603050405020304" pitchFamily="18" charset="0"/>
                    <a:cs typeface="+mn-cs" panose="02020603050405020304" pitchFamily="18" charset="0"/>
                  </a:rPr>
                  <a:t>Pipeline</a:t>
                </a:r>
                <a:endParaRPr lang="fr-CI" sz="2400" b="1">
                  <a:solidFill>
                    <a:schemeClr val="bg1"/>
                  </a:solidFill>
                  <a:latin typeface="+mn-lt" panose="02020603050405020304" pitchFamily="18" charset="0"/>
                  <a:cs typeface="+mn-cs" panose="02020603050405020304" pitchFamily="18" charset="0"/>
                </a:endParaRPr>
              </a:p>
            </p:txBody>
          </p:sp>
          <p:sp>
            <p:nvSpPr>
              <p:cNvPr id="78" name="Triangle isocèle 77">
                <a:extLst>
                  <a:ext uri="{FF2B5EF4-FFF2-40B4-BE49-F238E27FC236}">
                    <a16:creationId xmlns:a16="http://schemas.microsoft.com/office/drawing/2014/main" id="{8CD5E74B-C675-25A3-0F45-B0870AFC3C40}"/>
                  </a:ext>
                </a:extLst>
              </p:cNvPr>
              <p:cNvSpPr/>
              <p:nvPr/>
            </p:nvSpPr>
            <p:spPr>
              <a:xfrm rot="10800000">
                <a:off x="747291" y="3428999"/>
                <a:ext cx="409065" cy="737557"/>
              </a:xfrm>
              <a:prstGeom prst="triangle">
                <a:avLst>
                  <a:gd name="adj" fmla="val 29092"/>
                </a:avLst>
              </a:prstGeom>
              <a:grpFill/>
              <a:ln>
                <a:noFill/>
              </a:ln>
              <a:effectLst>
                <a:innerShdw blurRad="266700" dist="50800" dir="54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I">
                  <a:solidFill>
                    <a:schemeClr val="tx2">
                      <a:lumMod val="40000"/>
                      <a:lumOff val="60000"/>
                    </a:schemeClr>
                  </a:solidFill>
                </a:endParaRPr>
              </a:p>
            </p:txBody>
          </p:sp>
        </p:grpSp>
        <p:sp>
          <p:nvSpPr>
            <p:cNvPr id="76" name="ZoneTexte 75">
              <a:extLst>
                <a:ext uri="{FF2B5EF4-FFF2-40B4-BE49-F238E27FC236}">
                  <a16:creationId xmlns:a16="http://schemas.microsoft.com/office/drawing/2014/main" id="{344DDC70-4F4E-B86C-7940-5C642C577F39}"/>
                </a:ext>
              </a:extLst>
            </p:cNvPr>
            <p:cNvSpPr txBox="1"/>
            <p:nvPr/>
          </p:nvSpPr>
          <p:spPr>
            <a:xfrm>
              <a:off x="1681574" y="3628891"/>
              <a:ext cx="1923375" cy="2308324"/>
            </a:xfrm>
            <a:prstGeom prst="rect">
              <a:avLst/>
            </a:prstGeom>
            <a:noFill/>
          </p:spPr>
          <p:txBody>
            <a:bodyPr wrap="square" rtlCol="0">
              <a:spAutoFit/>
            </a:bodyPr>
            <a:lstStyle/>
            <a:p>
              <a:r>
                <a:rPr lang="fr-FR" dirty="0">
                  <a:latin typeface="+mn-lt" panose="02020603050405020304" pitchFamily="18" charset="0"/>
                  <a:cs typeface="+mn-cs" panose="02020603050405020304" pitchFamily="18" charset="0"/>
                </a:rPr>
                <a:t>Construire un pipeline de données mensuel</a:t>
              </a:r>
              <a:endParaRPr lang="fr-CI" dirty="0">
                <a:latin typeface="+mn-lt" panose="02020603050405020304" pitchFamily="18" charset="0"/>
                <a:cs typeface="+mn-cs" panose="02020603050405020304" pitchFamily="18" charset="0"/>
              </a:endParaRPr>
            </a:p>
          </p:txBody>
        </p:sp>
      </p:grpSp>
      <p:grpSp>
        <p:nvGrpSpPr>
          <p:cNvPr id="86" name="Groupe 85">
            <a:extLst>
              <a:ext uri="{FF2B5EF4-FFF2-40B4-BE49-F238E27FC236}">
                <a16:creationId xmlns:a16="http://schemas.microsoft.com/office/drawing/2014/main" id="{5CF82DAA-A0EC-2FE1-3893-A720E137D027}"/>
              </a:ext>
            </a:extLst>
          </p:cNvPr>
          <p:cNvGrpSpPr/>
          <p:nvPr/>
        </p:nvGrpSpPr>
        <p:grpSpPr>
          <a:xfrm>
            <a:off x="8455669" y="2091826"/>
            <a:ext cx="3639199" cy="4224601"/>
            <a:chOff x="-4427673" y="2101450"/>
            <a:chExt cx="3848165" cy="4224601"/>
          </a:xfrm>
        </p:grpSpPr>
        <p:grpSp>
          <p:nvGrpSpPr>
            <p:cNvPr id="87" name="Groupe 86">
              <a:extLst>
                <a:ext uri="{FF2B5EF4-FFF2-40B4-BE49-F238E27FC236}">
                  <a16:creationId xmlns:a16="http://schemas.microsoft.com/office/drawing/2014/main" id="{98E43105-3440-D54B-1610-DBED9946F2BF}"/>
                </a:ext>
              </a:extLst>
            </p:cNvPr>
            <p:cNvGrpSpPr/>
            <p:nvPr/>
          </p:nvGrpSpPr>
          <p:grpSpPr>
            <a:xfrm>
              <a:off x="-4427673" y="2101450"/>
              <a:ext cx="3848165" cy="4224601"/>
              <a:chOff x="8878394" y="2159546"/>
              <a:chExt cx="3848165" cy="4224601"/>
            </a:xfrm>
          </p:grpSpPr>
          <p:sp>
            <p:nvSpPr>
              <p:cNvPr id="89" name="ZoneTexte 88">
                <a:extLst>
                  <a:ext uri="{FF2B5EF4-FFF2-40B4-BE49-F238E27FC236}">
                    <a16:creationId xmlns:a16="http://schemas.microsoft.com/office/drawing/2014/main" id="{D5638239-E090-B716-B862-A8FBFCF4586F}"/>
                  </a:ext>
                </a:extLst>
              </p:cNvPr>
              <p:cNvSpPr txBox="1"/>
              <p:nvPr/>
            </p:nvSpPr>
            <p:spPr>
              <a:xfrm>
                <a:off x="8878394" y="3737269"/>
                <a:ext cx="1059366" cy="2646878"/>
              </a:xfrm>
              <a:prstGeom prst="rect">
                <a:avLst/>
              </a:prstGeom>
              <a:noFill/>
              <a:effectLst>
                <a:outerShdw blurRad="317500" dist="825500" dir="10800000" sx="66000" sy="66000" algn="r" rotWithShape="0">
                  <a:prstClr val="black">
                    <a:alpha val="40000"/>
                  </a:prstClr>
                </a:outerShdw>
              </a:effectLst>
            </p:spPr>
            <p:txBody>
              <a:bodyPr wrap="square" rtlCol="0">
                <a:spAutoFit/>
              </a:bodyPr>
              <a:lstStyle/>
              <a:p>
                <a:r>
                  <a:rPr lang="fr-CI" sz="16600" dirty="0">
                    <a:solidFill>
                      <a:schemeClr val="accent4">
                        <a:lumMod val="75000"/>
                      </a:schemeClr>
                    </a:solidFill>
                    <a:latin typeface="+mn-lt" panose="020B0903060703020204" pitchFamily="34" charset="0"/>
                    <a:cs typeface="+mn-cs" panose="02020603050405020304" pitchFamily="18" charset="0"/>
                  </a:rPr>
                  <a:t>4</a:t>
                </a:r>
              </a:p>
            </p:txBody>
          </p:sp>
          <p:sp>
            <p:nvSpPr>
              <p:cNvPr id="90" name="Parallélogramme 89">
                <a:extLst>
                  <a:ext uri="{FF2B5EF4-FFF2-40B4-BE49-F238E27FC236}">
                    <a16:creationId xmlns:a16="http://schemas.microsoft.com/office/drawing/2014/main" id="{0EA54525-94AA-8B81-019F-2C757BDEFF3D}"/>
                  </a:ext>
                </a:extLst>
              </p:cNvPr>
              <p:cNvSpPr/>
              <p:nvPr/>
            </p:nvSpPr>
            <p:spPr>
              <a:xfrm>
                <a:off x="9530292" y="2159546"/>
                <a:ext cx="3196267" cy="4058624"/>
              </a:xfrm>
              <a:prstGeom prst="parallelogram">
                <a:avLst/>
              </a:prstGeom>
              <a:solidFill>
                <a:schemeClr val="bg1"/>
              </a:solidFill>
              <a:ln>
                <a:noFill/>
              </a:ln>
              <a:effectLst>
                <a:outerShdw blurRad="317500" dist="508000" dir="10800000" sx="65000" sy="65000" algn="ctr" rotWithShape="0">
                  <a:prstClr val="black">
                    <a:alpha val="40000"/>
                  </a:prstClr>
                </a:outerShdw>
                <a:reflection blurRad="317500" stA="33000" endPos="65000" dist="11938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I"/>
              </a:p>
            </p:txBody>
          </p:sp>
          <p:grpSp>
            <p:nvGrpSpPr>
              <p:cNvPr id="91" name="Groupe 90">
                <a:extLst>
                  <a:ext uri="{FF2B5EF4-FFF2-40B4-BE49-F238E27FC236}">
                    <a16:creationId xmlns:a16="http://schemas.microsoft.com/office/drawing/2014/main" id="{B1A17AE3-BA40-D903-F196-8E88695F7410}"/>
                  </a:ext>
                </a:extLst>
              </p:cNvPr>
              <p:cNvGrpSpPr/>
              <p:nvPr/>
            </p:nvGrpSpPr>
            <p:grpSpPr>
              <a:xfrm>
                <a:off x="9650910" y="2642625"/>
                <a:ext cx="1993037" cy="1475115"/>
                <a:chOff x="747291" y="2691441"/>
                <a:chExt cx="1993037" cy="1475115"/>
              </a:xfrm>
              <a:solidFill>
                <a:schemeClr val="accent4">
                  <a:lumMod val="75000"/>
                </a:schemeClr>
              </a:solidFill>
              <a:effectLst>
                <a:outerShdw blurRad="177800" dist="139700" dir="2700000" algn="tl" rotWithShape="0">
                  <a:prstClr val="black">
                    <a:alpha val="40000"/>
                  </a:prstClr>
                </a:outerShdw>
              </a:effectLst>
            </p:grpSpPr>
            <p:sp>
              <p:nvSpPr>
                <p:cNvPr id="92" name="Forme libre : forme 91">
                  <a:extLst>
                    <a:ext uri="{FF2B5EF4-FFF2-40B4-BE49-F238E27FC236}">
                      <a16:creationId xmlns:a16="http://schemas.microsoft.com/office/drawing/2014/main" id="{B0BFB1D5-F8A0-91FB-8E34-68D3DFD1A350}"/>
                    </a:ext>
                  </a:extLst>
                </p:cNvPr>
                <p:cNvSpPr/>
                <p:nvPr/>
              </p:nvSpPr>
              <p:spPr>
                <a:xfrm>
                  <a:off x="758048" y="2691441"/>
                  <a:ext cx="1982280" cy="737559"/>
                </a:xfrm>
                <a:custGeom>
                  <a:avLst/>
                  <a:gdLst>
                    <a:gd name="connsiteX0" fmla="*/ 197689 w 1982280"/>
                    <a:gd name="connsiteY0" fmla="*/ 0 h 862642"/>
                    <a:gd name="connsiteX1" fmla="*/ 1550959 w 1982280"/>
                    <a:gd name="connsiteY1" fmla="*/ 0 h 862642"/>
                    <a:gd name="connsiteX2" fmla="*/ 1982280 w 1982280"/>
                    <a:gd name="connsiteY2" fmla="*/ 431321 h 862642"/>
                    <a:gd name="connsiteX3" fmla="*/ 1550959 w 1982280"/>
                    <a:gd name="connsiteY3" fmla="*/ 862642 h 862642"/>
                    <a:gd name="connsiteX4" fmla="*/ 0 w 1982280"/>
                    <a:gd name="connsiteY4" fmla="*/ 862642 h 8626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82280" h="862642">
                      <a:moveTo>
                        <a:pt x="197689" y="0"/>
                      </a:moveTo>
                      <a:lnTo>
                        <a:pt x="1550959" y="0"/>
                      </a:lnTo>
                      <a:cubicBezTo>
                        <a:pt x="1789171" y="0"/>
                        <a:pt x="1982280" y="193109"/>
                        <a:pt x="1982280" y="431321"/>
                      </a:cubicBezTo>
                      <a:cubicBezTo>
                        <a:pt x="1982280" y="669533"/>
                        <a:pt x="1789171" y="862642"/>
                        <a:pt x="1550959" y="862642"/>
                      </a:cubicBezTo>
                      <a:lnTo>
                        <a:pt x="0" y="862642"/>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fr-CI" sz="2000" b="1">
                      <a:latin typeface="+mn-lt" panose="02020603050405020304" pitchFamily="18" charset="0"/>
                      <a:cs typeface="+mn-cs" panose="02020603050405020304" pitchFamily="18" charset="0"/>
                    </a:rPr>
                    <a:t>Scoring</a:t>
                  </a:r>
                  <a:endParaRPr lang="fr-CI" sz="2000" b="1">
                    <a:solidFill>
                      <a:schemeClr val="bg1"/>
                    </a:solidFill>
                    <a:latin typeface="+mn-lt" panose="02020603050405020304" pitchFamily="18" charset="0"/>
                    <a:cs typeface="+mn-cs" panose="02020603050405020304" pitchFamily="18" charset="0"/>
                  </a:endParaRPr>
                </a:p>
              </p:txBody>
            </p:sp>
            <p:sp>
              <p:nvSpPr>
                <p:cNvPr id="93" name="Triangle isocèle 92">
                  <a:extLst>
                    <a:ext uri="{FF2B5EF4-FFF2-40B4-BE49-F238E27FC236}">
                      <a16:creationId xmlns:a16="http://schemas.microsoft.com/office/drawing/2014/main" id="{2A32EB2E-DEB2-2F3E-64C7-D69DF3304C7F}"/>
                    </a:ext>
                  </a:extLst>
                </p:cNvPr>
                <p:cNvSpPr/>
                <p:nvPr/>
              </p:nvSpPr>
              <p:spPr>
                <a:xfrm rot="10800000">
                  <a:off x="747291" y="3428999"/>
                  <a:ext cx="409065" cy="737557"/>
                </a:xfrm>
                <a:prstGeom prst="triangle">
                  <a:avLst>
                    <a:gd name="adj" fmla="val 29092"/>
                  </a:avLst>
                </a:prstGeom>
                <a:grpFill/>
                <a:ln>
                  <a:noFill/>
                </a:ln>
                <a:effectLst>
                  <a:innerShdw blurRad="266700" dist="50800" dir="81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I">
                    <a:solidFill>
                      <a:schemeClr val="tx2">
                        <a:lumMod val="40000"/>
                        <a:lumOff val="60000"/>
                      </a:schemeClr>
                    </a:solidFill>
                  </a:endParaRPr>
                </a:p>
              </p:txBody>
            </p:sp>
          </p:grpSp>
        </p:grpSp>
        <p:sp>
          <p:nvSpPr>
            <p:cNvPr id="88" name="ZoneTexte 87">
              <a:extLst>
                <a:ext uri="{FF2B5EF4-FFF2-40B4-BE49-F238E27FC236}">
                  <a16:creationId xmlns:a16="http://schemas.microsoft.com/office/drawing/2014/main" id="{A1757DA3-3B73-0C82-A4AF-43E43777AC95}"/>
                </a:ext>
              </a:extLst>
            </p:cNvPr>
            <p:cNvSpPr txBox="1"/>
            <p:nvPr/>
          </p:nvSpPr>
          <p:spPr>
            <a:xfrm>
              <a:off x="-3158428" y="3492073"/>
              <a:ext cx="2221050" cy="2308324"/>
            </a:xfrm>
            <a:prstGeom prst="rect">
              <a:avLst/>
            </a:prstGeom>
            <a:noFill/>
          </p:spPr>
          <p:txBody>
            <a:bodyPr wrap="square" rtlCol="0">
              <a:spAutoFit/>
            </a:bodyPr>
            <a:lstStyle/>
            <a:p>
              <a:r>
                <a:rPr lang="fr-FR">
                  <a:latin typeface="+mn-lt" panose="02020603050405020304" pitchFamily="18" charset="0"/>
                  <a:cs typeface="+mn-cs" panose="02020603050405020304" pitchFamily="18" charset="0"/>
                </a:rPr>
                <a:t>Produire des scores individuels de risque pour chaque abonné actif du portefeuille</a:t>
              </a:r>
              <a:endParaRPr lang="fr-CI">
                <a:latin typeface="+mn-lt" panose="02020603050405020304" pitchFamily="18" charset="0"/>
                <a:cs typeface="+mn-cs" panose="02020603050405020304" pitchFamily="18" charset="0"/>
              </a:endParaRPr>
            </a:p>
          </p:txBody>
        </p:sp>
      </p:grpSp>
      <p:grpSp>
        <p:nvGrpSpPr>
          <p:cNvPr id="79" name="Groupe 78">
            <a:extLst>
              <a:ext uri="{FF2B5EF4-FFF2-40B4-BE49-F238E27FC236}">
                <a16:creationId xmlns:a16="http://schemas.microsoft.com/office/drawing/2014/main" id="{E6AF02A7-D347-29D3-A476-62E5702C67C1}"/>
              </a:ext>
            </a:extLst>
          </p:cNvPr>
          <p:cNvGrpSpPr/>
          <p:nvPr/>
        </p:nvGrpSpPr>
        <p:grpSpPr>
          <a:xfrm>
            <a:off x="2729703" y="2002991"/>
            <a:ext cx="3680940" cy="4236293"/>
            <a:chOff x="3347899" y="2159546"/>
            <a:chExt cx="3680940" cy="4236293"/>
          </a:xfrm>
        </p:grpSpPr>
        <p:sp>
          <p:nvSpPr>
            <p:cNvPr id="80" name="ZoneTexte 79">
              <a:extLst>
                <a:ext uri="{FF2B5EF4-FFF2-40B4-BE49-F238E27FC236}">
                  <a16:creationId xmlns:a16="http://schemas.microsoft.com/office/drawing/2014/main" id="{D367E0D2-DB1C-77E1-C7B4-08798F24D75D}"/>
                </a:ext>
              </a:extLst>
            </p:cNvPr>
            <p:cNvSpPr txBox="1"/>
            <p:nvPr/>
          </p:nvSpPr>
          <p:spPr>
            <a:xfrm>
              <a:off x="3347899" y="3748961"/>
              <a:ext cx="1059366" cy="2646878"/>
            </a:xfrm>
            <a:prstGeom prst="rect">
              <a:avLst/>
            </a:prstGeom>
            <a:noFill/>
            <a:effectLst>
              <a:outerShdw blurRad="317500" dist="825500" dir="10800000" sx="66000" sy="66000" algn="r" rotWithShape="0">
                <a:prstClr val="black">
                  <a:alpha val="40000"/>
                </a:prstClr>
              </a:outerShdw>
            </a:effectLst>
          </p:spPr>
          <p:txBody>
            <a:bodyPr wrap="square" rtlCol="0">
              <a:spAutoFit/>
            </a:bodyPr>
            <a:lstStyle/>
            <a:p>
              <a:r>
                <a:rPr lang="fr-CI" sz="16600">
                  <a:solidFill>
                    <a:schemeClr val="accent5">
                      <a:lumMod val="60000"/>
                      <a:lumOff val="40000"/>
                    </a:schemeClr>
                  </a:solidFill>
                  <a:latin typeface="+mn-lt" panose="020B0903060703020204" pitchFamily="34" charset="0"/>
                  <a:cs typeface="+mn-cs" panose="02020603050405020304" pitchFamily="18" charset="0"/>
                </a:rPr>
                <a:t>2</a:t>
              </a:r>
            </a:p>
          </p:txBody>
        </p:sp>
        <p:sp>
          <p:nvSpPr>
            <p:cNvPr id="81" name="Parallélogramme 80">
              <a:extLst>
                <a:ext uri="{FF2B5EF4-FFF2-40B4-BE49-F238E27FC236}">
                  <a16:creationId xmlns:a16="http://schemas.microsoft.com/office/drawing/2014/main" id="{882776ED-0909-831D-6897-94A6973AD28E}"/>
                </a:ext>
              </a:extLst>
            </p:cNvPr>
            <p:cNvSpPr/>
            <p:nvPr/>
          </p:nvSpPr>
          <p:spPr>
            <a:xfrm>
              <a:off x="3832572" y="2159546"/>
              <a:ext cx="3196267" cy="4058624"/>
            </a:xfrm>
            <a:prstGeom prst="parallelogram">
              <a:avLst/>
            </a:prstGeom>
            <a:solidFill>
              <a:schemeClr val="bg1"/>
            </a:solidFill>
            <a:ln>
              <a:noFill/>
            </a:ln>
            <a:effectLst>
              <a:outerShdw blurRad="317500" dist="508000" dir="10800000" sx="65000" sy="65000" algn="ctr" rotWithShape="0">
                <a:prstClr val="black">
                  <a:alpha val="40000"/>
                </a:prstClr>
              </a:outerShdw>
              <a:reflection blurRad="317500" stA="33000" endPos="65000" dist="11938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I"/>
            </a:p>
          </p:txBody>
        </p:sp>
        <p:grpSp>
          <p:nvGrpSpPr>
            <p:cNvPr id="82" name="Groupe 81">
              <a:extLst>
                <a:ext uri="{FF2B5EF4-FFF2-40B4-BE49-F238E27FC236}">
                  <a16:creationId xmlns:a16="http://schemas.microsoft.com/office/drawing/2014/main" id="{44C0BC34-B9D1-A1AA-B5B2-D815FF1CD7AC}"/>
                </a:ext>
              </a:extLst>
            </p:cNvPr>
            <p:cNvGrpSpPr/>
            <p:nvPr/>
          </p:nvGrpSpPr>
          <p:grpSpPr>
            <a:xfrm>
              <a:off x="3953190" y="2642625"/>
              <a:ext cx="1993037" cy="1475115"/>
              <a:chOff x="747291" y="2691441"/>
              <a:chExt cx="1993037" cy="1475115"/>
            </a:xfrm>
            <a:solidFill>
              <a:schemeClr val="accent5">
                <a:lumMod val="60000"/>
                <a:lumOff val="40000"/>
              </a:schemeClr>
            </a:solidFill>
            <a:effectLst>
              <a:outerShdw blurRad="266700" dist="139700" dir="2700000" algn="tl" rotWithShape="0">
                <a:prstClr val="black">
                  <a:alpha val="40000"/>
                </a:prstClr>
              </a:outerShdw>
            </a:effectLst>
          </p:grpSpPr>
          <p:sp>
            <p:nvSpPr>
              <p:cNvPr id="84" name="Forme libre : forme 83">
                <a:extLst>
                  <a:ext uri="{FF2B5EF4-FFF2-40B4-BE49-F238E27FC236}">
                    <a16:creationId xmlns:a16="http://schemas.microsoft.com/office/drawing/2014/main" id="{BE009726-D9ED-2478-64F7-2D845C295D66}"/>
                  </a:ext>
                </a:extLst>
              </p:cNvPr>
              <p:cNvSpPr/>
              <p:nvPr/>
            </p:nvSpPr>
            <p:spPr>
              <a:xfrm>
                <a:off x="758048" y="2691441"/>
                <a:ext cx="1982280" cy="737559"/>
              </a:xfrm>
              <a:custGeom>
                <a:avLst/>
                <a:gdLst>
                  <a:gd name="connsiteX0" fmla="*/ 197689 w 1982280"/>
                  <a:gd name="connsiteY0" fmla="*/ 0 h 862642"/>
                  <a:gd name="connsiteX1" fmla="*/ 1550959 w 1982280"/>
                  <a:gd name="connsiteY1" fmla="*/ 0 h 862642"/>
                  <a:gd name="connsiteX2" fmla="*/ 1982280 w 1982280"/>
                  <a:gd name="connsiteY2" fmla="*/ 431321 h 862642"/>
                  <a:gd name="connsiteX3" fmla="*/ 1550959 w 1982280"/>
                  <a:gd name="connsiteY3" fmla="*/ 862642 h 862642"/>
                  <a:gd name="connsiteX4" fmla="*/ 0 w 1982280"/>
                  <a:gd name="connsiteY4" fmla="*/ 862642 h 8626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82280" h="862642">
                    <a:moveTo>
                      <a:pt x="197689" y="0"/>
                    </a:moveTo>
                    <a:lnTo>
                      <a:pt x="1550959" y="0"/>
                    </a:lnTo>
                    <a:cubicBezTo>
                      <a:pt x="1789171" y="0"/>
                      <a:pt x="1982280" y="193109"/>
                      <a:pt x="1982280" y="431321"/>
                    </a:cubicBezTo>
                    <a:cubicBezTo>
                      <a:pt x="1982280" y="669533"/>
                      <a:pt x="1789171" y="862642"/>
                      <a:pt x="1550959" y="862642"/>
                    </a:cubicBezTo>
                    <a:lnTo>
                      <a:pt x="0" y="862642"/>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fr-CI" sz="2000" b="1">
                    <a:latin typeface="+mn-lt" panose="02020603050405020304" pitchFamily="18" charset="0"/>
                    <a:cs typeface="+mn-cs" panose="02020603050405020304" pitchFamily="18" charset="0"/>
                  </a:rPr>
                  <a:t>Cible binaire</a:t>
                </a:r>
                <a:endParaRPr lang="fr-CI" sz="2000" b="1">
                  <a:solidFill>
                    <a:schemeClr val="bg1"/>
                  </a:solidFill>
                  <a:latin typeface="+mn-lt" panose="02020603050405020304" pitchFamily="18" charset="0"/>
                  <a:cs typeface="+mn-cs" panose="02020603050405020304" pitchFamily="18" charset="0"/>
                </a:endParaRPr>
              </a:p>
            </p:txBody>
          </p:sp>
          <p:sp>
            <p:nvSpPr>
              <p:cNvPr id="85" name="Triangle isocèle 84">
                <a:extLst>
                  <a:ext uri="{FF2B5EF4-FFF2-40B4-BE49-F238E27FC236}">
                    <a16:creationId xmlns:a16="http://schemas.microsoft.com/office/drawing/2014/main" id="{6CC6EB47-8475-9BC9-3335-576A5709CA01}"/>
                  </a:ext>
                </a:extLst>
              </p:cNvPr>
              <p:cNvSpPr/>
              <p:nvPr/>
            </p:nvSpPr>
            <p:spPr>
              <a:xfrm rot="10800000">
                <a:off x="747291" y="3428999"/>
                <a:ext cx="409065" cy="737557"/>
              </a:xfrm>
              <a:prstGeom prst="triangle">
                <a:avLst>
                  <a:gd name="adj" fmla="val 29092"/>
                </a:avLst>
              </a:prstGeom>
              <a:grpFill/>
              <a:ln>
                <a:noFill/>
              </a:ln>
              <a:effectLst>
                <a:innerShdw blurRad="266700" dist="50800" dir="81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I">
                  <a:solidFill>
                    <a:schemeClr val="tx2">
                      <a:lumMod val="40000"/>
                      <a:lumOff val="60000"/>
                    </a:schemeClr>
                  </a:solidFill>
                </a:endParaRPr>
              </a:p>
            </p:txBody>
          </p:sp>
        </p:grpSp>
        <p:sp>
          <p:nvSpPr>
            <p:cNvPr id="83" name="ZoneTexte 82">
              <a:extLst>
                <a:ext uri="{FF2B5EF4-FFF2-40B4-BE49-F238E27FC236}">
                  <a16:creationId xmlns:a16="http://schemas.microsoft.com/office/drawing/2014/main" id="{0E0D78CC-C93E-ADCE-A193-907D2F516482}"/>
                </a:ext>
              </a:extLst>
            </p:cNvPr>
            <p:cNvSpPr txBox="1"/>
            <p:nvPr/>
          </p:nvSpPr>
          <p:spPr>
            <a:xfrm>
              <a:off x="4572198" y="3546161"/>
              <a:ext cx="1915704" cy="2308324"/>
            </a:xfrm>
            <a:prstGeom prst="rect">
              <a:avLst/>
            </a:prstGeom>
            <a:noFill/>
          </p:spPr>
          <p:txBody>
            <a:bodyPr wrap="square" rtlCol="0">
              <a:spAutoFit/>
            </a:bodyPr>
            <a:lstStyle/>
            <a:p>
              <a:r>
                <a:rPr lang="fr-FR" dirty="0">
                  <a:latin typeface="+mn-lt" panose="02020603050405020304" pitchFamily="18" charset="0"/>
                  <a:cs typeface="+mn-cs" panose="02020603050405020304" pitchFamily="18" charset="0"/>
                </a:rPr>
                <a:t>Définir la variable cible binaire</a:t>
              </a:r>
              <a:endParaRPr lang="fr-CI" dirty="0">
                <a:latin typeface="+mn-lt" panose="02020603050405020304" pitchFamily="18" charset="0"/>
                <a:cs typeface="+mn-cs" panose="02020603050405020304" pitchFamily="18" charset="0"/>
              </a:endParaRPr>
            </a:p>
          </p:txBody>
        </p:sp>
      </p:grpSp>
      <p:sp>
        <p:nvSpPr>
          <p:cNvPr id="4" name="ZoneTexte 3">
            <a:extLst>
              <a:ext uri="{FF2B5EF4-FFF2-40B4-BE49-F238E27FC236}">
                <a16:creationId xmlns:a16="http://schemas.microsoft.com/office/drawing/2014/main" id="{5BDCD429-4DC2-8E60-61DE-C22E560DD124}"/>
              </a:ext>
            </a:extLst>
          </p:cNvPr>
          <p:cNvSpPr txBox="1"/>
          <p:nvPr/>
        </p:nvSpPr>
        <p:spPr>
          <a:xfrm>
            <a:off x="61747" y="40933"/>
            <a:ext cx="5767553" cy="369332"/>
          </a:xfrm>
          <a:prstGeom prst="rect">
            <a:avLst/>
          </a:prstGeom>
          <a:noFill/>
          <a:effectLst>
            <a:reflection stA="63000" endPos="11000" dist="50800" dir="5400000" sy="-100000" algn="bl" rotWithShape="0"/>
          </a:effectLst>
        </p:spPr>
        <p:txBody>
          <a:bodyPr wrap="square" rtlCol="0">
            <a:spAutoFit/>
          </a:bodyPr>
          <a:lstStyle/>
          <a:p>
            <a:r>
              <a:rPr lang="fr-CI" b="1" dirty="0">
                <a:solidFill>
                  <a:schemeClr val="accent1">
                    <a:lumMod val="50000"/>
                  </a:schemeClr>
                </a:solidFill>
                <a:latin typeface="+mn-lt" panose="020E0705020206020404" pitchFamily="34" charset="0"/>
              </a:rPr>
              <a:t>Partie 2 : Problématique &amp; Objectifs</a:t>
            </a:r>
          </a:p>
        </p:txBody>
      </p:sp>
      <p:grpSp>
        <p:nvGrpSpPr>
          <p:cNvPr id="6" name="Groupe 5">
            <a:extLst>
              <a:ext uri="{FF2B5EF4-FFF2-40B4-BE49-F238E27FC236}">
                <a16:creationId xmlns:a16="http://schemas.microsoft.com/office/drawing/2014/main" id="{4283F368-CD59-2F9D-6E68-FF0FD9AF063D}"/>
              </a:ext>
            </a:extLst>
          </p:cNvPr>
          <p:cNvGrpSpPr/>
          <p:nvPr/>
        </p:nvGrpSpPr>
        <p:grpSpPr>
          <a:xfrm>
            <a:off x="11127755" y="40933"/>
            <a:ext cx="1002497" cy="997548"/>
            <a:chOff x="5594751" y="1197012"/>
            <a:chExt cx="1002497" cy="997548"/>
          </a:xfrm>
        </p:grpSpPr>
        <p:grpSp>
          <p:nvGrpSpPr>
            <p:cNvPr id="8" name="Groupe 7">
              <a:extLst>
                <a:ext uri="{FF2B5EF4-FFF2-40B4-BE49-F238E27FC236}">
                  <a16:creationId xmlns:a16="http://schemas.microsoft.com/office/drawing/2014/main" id="{02917A92-AA50-D719-4DCC-0E39DDD17D6B}"/>
                </a:ext>
              </a:extLst>
            </p:cNvPr>
            <p:cNvGrpSpPr/>
            <p:nvPr/>
          </p:nvGrpSpPr>
          <p:grpSpPr>
            <a:xfrm>
              <a:off x="5594751" y="1197012"/>
              <a:ext cx="1002497" cy="997548"/>
              <a:chOff x="6263169" y="2855357"/>
              <a:chExt cx="600075" cy="612815"/>
            </a:xfrm>
          </p:grpSpPr>
          <p:sp>
            <p:nvSpPr>
              <p:cNvPr id="10" name="Organigramme : Connecteur 9">
                <a:extLst>
                  <a:ext uri="{FF2B5EF4-FFF2-40B4-BE49-F238E27FC236}">
                    <a16:creationId xmlns:a16="http://schemas.microsoft.com/office/drawing/2014/main" id="{8E7391CE-FFC2-D9C0-3CD7-22190551A2A6}"/>
                  </a:ext>
                </a:extLst>
              </p:cNvPr>
              <p:cNvSpPr/>
              <p:nvPr/>
            </p:nvSpPr>
            <p:spPr>
              <a:xfrm>
                <a:off x="6263169" y="2855357"/>
                <a:ext cx="600075" cy="612815"/>
              </a:xfrm>
              <a:prstGeom prst="flowChartConnector">
                <a:avLst/>
              </a:prstGeom>
              <a:solidFill>
                <a:schemeClr val="bg1"/>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I"/>
              </a:p>
            </p:txBody>
          </p:sp>
          <p:sp>
            <p:nvSpPr>
              <p:cNvPr id="11" name="Organigramme : Connecteur 10">
                <a:extLst>
                  <a:ext uri="{FF2B5EF4-FFF2-40B4-BE49-F238E27FC236}">
                    <a16:creationId xmlns:a16="http://schemas.microsoft.com/office/drawing/2014/main" id="{DCD2721A-AC1D-B04D-2E48-6A4ECA87443F}"/>
                  </a:ext>
                </a:extLst>
              </p:cNvPr>
              <p:cNvSpPr/>
              <p:nvPr/>
            </p:nvSpPr>
            <p:spPr>
              <a:xfrm>
                <a:off x="6370324" y="2964924"/>
                <a:ext cx="385763" cy="393680"/>
              </a:xfrm>
              <a:prstGeom prst="flowChartConnector">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I" dirty="0"/>
              </a:p>
            </p:txBody>
          </p:sp>
        </p:grpSp>
        <p:pic>
          <p:nvPicPr>
            <p:cNvPr id="9" name="Graphic 1031">
              <a:extLst>
                <a:ext uri="{FF2B5EF4-FFF2-40B4-BE49-F238E27FC236}">
                  <a16:creationId xmlns:a16="http://schemas.microsoft.com/office/drawing/2014/main" id="{37B85B08-E7ED-B853-1EB8-108FB7EA1FF5}"/>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5867397" y="1467186"/>
              <a:ext cx="457200" cy="457200"/>
            </a:xfrm>
            <a:prstGeom prst="rect">
              <a:avLst/>
            </a:prstGeom>
          </p:spPr>
        </p:pic>
      </p:grpSp>
    </p:spTree>
    <p:extLst>
      <p:ext uri="{BB962C8B-B14F-4D97-AF65-F5344CB8AC3E}">
        <p14:creationId xmlns:p14="http://schemas.microsoft.com/office/powerpoint/2010/main" val="41314019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D2C998-F513-EAAD-2164-83DA96E2CFEC}"/>
            </a:ext>
          </a:extLst>
        </p:cNvPr>
        <p:cNvGrpSpPr/>
        <p:nvPr/>
      </p:nvGrpSpPr>
      <p:grpSpPr>
        <a:xfrm>
          <a:off x="0" y="0"/>
          <a:ext cx="0" cy="0"/>
          <a:chOff x="0" y="0"/>
          <a:chExt cx="0" cy="0"/>
        </a:xfrm>
      </p:grpSpPr>
      <p:sp>
        <p:nvSpPr>
          <p:cNvPr id="18" name="Larme 17">
            <a:extLst>
              <a:ext uri="{FF2B5EF4-FFF2-40B4-BE49-F238E27FC236}">
                <a16:creationId xmlns:a16="http://schemas.microsoft.com/office/drawing/2014/main" id="{72126B7B-312F-9434-86E8-45B29E78A8B2}"/>
              </a:ext>
            </a:extLst>
          </p:cNvPr>
          <p:cNvSpPr/>
          <p:nvPr/>
        </p:nvSpPr>
        <p:spPr>
          <a:xfrm>
            <a:off x="7010400" y="0"/>
            <a:ext cx="5181600" cy="5478308"/>
          </a:xfrm>
          <a:prstGeom prst="teardrop">
            <a:avLst/>
          </a:prstGeom>
          <a:solidFill>
            <a:srgbClr val="E5EA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Text 1">
            <a:extLst>
              <a:ext uri="{FF2B5EF4-FFF2-40B4-BE49-F238E27FC236}">
                <a16:creationId xmlns:a16="http://schemas.microsoft.com/office/drawing/2014/main" id="{537D9A0C-840A-0844-03DD-734020A3F12B}"/>
              </a:ext>
            </a:extLst>
          </p:cNvPr>
          <p:cNvSpPr/>
          <p:nvPr/>
        </p:nvSpPr>
        <p:spPr>
          <a:xfrm>
            <a:off x="609600" y="2438400"/>
            <a:ext cx="10972800" cy="609600"/>
          </a:xfrm>
          <a:prstGeom prst="rect">
            <a:avLst/>
          </a:prstGeom>
          <a:noFill/>
          <a:ln/>
        </p:spPr>
        <p:txBody>
          <a:bodyPr wrap="square" rtlCol="0" anchor="ctr"/>
          <a:lstStyle/>
          <a:p>
            <a:pPr algn="ctr" defTabSz="1219170"/>
            <a:r>
              <a:rPr lang="en-US" sz="1867" b="1" kern="0" spc="533" dirty="0">
                <a:solidFill>
                  <a:srgbClr val="7C8BA8"/>
                </a:solidFill>
                <a:latin typeface="Calibri" panose="020F0502020204030204"/>
              </a:rPr>
              <a:t>PARTIE 03</a:t>
            </a:r>
            <a:endParaRPr lang="en-US" sz="1867" b="1" dirty="0">
              <a:solidFill>
                <a:prstClr val="black"/>
              </a:solidFill>
              <a:latin typeface="Calibri" panose="020F0502020204030204"/>
            </a:endParaRPr>
          </a:p>
        </p:txBody>
      </p:sp>
      <p:sp>
        <p:nvSpPr>
          <p:cNvPr id="4" name="Text 2">
            <a:extLst>
              <a:ext uri="{FF2B5EF4-FFF2-40B4-BE49-F238E27FC236}">
                <a16:creationId xmlns:a16="http://schemas.microsoft.com/office/drawing/2014/main" id="{6F0D813D-A49A-3FDF-968D-CF4AF22D8A0D}"/>
              </a:ext>
            </a:extLst>
          </p:cNvPr>
          <p:cNvSpPr/>
          <p:nvPr/>
        </p:nvSpPr>
        <p:spPr>
          <a:xfrm>
            <a:off x="609600" y="3048000"/>
            <a:ext cx="10972800" cy="1219200"/>
          </a:xfrm>
          <a:prstGeom prst="rect">
            <a:avLst/>
          </a:prstGeom>
          <a:noFill/>
          <a:ln/>
        </p:spPr>
        <p:txBody>
          <a:bodyPr wrap="square" rtlCol="0" anchor="ctr"/>
          <a:lstStyle/>
          <a:p>
            <a:pPr algn="ctr" defTabSz="1219170"/>
            <a:r>
              <a:rPr lang="en-US" sz="4267" b="1" dirty="0">
                <a:solidFill>
                  <a:srgbClr val="002060"/>
                </a:solidFill>
              </a:rPr>
              <a:t>DONNÉES &amp; MÉTHODOLOGIE</a:t>
            </a:r>
            <a:endParaRPr lang="en-US" sz="4267" dirty="0">
              <a:solidFill>
                <a:prstClr val="black"/>
              </a:solidFill>
            </a:endParaRPr>
          </a:p>
        </p:txBody>
      </p:sp>
      <p:sp>
        <p:nvSpPr>
          <p:cNvPr id="5" name="Shape 3">
            <a:extLst>
              <a:ext uri="{FF2B5EF4-FFF2-40B4-BE49-F238E27FC236}">
                <a16:creationId xmlns:a16="http://schemas.microsoft.com/office/drawing/2014/main" id="{5A4DE74C-10C1-5D77-AE36-60D046CE99EC}"/>
              </a:ext>
            </a:extLst>
          </p:cNvPr>
          <p:cNvSpPr/>
          <p:nvPr/>
        </p:nvSpPr>
        <p:spPr>
          <a:xfrm>
            <a:off x="5181600" y="4511040"/>
            <a:ext cx="1828800" cy="48768"/>
          </a:xfrm>
          <a:prstGeom prst="rect">
            <a:avLst/>
          </a:prstGeom>
          <a:solidFill>
            <a:srgbClr val="F59E0B"/>
          </a:solidFill>
          <a:ln w="12700">
            <a:solidFill>
              <a:srgbClr val="F59E0B"/>
            </a:solidFill>
            <a:prstDash val="solid"/>
          </a:ln>
        </p:spPr>
        <p:txBody>
          <a:bodyPr/>
          <a:lstStyle/>
          <a:p>
            <a:endParaRPr lang="fr-FR"/>
          </a:p>
        </p:txBody>
      </p:sp>
      <p:grpSp>
        <p:nvGrpSpPr>
          <p:cNvPr id="17" name="Groupe 16">
            <a:extLst>
              <a:ext uri="{FF2B5EF4-FFF2-40B4-BE49-F238E27FC236}">
                <a16:creationId xmlns:a16="http://schemas.microsoft.com/office/drawing/2014/main" id="{0B9C7260-810A-FAD9-25CC-EBAE32219242}"/>
              </a:ext>
            </a:extLst>
          </p:cNvPr>
          <p:cNvGrpSpPr/>
          <p:nvPr/>
        </p:nvGrpSpPr>
        <p:grpSpPr>
          <a:xfrm>
            <a:off x="5594752" y="1197012"/>
            <a:ext cx="1002497" cy="997548"/>
            <a:chOff x="5594751" y="1197012"/>
            <a:chExt cx="1002497" cy="997548"/>
          </a:xfrm>
        </p:grpSpPr>
        <p:grpSp>
          <p:nvGrpSpPr>
            <p:cNvPr id="13" name="Groupe 12">
              <a:extLst>
                <a:ext uri="{FF2B5EF4-FFF2-40B4-BE49-F238E27FC236}">
                  <a16:creationId xmlns:a16="http://schemas.microsoft.com/office/drawing/2014/main" id="{F11D4136-B0FF-C5D7-D8DA-8BAA92432BBE}"/>
                </a:ext>
              </a:extLst>
            </p:cNvPr>
            <p:cNvGrpSpPr/>
            <p:nvPr/>
          </p:nvGrpSpPr>
          <p:grpSpPr>
            <a:xfrm>
              <a:off x="5594751" y="1197012"/>
              <a:ext cx="1002497" cy="997548"/>
              <a:chOff x="6263169" y="2855357"/>
              <a:chExt cx="600075" cy="612815"/>
            </a:xfrm>
          </p:grpSpPr>
          <p:sp>
            <p:nvSpPr>
              <p:cNvPr id="14" name="Organigramme : Connecteur 13">
                <a:extLst>
                  <a:ext uri="{FF2B5EF4-FFF2-40B4-BE49-F238E27FC236}">
                    <a16:creationId xmlns:a16="http://schemas.microsoft.com/office/drawing/2014/main" id="{4B8AC897-3262-9B47-09A3-F4DC9187C7AC}"/>
                  </a:ext>
                </a:extLst>
              </p:cNvPr>
              <p:cNvSpPr/>
              <p:nvPr/>
            </p:nvSpPr>
            <p:spPr>
              <a:xfrm>
                <a:off x="6263169" y="2855357"/>
                <a:ext cx="600075" cy="612815"/>
              </a:xfrm>
              <a:prstGeom prst="flowChartConnector">
                <a:avLst/>
              </a:prstGeom>
              <a:solidFill>
                <a:schemeClr val="bg1"/>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I"/>
              </a:p>
            </p:txBody>
          </p:sp>
          <p:sp>
            <p:nvSpPr>
              <p:cNvPr id="15" name="Organigramme : Connecteur 14">
                <a:extLst>
                  <a:ext uri="{FF2B5EF4-FFF2-40B4-BE49-F238E27FC236}">
                    <a16:creationId xmlns:a16="http://schemas.microsoft.com/office/drawing/2014/main" id="{C625DD83-9D41-5A84-0FAC-8596CEEFCD72}"/>
                  </a:ext>
                </a:extLst>
              </p:cNvPr>
              <p:cNvSpPr/>
              <p:nvPr/>
            </p:nvSpPr>
            <p:spPr>
              <a:xfrm>
                <a:off x="6370324" y="2964924"/>
                <a:ext cx="385763" cy="393680"/>
              </a:xfrm>
              <a:prstGeom prst="flowChartConnector">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I" dirty="0"/>
              </a:p>
            </p:txBody>
          </p:sp>
        </p:grpSp>
        <p:pic>
          <p:nvPicPr>
            <p:cNvPr id="16" name="Graphic 1031">
              <a:extLst>
                <a:ext uri="{FF2B5EF4-FFF2-40B4-BE49-F238E27FC236}">
                  <a16:creationId xmlns:a16="http://schemas.microsoft.com/office/drawing/2014/main" id="{4C073590-3866-7033-B5FC-D64A78BBB15F}"/>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867397" y="1467186"/>
              <a:ext cx="457200" cy="457200"/>
            </a:xfrm>
            <a:prstGeom prst="rect">
              <a:avLst/>
            </a:prstGeom>
          </p:spPr>
        </p:pic>
      </p:grpSp>
    </p:spTree>
    <p:extLst>
      <p:ext uri="{BB962C8B-B14F-4D97-AF65-F5344CB8AC3E}">
        <p14:creationId xmlns:p14="http://schemas.microsoft.com/office/powerpoint/2010/main" val="22791087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1651000" y="943200"/>
            <a:ext cx="8890000" cy="762000"/>
          </a:xfrm>
          <a:prstGeom prst="rect">
            <a:avLst/>
          </a:prstGeom>
          <a:noFill/>
          <a:ln/>
        </p:spPr>
        <p:txBody>
          <a:bodyPr wrap="square" rtlCol="0" anchor="ctr"/>
          <a:lstStyle/>
          <a:p>
            <a:pPr algn="ctr"/>
            <a:r>
              <a:rPr lang="fr-FR" sz="3600" b="1" dirty="0">
                <a:solidFill>
                  <a:srgbClr val="002060"/>
                </a:solidFill>
              </a:rPr>
              <a:t>Données &amp; Pipeline</a:t>
            </a:r>
          </a:p>
        </p:txBody>
      </p:sp>
      <p:sp>
        <p:nvSpPr>
          <p:cNvPr id="6" name="Shape 4"/>
          <p:cNvSpPr/>
          <p:nvPr/>
        </p:nvSpPr>
        <p:spPr>
          <a:xfrm>
            <a:off x="365760" y="2621280"/>
            <a:ext cx="3657600" cy="2072640"/>
          </a:xfrm>
          <a:prstGeom prst="roundRect">
            <a:avLst>
              <a:gd name="adj" fmla="val 4706"/>
            </a:avLst>
          </a:prstGeom>
          <a:solidFill>
            <a:schemeClr val="bg1"/>
          </a:solidFill>
          <a:ln w="12700">
            <a:solidFill>
              <a:srgbClr val="E2E8F0"/>
            </a:solidFill>
            <a:prstDash val="solid"/>
          </a:ln>
          <a:effectLst>
            <a:outerShdw blurRad="101600" dist="25400" dir="2700000" algn="bl" rotWithShape="0">
              <a:srgbClr val="000000">
                <a:alpha val="12000"/>
              </a:srgbClr>
            </a:outerShdw>
          </a:effectLst>
        </p:spPr>
        <p:txBody>
          <a:bodyPr/>
          <a:lstStyle/>
          <a:p>
            <a:pPr defTabSz="1219170"/>
            <a:endParaRPr lang="fr-FR" sz="2400">
              <a:solidFill>
                <a:prstClr val="black"/>
              </a:solidFill>
              <a:latin typeface="Calibri" panose="020F0502020204030204"/>
            </a:endParaRPr>
          </a:p>
        </p:txBody>
      </p:sp>
      <p:sp>
        <p:nvSpPr>
          <p:cNvPr id="7" name="Text 5"/>
          <p:cNvSpPr/>
          <p:nvPr/>
        </p:nvSpPr>
        <p:spPr>
          <a:xfrm>
            <a:off x="487680" y="2682240"/>
            <a:ext cx="3413760" cy="487680"/>
          </a:xfrm>
          <a:prstGeom prst="rect">
            <a:avLst/>
          </a:prstGeom>
          <a:noFill/>
          <a:ln/>
        </p:spPr>
        <p:txBody>
          <a:bodyPr wrap="square" rtlCol="0" anchor="ctr"/>
          <a:lstStyle/>
          <a:p>
            <a:pPr algn="ctr" defTabSz="1219170"/>
            <a:r>
              <a:rPr lang="en-US" sz="1600" b="1" dirty="0">
                <a:solidFill>
                  <a:srgbClr val="1E2761"/>
                </a:solidFill>
                <a:latin typeface="Calibri" panose="020F0502020204030204"/>
              </a:rPr>
              <a:t>COMPTEUR</a:t>
            </a:r>
            <a:endParaRPr lang="en-US" sz="1600" dirty="0">
              <a:solidFill>
                <a:prstClr val="black"/>
              </a:solidFill>
              <a:latin typeface="Calibri" panose="020F0502020204030204"/>
            </a:endParaRPr>
          </a:p>
        </p:txBody>
      </p:sp>
      <p:sp>
        <p:nvSpPr>
          <p:cNvPr id="8" name="Text 6"/>
          <p:cNvSpPr/>
          <p:nvPr/>
        </p:nvSpPr>
        <p:spPr>
          <a:xfrm>
            <a:off x="548640" y="3194304"/>
            <a:ext cx="3291840" cy="1402080"/>
          </a:xfrm>
          <a:prstGeom prst="rect">
            <a:avLst/>
          </a:prstGeom>
          <a:noFill/>
          <a:ln/>
        </p:spPr>
        <p:txBody>
          <a:bodyPr wrap="square" rtlCol="0" anchor="ctr"/>
          <a:lstStyle/>
          <a:p>
            <a:pPr defTabSz="1219170"/>
            <a:r>
              <a:rPr lang="en-US" sz="1333" dirty="0">
                <a:solidFill>
                  <a:srgbClr val="64748B"/>
                </a:solidFill>
                <a:latin typeface="Calibri" panose="020F0502020204030204"/>
              </a:rPr>
              <a:t>Profil client</a:t>
            </a:r>
            <a:endParaRPr lang="en-US" sz="1333" dirty="0">
              <a:solidFill>
                <a:prstClr val="black"/>
              </a:solidFill>
              <a:latin typeface="Calibri" panose="020F0502020204030204"/>
            </a:endParaRPr>
          </a:p>
          <a:p>
            <a:pPr defTabSz="1219170"/>
            <a:r>
              <a:rPr lang="en-US" sz="1333" dirty="0">
                <a:solidFill>
                  <a:srgbClr val="64748B"/>
                </a:solidFill>
                <a:latin typeface="Calibri" panose="020F0502020204030204"/>
              </a:rPr>
              <a:t>OffreId, RegionId</a:t>
            </a:r>
            <a:endParaRPr lang="en-US" sz="1333" dirty="0">
              <a:solidFill>
                <a:prstClr val="black"/>
              </a:solidFill>
              <a:latin typeface="Calibri" panose="020F0502020204030204"/>
            </a:endParaRPr>
          </a:p>
          <a:p>
            <a:pPr defTabSz="1219170"/>
            <a:r>
              <a:rPr lang="en-US" sz="1333" dirty="0">
                <a:solidFill>
                  <a:srgbClr val="64748B"/>
                </a:solidFill>
                <a:latin typeface="Calibri" panose="020F0502020204030204"/>
              </a:rPr>
              <a:t>Redevance normative</a:t>
            </a:r>
            <a:endParaRPr lang="en-US" sz="1333" dirty="0">
              <a:solidFill>
                <a:prstClr val="black"/>
              </a:solidFill>
              <a:latin typeface="Calibri" panose="020F0502020204030204"/>
            </a:endParaRPr>
          </a:p>
          <a:p>
            <a:pPr defTabSz="1219170"/>
            <a:r>
              <a:rPr lang="en-US" sz="1333" dirty="0">
                <a:solidFill>
                  <a:srgbClr val="64748B"/>
                </a:solidFill>
                <a:latin typeface="Calibri" panose="020F0502020204030204"/>
              </a:rPr>
              <a:t>Maturité contrat</a:t>
            </a:r>
            <a:endParaRPr lang="en-US" sz="1333" dirty="0">
              <a:solidFill>
                <a:prstClr val="black"/>
              </a:solidFill>
              <a:latin typeface="Calibri" panose="020F0502020204030204"/>
            </a:endParaRPr>
          </a:p>
        </p:txBody>
      </p:sp>
      <p:sp>
        <p:nvSpPr>
          <p:cNvPr id="9" name="Shape 7"/>
          <p:cNvSpPr/>
          <p:nvPr/>
        </p:nvSpPr>
        <p:spPr>
          <a:xfrm>
            <a:off x="4267200" y="2621280"/>
            <a:ext cx="3657600" cy="2072640"/>
          </a:xfrm>
          <a:prstGeom prst="roundRect">
            <a:avLst>
              <a:gd name="adj" fmla="val 4706"/>
            </a:avLst>
          </a:prstGeom>
          <a:solidFill>
            <a:schemeClr val="bg1"/>
          </a:solidFill>
          <a:ln w="12700">
            <a:solidFill>
              <a:srgbClr val="E2E8F0"/>
            </a:solidFill>
            <a:prstDash val="solid"/>
          </a:ln>
          <a:effectLst>
            <a:outerShdw blurRad="101600" dist="25400" dir="2700000" algn="bl" rotWithShape="0">
              <a:srgbClr val="000000">
                <a:alpha val="12000"/>
              </a:srgbClr>
            </a:outerShdw>
          </a:effectLst>
        </p:spPr>
        <p:txBody>
          <a:bodyPr/>
          <a:lstStyle/>
          <a:p>
            <a:pPr defTabSz="1219170"/>
            <a:endParaRPr lang="fr-FR" sz="2400">
              <a:solidFill>
                <a:prstClr val="black"/>
              </a:solidFill>
              <a:latin typeface="Calibri" panose="020F0502020204030204"/>
            </a:endParaRPr>
          </a:p>
        </p:txBody>
      </p:sp>
      <p:sp>
        <p:nvSpPr>
          <p:cNvPr id="10" name="Text 8"/>
          <p:cNvSpPr/>
          <p:nvPr/>
        </p:nvSpPr>
        <p:spPr>
          <a:xfrm>
            <a:off x="4389120" y="2682240"/>
            <a:ext cx="3413760" cy="487680"/>
          </a:xfrm>
          <a:prstGeom prst="rect">
            <a:avLst/>
          </a:prstGeom>
          <a:noFill/>
          <a:ln/>
        </p:spPr>
        <p:txBody>
          <a:bodyPr wrap="square" rtlCol="0" anchor="ctr"/>
          <a:lstStyle/>
          <a:p>
            <a:pPr algn="ctr" defTabSz="1219170"/>
            <a:r>
              <a:rPr lang="en-US" sz="1600" b="1" dirty="0">
                <a:solidFill>
                  <a:srgbClr val="1E2761"/>
                </a:solidFill>
                <a:latin typeface="Calibri" panose="020F0502020204030204"/>
              </a:rPr>
              <a:t>ACHATENERGIE</a:t>
            </a:r>
            <a:endParaRPr lang="en-US" sz="1600" dirty="0">
              <a:solidFill>
                <a:prstClr val="black"/>
              </a:solidFill>
              <a:latin typeface="Calibri" panose="020F0502020204030204"/>
            </a:endParaRPr>
          </a:p>
        </p:txBody>
      </p:sp>
      <p:sp>
        <p:nvSpPr>
          <p:cNvPr id="11" name="Text 9"/>
          <p:cNvSpPr/>
          <p:nvPr/>
        </p:nvSpPr>
        <p:spPr>
          <a:xfrm>
            <a:off x="4450080" y="3194304"/>
            <a:ext cx="3291840" cy="1402080"/>
          </a:xfrm>
          <a:prstGeom prst="rect">
            <a:avLst/>
          </a:prstGeom>
          <a:noFill/>
          <a:ln/>
        </p:spPr>
        <p:txBody>
          <a:bodyPr wrap="square" rtlCol="0" anchor="ctr"/>
          <a:lstStyle/>
          <a:p>
            <a:pPr defTabSz="1219170"/>
            <a:r>
              <a:rPr lang="en-US" sz="1333" dirty="0">
                <a:solidFill>
                  <a:srgbClr val="64748B"/>
                </a:solidFill>
                <a:latin typeface="Calibri" panose="020F0502020204030204"/>
              </a:rPr>
              <a:t>Comportement recharge</a:t>
            </a:r>
            <a:endParaRPr lang="en-US" sz="1333" dirty="0">
              <a:solidFill>
                <a:prstClr val="black"/>
              </a:solidFill>
              <a:latin typeface="Calibri" panose="020F0502020204030204"/>
            </a:endParaRPr>
          </a:p>
          <a:p>
            <a:pPr defTabSz="1219170"/>
            <a:r>
              <a:rPr lang="en-US" sz="1333" dirty="0">
                <a:solidFill>
                  <a:srgbClr val="64748B"/>
                </a:solidFill>
                <a:latin typeface="Calibri" panose="020F0502020204030204"/>
              </a:rPr>
              <a:t>KWh achetés</a:t>
            </a:r>
            <a:endParaRPr lang="en-US" sz="1333" dirty="0">
              <a:solidFill>
                <a:prstClr val="black"/>
              </a:solidFill>
              <a:latin typeface="Calibri" panose="020F0502020204030204"/>
            </a:endParaRPr>
          </a:p>
          <a:p>
            <a:pPr defTabSz="1219170"/>
            <a:r>
              <a:rPr lang="en-US" sz="1333" dirty="0">
                <a:solidFill>
                  <a:srgbClr val="64748B"/>
                </a:solidFill>
                <a:latin typeface="Calibri" panose="020F0502020204030204"/>
              </a:rPr>
              <a:t>Ponction automatique</a:t>
            </a:r>
            <a:endParaRPr lang="en-US" sz="1333" dirty="0">
              <a:solidFill>
                <a:prstClr val="black"/>
              </a:solidFill>
              <a:latin typeface="Calibri" panose="020F0502020204030204"/>
            </a:endParaRPr>
          </a:p>
          <a:p>
            <a:pPr defTabSz="1219170"/>
            <a:r>
              <a:rPr lang="en-US" sz="1333" dirty="0">
                <a:solidFill>
                  <a:srgbClr val="64748B"/>
                </a:solidFill>
                <a:latin typeface="Calibri" panose="020F0502020204030204"/>
              </a:rPr>
              <a:t>Montant recharge</a:t>
            </a:r>
            <a:endParaRPr lang="en-US" sz="1333" dirty="0">
              <a:solidFill>
                <a:prstClr val="black"/>
              </a:solidFill>
              <a:latin typeface="Calibri" panose="020F0502020204030204"/>
            </a:endParaRPr>
          </a:p>
        </p:txBody>
      </p:sp>
      <p:sp>
        <p:nvSpPr>
          <p:cNvPr id="12" name="Shape 10"/>
          <p:cNvSpPr/>
          <p:nvPr/>
        </p:nvSpPr>
        <p:spPr>
          <a:xfrm>
            <a:off x="8168640" y="2621280"/>
            <a:ext cx="3657600" cy="2072640"/>
          </a:xfrm>
          <a:prstGeom prst="roundRect">
            <a:avLst>
              <a:gd name="adj" fmla="val 4706"/>
            </a:avLst>
          </a:prstGeom>
          <a:solidFill>
            <a:schemeClr val="bg1"/>
          </a:solidFill>
          <a:ln w="12700">
            <a:solidFill>
              <a:srgbClr val="E2E8F0"/>
            </a:solidFill>
            <a:prstDash val="solid"/>
          </a:ln>
          <a:effectLst>
            <a:outerShdw blurRad="101600" dist="25400" dir="2700000" algn="bl" rotWithShape="0">
              <a:srgbClr val="000000">
                <a:alpha val="12000"/>
              </a:srgbClr>
            </a:outerShdw>
          </a:effectLst>
        </p:spPr>
        <p:txBody>
          <a:bodyPr/>
          <a:lstStyle/>
          <a:p>
            <a:pPr defTabSz="1219170"/>
            <a:endParaRPr lang="fr-FR" sz="2400">
              <a:solidFill>
                <a:prstClr val="black"/>
              </a:solidFill>
              <a:latin typeface="Calibri" panose="020F0502020204030204"/>
            </a:endParaRPr>
          </a:p>
        </p:txBody>
      </p:sp>
      <p:sp>
        <p:nvSpPr>
          <p:cNvPr id="13" name="Text 11"/>
          <p:cNvSpPr/>
          <p:nvPr/>
        </p:nvSpPr>
        <p:spPr>
          <a:xfrm>
            <a:off x="8290560" y="2682240"/>
            <a:ext cx="3413760" cy="487680"/>
          </a:xfrm>
          <a:prstGeom prst="rect">
            <a:avLst/>
          </a:prstGeom>
          <a:noFill/>
          <a:ln/>
        </p:spPr>
        <p:txBody>
          <a:bodyPr wrap="square" rtlCol="0" anchor="ctr"/>
          <a:lstStyle/>
          <a:p>
            <a:pPr algn="ctr" defTabSz="1219170"/>
            <a:r>
              <a:rPr lang="en-US" sz="1600" b="1" dirty="0">
                <a:solidFill>
                  <a:srgbClr val="1E2761"/>
                </a:solidFill>
                <a:latin typeface="Calibri" panose="020F0502020204030204"/>
              </a:rPr>
              <a:t>REGLEMENT</a:t>
            </a:r>
            <a:endParaRPr lang="en-US" sz="1600" dirty="0">
              <a:solidFill>
                <a:prstClr val="black"/>
              </a:solidFill>
              <a:latin typeface="Calibri" panose="020F0502020204030204"/>
            </a:endParaRPr>
          </a:p>
        </p:txBody>
      </p:sp>
      <p:sp>
        <p:nvSpPr>
          <p:cNvPr id="14" name="Text 12"/>
          <p:cNvSpPr/>
          <p:nvPr/>
        </p:nvSpPr>
        <p:spPr>
          <a:xfrm>
            <a:off x="8351520" y="3194304"/>
            <a:ext cx="3291840" cy="1402080"/>
          </a:xfrm>
          <a:prstGeom prst="rect">
            <a:avLst/>
          </a:prstGeom>
          <a:noFill/>
          <a:ln/>
        </p:spPr>
        <p:txBody>
          <a:bodyPr wrap="square" rtlCol="0" anchor="ctr"/>
          <a:lstStyle/>
          <a:p>
            <a:pPr defTabSz="1219170"/>
            <a:r>
              <a:rPr lang="en-US" sz="1333" dirty="0">
                <a:solidFill>
                  <a:srgbClr val="64748B"/>
                </a:solidFill>
                <a:latin typeface="Calibri" panose="020F0502020204030204"/>
              </a:rPr>
              <a:t>Paiements directs</a:t>
            </a:r>
            <a:endParaRPr lang="en-US" sz="1333" dirty="0">
              <a:solidFill>
                <a:prstClr val="black"/>
              </a:solidFill>
              <a:latin typeface="Calibri" panose="020F0502020204030204"/>
            </a:endParaRPr>
          </a:p>
          <a:p>
            <a:pPr defTabSz="1219170"/>
            <a:r>
              <a:rPr lang="en-US" sz="1333" dirty="0">
                <a:solidFill>
                  <a:srgbClr val="64748B"/>
                </a:solidFill>
                <a:latin typeface="Calibri" panose="020F0502020204030204"/>
              </a:rPr>
              <a:t>Redevance via énergie</a:t>
            </a:r>
            <a:endParaRPr lang="en-US" sz="1333" dirty="0">
              <a:solidFill>
                <a:prstClr val="black"/>
              </a:solidFill>
              <a:latin typeface="Calibri" panose="020F0502020204030204"/>
            </a:endParaRPr>
          </a:p>
          <a:p>
            <a:pPr defTabSz="1219170"/>
            <a:r>
              <a:rPr lang="en-US" sz="1333" dirty="0">
                <a:solidFill>
                  <a:srgbClr val="64748B"/>
                </a:solidFill>
                <a:latin typeface="Calibri" panose="020F0502020204030204"/>
              </a:rPr>
              <a:t>Redevance branchement</a:t>
            </a:r>
            <a:endParaRPr lang="en-US" sz="1333" dirty="0">
              <a:solidFill>
                <a:prstClr val="black"/>
              </a:solidFill>
              <a:latin typeface="Calibri" panose="020F0502020204030204"/>
            </a:endParaRPr>
          </a:p>
        </p:txBody>
      </p:sp>
      <p:grpSp>
        <p:nvGrpSpPr>
          <p:cNvPr id="2" name="Groupe 1">
            <a:extLst>
              <a:ext uri="{FF2B5EF4-FFF2-40B4-BE49-F238E27FC236}">
                <a16:creationId xmlns:a16="http://schemas.microsoft.com/office/drawing/2014/main" id="{EE07F5E4-B436-0BE8-8E52-33C76EC54D24}"/>
              </a:ext>
            </a:extLst>
          </p:cNvPr>
          <p:cNvGrpSpPr/>
          <p:nvPr/>
        </p:nvGrpSpPr>
        <p:grpSpPr>
          <a:xfrm>
            <a:off x="11081151" y="124008"/>
            <a:ext cx="1002497" cy="997548"/>
            <a:chOff x="5594751" y="1197012"/>
            <a:chExt cx="1002497" cy="997548"/>
          </a:xfrm>
        </p:grpSpPr>
        <p:grpSp>
          <p:nvGrpSpPr>
            <p:cNvPr id="5" name="Groupe 4">
              <a:extLst>
                <a:ext uri="{FF2B5EF4-FFF2-40B4-BE49-F238E27FC236}">
                  <a16:creationId xmlns:a16="http://schemas.microsoft.com/office/drawing/2014/main" id="{46E5423D-64D1-55EE-BBE9-89AA358E2709}"/>
                </a:ext>
              </a:extLst>
            </p:cNvPr>
            <p:cNvGrpSpPr/>
            <p:nvPr/>
          </p:nvGrpSpPr>
          <p:grpSpPr>
            <a:xfrm>
              <a:off x="5594751" y="1197012"/>
              <a:ext cx="1002497" cy="997548"/>
              <a:chOff x="6263169" y="2855357"/>
              <a:chExt cx="600075" cy="612815"/>
            </a:xfrm>
          </p:grpSpPr>
          <p:sp>
            <p:nvSpPr>
              <p:cNvPr id="18" name="Organigramme : Connecteur 17">
                <a:extLst>
                  <a:ext uri="{FF2B5EF4-FFF2-40B4-BE49-F238E27FC236}">
                    <a16:creationId xmlns:a16="http://schemas.microsoft.com/office/drawing/2014/main" id="{22E8C350-2CCE-A256-B5F6-55B4B4640CD7}"/>
                  </a:ext>
                </a:extLst>
              </p:cNvPr>
              <p:cNvSpPr/>
              <p:nvPr/>
            </p:nvSpPr>
            <p:spPr>
              <a:xfrm>
                <a:off x="6263169" y="2855357"/>
                <a:ext cx="600075" cy="612815"/>
              </a:xfrm>
              <a:prstGeom prst="flowChartConnector">
                <a:avLst/>
              </a:prstGeom>
              <a:solidFill>
                <a:schemeClr val="bg1"/>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I"/>
              </a:p>
            </p:txBody>
          </p:sp>
          <p:sp>
            <p:nvSpPr>
              <p:cNvPr id="21" name="Organigramme : Connecteur 20">
                <a:extLst>
                  <a:ext uri="{FF2B5EF4-FFF2-40B4-BE49-F238E27FC236}">
                    <a16:creationId xmlns:a16="http://schemas.microsoft.com/office/drawing/2014/main" id="{B2532956-F615-E52C-DDD3-4890F65E828E}"/>
                  </a:ext>
                </a:extLst>
              </p:cNvPr>
              <p:cNvSpPr/>
              <p:nvPr/>
            </p:nvSpPr>
            <p:spPr>
              <a:xfrm>
                <a:off x="6370324" y="2964924"/>
                <a:ext cx="385763" cy="393680"/>
              </a:xfrm>
              <a:prstGeom prst="flowChartConnector">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I" dirty="0"/>
              </a:p>
            </p:txBody>
          </p:sp>
        </p:grpSp>
        <p:pic>
          <p:nvPicPr>
            <p:cNvPr id="16" name="Graphic 1031">
              <a:extLst>
                <a:ext uri="{FF2B5EF4-FFF2-40B4-BE49-F238E27FC236}">
                  <a16:creationId xmlns:a16="http://schemas.microsoft.com/office/drawing/2014/main" id="{4B3E98B3-B460-C1FA-C9D1-AC9AECC8D409}"/>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867397" y="1467186"/>
              <a:ext cx="457200" cy="457200"/>
            </a:xfrm>
            <a:prstGeom prst="rect">
              <a:avLst/>
            </a:prstGeom>
          </p:spPr>
        </p:pic>
      </p:grpSp>
      <p:sp>
        <p:nvSpPr>
          <p:cNvPr id="23" name="ZoneTexte 22">
            <a:extLst>
              <a:ext uri="{FF2B5EF4-FFF2-40B4-BE49-F238E27FC236}">
                <a16:creationId xmlns:a16="http://schemas.microsoft.com/office/drawing/2014/main" id="{116B5954-F17B-D38C-3F46-6EE3EDB43057}"/>
              </a:ext>
            </a:extLst>
          </p:cNvPr>
          <p:cNvSpPr txBox="1"/>
          <p:nvPr/>
        </p:nvSpPr>
        <p:spPr>
          <a:xfrm>
            <a:off x="61747" y="40933"/>
            <a:ext cx="5767553" cy="369332"/>
          </a:xfrm>
          <a:prstGeom prst="rect">
            <a:avLst/>
          </a:prstGeom>
          <a:noFill/>
          <a:effectLst>
            <a:reflection stA="63000" endPos="11000" dist="50800" dir="5400000" sy="-100000" algn="bl" rotWithShape="0"/>
          </a:effectLst>
        </p:spPr>
        <p:txBody>
          <a:bodyPr wrap="square" rtlCol="0">
            <a:spAutoFit/>
          </a:bodyPr>
          <a:lstStyle/>
          <a:p>
            <a:r>
              <a:rPr lang="fr-CI" b="1" dirty="0">
                <a:solidFill>
                  <a:schemeClr val="accent1">
                    <a:lumMod val="50000"/>
                  </a:schemeClr>
                </a:solidFill>
                <a:latin typeface="+mn-lt" panose="020E0705020206020404" pitchFamily="34" charset="0"/>
              </a:rPr>
              <a:t>Partie 3 : Données &amp; Méthodologie</a:t>
            </a:r>
          </a:p>
        </p:txBody>
      </p:sp>
    </p:spTree>
    <p:extLst>
      <p:ext uri="{BB962C8B-B14F-4D97-AF65-F5344CB8AC3E}">
        <p14:creationId xmlns:p14="http://schemas.microsoft.com/office/powerpoint/2010/main" val="30513138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1564A1-2F12-F755-5F85-73C33B0EB142}"/>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C0743248-0864-E523-1586-EDA44090E077}"/>
              </a:ext>
            </a:extLst>
          </p:cNvPr>
          <p:cNvSpPr/>
          <p:nvPr/>
        </p:nvSpPr>
        <p:spPr>
          <a:xfrm>
            <a:off x="1651000" y="943200"/>
            <a:ext cx="8890000" cy="762000"/>
          </a:xfrm>
          <a:prstGeom prst="rect">
            <a:avLst/>
          </a:prstGeom>
          <a:noFill/>
          <a:ln/>
        </p:spPr>
        <p:txBody>
          <a:bodyPr wrap="square" rtlCol="0" anchor="ctr"/>
          <a:lstStyle/>
          <a:p>
            <a:pPr algn="ctr"/>
            <a:r>
              <a:rPr lang="fr-FR" sz="3600" b="1" dirty="0">
                <a:solidFill>
                  <a:srgbClr val="002060"/>
                </a:solidFill>
              </a:rPr>
              <a:t>Logique métier du Programme EPT</a:t>
            </a:r>
          </a:p>
        </p:txBody>
      </p:sp>
      <p:grpSp>
        <p:nvGrpSpPr>
          <p:cNvPr id="2" name="Groupe 1">
            <a:extLst>
              <a:ext uri="{FF2B5EF4-FFF2-40B4-BE49-F238E27FC236}">
                <a16:creationId xmlns:a16="http://schemas.microsoft.com/office/drawing/2014/main" id="{9D0D5477-064D-AF39-8E0C-07907E0F308D}"/>
              </a:ext>
            </a:extLst>
          </p:cNvPr>
          <p:cNvGrpSpPr/>
          <p:nvPr/>
        </p:nvGrpSpPr>
        <p:grpSpPr>
          <a:xfrm>
            <a:off x="11081151" y="124008"/>
            <a:ext cx="1002497" cy="997548"/>
            <a:chOff x="5594751" y="1197012"/>
            <a:chExt cx="1002497" cy="997548"/>
          </a:xfrm>
        </p:grpSpPr>
        <p:grpSp>
          <p:nvGrpSpPr>
            <p:cNvPr id="5" name="Groupe 4">
              <a:extLst>
                <a:ext uri="{FF2B5EF4-FFF2-40B4-BE49-F238E27FC236}">
                  <a16:creationId xmlns:a16="http://schemas.microsoft.com/office/drawing/2014/main" id="{02A3BCFF-1ED7-BE32-0732-8CD0C0B3318F}"/>
                </a:ext>
              </a:extLst>
            </p:cNvPr>
            <p:cNvGrpSpPr/>
            <p:nvPr/>
          </p:nvGrpSpPr>
          <p:grpSpPr>
            <a:xfrm>
              <a:off x="5594751" y="1197012"/>
              <a:ext cx="1002497" cy="997548"/>
              <a:chOff x="6263169" y="2855357"/>
              <a:chExt cx="600075" cy="612815"/>
            </a:xfrm>
          </p:grpSpPr>
          <p:sp>
            <p:nvSpPr>
              <p:cNvPr id="18" name="Organigramme : Connecteur 17">
                <a:extLst>
                  <a:ext uri="{FF2B5EF4-FFF2-40B4-BE49-F238E27FC236}">
                    <a16:creationId xmlns:a16="http://schemas.microsoft.com/office/drawing/2014/main" id="{7E5332DB-7E40-90ED-FDAF-DE45FEA3B810}"/>
                  </a:ext>
                </a:extLst>
              </p:cNvPr>
              <p:cNvSpPr/>
              <p:nvPr/>
            </p:nvSpPr>
            <p:spPr>
              <a:xfrm>
                <a:off x="6263169" y="2855357"/>
                <a:ext cx="600075" cy="612815"/>
              </a:xfrm>
              <a:prstGeom prst="flowChartConnector">
                <a:avLst/>
              </a:prstGeom>
              <a:solidFill>
                <a:schemeClr val="bg1"/>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I"/>
              </a:p>
            </p:txBody>
          </p:sp>
          <p:sp>
            <p:nvSpPr>
              <p:cNvPr id="21" name="Organigramme : Connecteur 20">
                <a:extLst>
                  <a:ext uri="{FF2B5EF4-FFF2-40B4-BE49-F238E27FC236}">
                    <a16:creationId xmlns:a16="http://schemas.microsoft.com/office/drawing/2014/main" id="{F079BFF4-0C07-5CE4-9115-08E4B9CB5117}"/>
                  </a:ext>
                </a:extLst>
              </p:cNvPr>
              <p:cNvSpPr/>
              <p:nvPr/>
            </p:nvSpPr>
            <p:spPr>
              <a:xfrm>
                <a:off x="6370324" y="2964924"/>
                <a:ext cx="385763" cy="393680"/>
              </a:xfrm>
              <a:prstGeom prst="flowChartConnector">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I" dirty="0"/>
              </a:p>
            </p:txBody>
          </p:sp>
        </p:grpSp>
        <p:pic>
          <p:nvPicPr>
            <p:cNvPr id="16" name="Graphic 1031">
              <a:extLst>
                <a:ext uri="{FF2B5EF4-FFF2-40B4-BE49-F238E27FC236}">
                  <a16:creationId xmlns:a16="http://schemas.microsoft.com/office/drawing/2014/main" id="{589CE4DE-459F-695E-CC2C-E4F7BCAF6A4C}"/>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867397" y="1467186"/>
              <a:ext cx="457200" cy="457200"/>
            </a:xfrm>
            <a:prstGeom prst="rect">
              <a:avLst/>
            </a:prstGeom>
          </p:spPr>
        </p:pic>
      </p:grpSp>
      <p:sp>
        <p:nvSpPr>
          <p:cNvPr id="23" name="ZoneTexte 22">
            <a:extLst>
              <a:ext uri="{FF2B5EF4-FFF2-40B4-BE49-F238E27FC236}">
                <a16:creationId xmlns:a16="http://schemas.microsoft.com/office/drawing/2014/main" id="{ADFF1474-9933-395A-9F6F-BDC633887CE2}"/>
              </a:ext>
            </a:extLst>
          </p:cNvPr>
          <p:cNvSpPr txBox="1"/>
          <p:nvPr/>
        </p:nvSpPr>
        <p:spPr>
          <a:xfrm>
            <a:off x="61747" y="40933"/>
            <a:ext cx="5767553" cy="369332"/>
          </a:xfrm>
          <a:prstGeom prst="rect">
            <a:avLst/>
          </a:prstGeom>
          <a:noFill/>
          <a:effectLst>
            <a:reflection stA="63000" endPos="11000" dist="50800" dir="5400000" sy="-100000" algn="bl" rotWithShape="0"/>
          </a:effectLst>
        </p:spPr>
        <p:txBody>
          <a:bodyPr wrap="square" rtlCol="0">
            <a:spAutoFit/>
          </a:bodyPr>
          <a:lstStyle/>
          <a:p>
            <a:r>
              <a:rPr lang="fr-CI" b="1" dirty="0">
                <a:solidFill>
                  <a:schemeClr val="accent1">
                    <a:lumMod val="50000"/>
                  </a:schemeClr>
                </a:solidFill>
                <a:latin typeface="+mn-lt" panose="020E0705020206020404" pitchFamily="34" charset="0"/>
              </a:rPr>
              <a:t>Partie 3 : Données &amp; Méthodologie</a:t>
            </a:r>
          </a:p>
        </p:txBody>
      </p:sp>
      <p:sp>
        <p:nvSpPr>
          <p:cNvPr id="15" name="Shape 2">
            <a:extLst>
              <a:ext uri="{FF2B5EF4-FFF2-40B4-BE49-F238E27FC236}">
                <a16:creationId xmlns:a16="http://schemas.microsoft.com/office/drawing/2014/main" id="{50E4571B-26D7-6455-8892-AD0E2D5D733F}"/>
              </a:ext>
            </a:extLst>
          </p:cNvPr>
          <p:cNvSpPr/>
          <p:nvPr/>
        </p:nvSpPr>
        <p:spPr>
          <a:xfrm>
            <a:off x="365760" y="2083978"/>
            <a:ext cx="11460480" cy="1219200"/>
          </a:xfrm>
          <a:prstGeom prst="roundRect">
            <a:avLst>
              <a:gd name="adj" fmla="val 6154"/>
            </a:avLst>
          </a:prstGeom>
          <a:solidFill>
            <a:srgbClr val="FFFFFF"/>
          </a:solidFill>
          <a:ln w="6350">
            <a:solidFill>
              <a:srgbClr val="E2E8F0"/>
            </a:solidFill>
            <a:prstDash val="solid"/>
          </a:ln>
          <a:effectLst>
            <a:outerShdw blurRad="101600" dist="25400" dir="2700000" algn="bl" rotWithShape="0">
              <a:srgbClr val="000000">
                <a:alpha val="12000"/>
              </a:srgbClr>
            </a:outerShdw>
          </a:effectLst>
        </p:spPr>
        <p:txBody>
          <a:bodyPr/>
          <a:lstStyle/>
          <a:p>
            <a:endParaRPr lang="fr-FR"/>
          </a:p>
        </p:txBody>
      </p:sp>
      <p:sp>
        <p:nvSpPr>
          <p:cNvPr id="19" name="Text 3">
            <a:extLst>
              <a:ext uri="{FF2B5EF4-FFF2-40B4-BE49-F238E27FC236}">
                <a16:creationId xmlns:a16="http://schemas.microsoft.com/office/drawing/2014/main" id="{AE4A1EDD-B744-505C-BB89-E74383AE7DB9}"/>
              </a:ext>
            </a:extLst>
          </p:cNvPr>
          <p:cNvSpPr/>
          <p:nvPr/>
        </p:nvSpPr>
        <p:spPr>
          <a:xfrm>
            <a:off x="609600" y="2226228"/>
            <a:ext cx="10972800" cy="426720"/>
          </a:xfrm>
          <a:prstGeom prst="rect">
            <a:avLst/>
          </a:prstGeom>
          <a:noFill/>
          <a:ln/>
        </p:spPr>
        <p:txBody>
          <a:bodyPr wrap="square" rtlCol="0" anchor="ctr"/>
          <a:lstStyle/>
          <a:p>
            <a:pPr defTabSz="1219170"/>
            <a:r>
              <a:rPr lang="en-US" sz="1733" b="1" dirty="0">
                <a:solidFill>
                  <a:srgbClr val="1E2761"/>
                </a:solidFill>
                <a:latin typeface="Calibri" panose="020F0502020204030204"/>
              </a:rPr>
              <a:t>Redevance mensuelle normative</a:t>
            </a:r>
            <a:endParaRPr lang="en-US" sz="1733" dirty="0">
              <a:solidFill>
                <a:prstClr val="black"/>
              </a:solidFill>
              <a:latin typeface="Calibri" panose="020F0502020204030204"/>
            </a:endParaRPr>
          </a:p>
        </p:txBody>
      </p:sp>
      <p:sp>
        <p:nvSpPr>
          <p:cNvPr id="22" name="Text 4">
            <a:extLst>
              <a:ext uri="{FF2B5EF4-FFF2-40B4-BE49-F238E27FC236}">
                <a16:creationId xmlns:a16="http://schemas.microsoft.com/office/drawing/2014/main" id="{6C749F2D-A3AD-535A-C38C-7F1B70CAC752}"/>
              </a:ext>
            </a:extLst>
          </p:cNvPr>
          <p:cNvSpPr/>
          <p:nvPr/>
        </p:nvSpPr>
        <p:spPr>
          <a:xfrm>
            <a:off x="609600" y="2652948"/>
            <a:ext cx="10972800" cy="447020"/>
          </a:xfrm>
          <a:prstGeom prst="rect">
            <a:avLst/>
          </a:prstGeom>
          <a:noFill/>
          <a:ln/>
        </p:spPr>
        <p:txBody>
          <a:bodyPr wrap="square" rtlCol="0" anchor="ctr"/>
          <a:lstStyle/>
          <a:p>
            <a:pPr defTabSz="1219170"/>
            <a:r>
              <a:rPr lang="en-US" sz="1467" dirty="0">
                <a:solidFill>
                  <a:srgbClr val="64748B"/>
                </a:solidFill>
                <a:latin typeface="Calibri" panose="020F0502020204030204"/>
              </a:rPr>
              <a:t>Montant théorique mensuel dû par le client, fixé selon le type d'offre et la durée de remboursement (jusqu'à 10 ans).</a:t>
            </a:r>
            <a:endParaRPr lang="en-US" sz="1467" dirty="0">
              <a:solidFill>
                <a:prstClr val="black"/>
              </a:solidFill>
              <a:latin typeface="Calibri" panose="020F0502020204030204"/>
            </a:endParaRPr>
          </a:p>
        </p:txBody>
      </p:sp>
      <p:sp>
        <p:nvSpPr>
          <p:cNvPr id="25" name="Shape 5">
            <a:extLst>
              <a:ext uri="{FF2B5EF4-FFF2-40B4-BE49-F238E27FC236}">
                <a16:creationId xmlns:a16="http://schemas.microsoft.com/office/drawing/2014/main" id="{C157322C-C0E0-8C38-3AA6-D0DF7279B3EC}"/>
              </a:ext>
            </a:extLst>
          </p:cNvPr>
          <p:cNvSpPr/>
          <p:nvPr/>
        </p:nvSpPr>
        <p:spPr>
          <a:xfrm>
            <a:off x="365760" y="3515908"/>
            <a:ext cx="5608320" cy="1645920"/>
          </a:xfrm>
          <a:prstGeom prst="roundRect">
            <a:avLst>
              <a:gd name="adj" fmla="val 4848"/>
            </a:avLst>
          </a:prstGeom>
          <a:solidFill>
            <a:srgbClr val="1E2761"/>
          </a:solidFill>
          <a:ln w="12700">
            <a:solidFill>
              <a:srgbClr val="1E2761"/>
            </a:solidFill>
            <a:prstDash val="solid"/>
          </a:ln>
        </p:spPr>
        <p:txBody>
          <a:bodyPr/>
          <a:lstStyle/>
          <a:p>
            <a:endParaRPr lang="fr-FR"/>
          </a:p>
        </p:txBody>
      </p:sp>
      <p:sp>
        <p:nvSpPr>
          <p:cNvPr id="27" name="Text 6">
            <a:extLst>
              <a:ext uri="{FF2B5EF4-FFF2-40B4-BE49-F238E27FC236}">
                <a16:creationId xmlns:a16="http://schemas.microsoft.com/office/drawing/2014/main" id="{1094C943-7846-88B4-BE76-42B54254076B}"/>
              </a:ext>
            </a:extLst>
          </p:cNvPr>
          <p:cNvSpPr/>
          <p:nvPr/>
        </p:nvSpPr>
        <p:spPr>
          <a:xfrm>
            <a:off x="609600" y="3662212"/>
            <a:ext cx="5120640" cy="426720"/>
          </a:xfrm>
          <a:prstGeom prst="rect">
            <a:avLst/>
          </a:prstGeom>
          <a:noFill/>
          <a:ln/>
        </p:spPr>
        <p:txBody>
          <a:bodyPr wrap="square" rtlCol="0" anchor="ctr"/>
          <a:lstStyle/>
          <a:p>
            <a:pPr defTabSz="1219170"/>
            <a:r>
              <a:rPr lang="en-US" sz="1733" b="1" dirty="0">
                <a:solidFill>
                  <a:srgbClr val="FFFFFF"/>
                </a:solidFill>
                <a:latin typeface="Calibri" panose="020F0502020204030204"/>
              </a:rPr>
              <a:t>Ponction automatique</a:t>
            </a:r>
            <a:endParaRPr lang="en-US" sz="1733" dirty="0">
              <a:solidFill>
                <a:prstClr val="black"/>
              </a:solidFill>
              <a:latin typeface="Calibri" panose="020F0502020204030204"/>
            </a:endParaRPr>
          </a:p>
        </p:txBody>
      </p:sp>
      <p:sp>
        <p:nvSpPr>
          <p:cNvPr id="29" name="Text 7">
            <a:extLst>
              <a:ext uri="{FF2B5EF4-FFF2-40B4-BE49-F238E27FC236}">
                <a16:creationId xmlns:a16="http://schemas.microsoft.com/office/drawing/2014/main" id="{6BCCCE8C-3CF3-2DD4-A566-89D7749C2758}"/>
              </a:ext>
            </a:extLst>
          </p:cNvPr>
          <p:cNvSpPr/>
          <p:nvPr/>
        </p:nvSpPr>
        <p:spPr>
          <a:xfrm>
            <a:off x="609600" y="4125508"/>
            <a:ext cx="5120640" cy="495044"/>
          </a:xfrm>
          <a:prstGeom prst="rect">
            <a:avLst/>
          </a:prstGeom>
          <a:noFill/>
          <a:ln/>
        </p:spPr>
        <p:txBody>
          <a:bodyPr wrap="square" rtlCol="0" anchor="ctr"/>
          <a:lstStyle/>
          <a:p>
            <a:pPr defTabSz="1219170"/>
            <a:r>
              <a:rPr lang="en-US" sz="1467" dirty="0">
                <a:solidFill>
                  <a:srgbClr val="CADCFC"/>
                </a:solidFill>
                <a:latin typeface="Calibri" panose="020F0502020204030204"/>
              </a:rPr>
              <a:t>Prélèvement automatique sur chaque recharge du compteur prépayé, affecté au remboursement du branchement.</a:t>
            </a:r>
            <a:endParaRPr lang="en-US" sz="1467" dirty="0">
              <a:solidFill>
                <a:prstClr val="black"/>
              </a:solidFill>
              <a:latin typeface="Calibri" panose="020F0502020204030204"/>
            </a:endParaRPr>
          </a:p>
        </p:txBody>
      </p:sp>
      <p:sp>
        <p:nvSpPr>
          <p:cNvPr id="31" name="Text 8">
            <a:extLst>
              <a:ext uri="{FF2B5EF4-FFF2-40B4-BE49-F238E27FC236}">
                <a16:creationId xmlns:a16="http://schemas.microsoft.com/office/drawing/2014/main" id="{F9413D69-0F57-D39C-BFC1-8A7ADD148EE8}"/>
              </a:ext>
            </a:extLst>
          </p:cNvPr>
          <p:cNvSpPr/>
          <p:nvPr/>
        </p:nvSpPr>
        <p:spPr>
          <a:xfrm>
            <a:off x="609600" y="4708310"/>
            <a:ext cx="5120640" cy="365760"/>
          </a:xfrm>
          <a:prstGeom prst="rect">
            <a:avLst/>
          </a:prstGeom>
          <a:noFill/>
          <a:ln/>
        </p:spPr>
        <p:txBody>
          <a:bodyPr wrap="square" rtlCol="0" anchor="ctr"/>
          <a:lstStyle/>
          <a:p>
            <a:pPr defTabSz="1219170"/>
            <a:r>
              <a:rPr lang="en-US" sz="1400" b="1" dirty="0">
                <a:solidFill>
                  <a:srgbClr val="F59E0B"/>
                </a:solidFill>
                <a:latin typeface="Calibri" panose="020F0502020204030204"/>
              </a:rPr>
              <a:t>→ variable Ponction (ACHATENERGIE)</a:t>
            </a:r>
            <a:endParaRPr lang="en-US" sz="1400" b="1" dirty="0">
              <a:solidFill>
                <a:prstClr val="black"/>
              </a:solidFill>
              <a:latin typeface="Calibri" panose="020F0502020204030204"/>
            </a:endParaRPr>
          </a:p>
        </p:txBody>
      </p:sp>
      <p:sp>
        <p:nvSpPr>
          <p:cNvPr id="33" name="Shape 9">
            <a:extLst>
              <a:ext uri="{FF2B5EF4-FFF2-40B4-BE49-F238E27FC236}">
                <a16:creationId xmlns:a16="http://schemas.microsoft.com/office/drawing/2014/main" id="{BEC125E3-8700-5983-8B4D-2751F6A5C758}"/>
              </a:ext>
            </a:extLst>
          </p:cNvPr>
          <p:cNvSpPr/>
          <p:nvPr/>
        </p:nvSpPr>
        <p:spPr>
          <a:xfrm>
            <a:off x="6278880" y="3515908"/>
            <a:ext cx="5608320" cy="1645920"/>
          </a:xfrm>
          <a:prstGeom prst="roundRect">
            <a:avLst>
              <a:gd name="adj" fmla="val 4848"/>
            </a:avLst>
          </a:prstGeom>
          <a:solidFill>
            <a:srgbClr val="2D3E8F"/>
          </a:solidFill>
          <a:ln w="12700">
            <a:solidFill>
              <a:srgbClr val="2D3E8F"/>
            </a:solidFill>
            <a:prstDash val="solid"/>
          </a:ln>
        </p:spPr>
        <p:txBody>
          <a:bodyPr/>
          <a:lstStyle/>
          <a:p>
            <a:endParaRPr lang="fr-FR"/>
          </a:p>
        </p:txBody>
      </p:sp>
      <p:sp>
        <p:nvSpPr>
          <p:cNvPr id="35" name="Text 10">
            <a:extLst>
              <a:ext uri="{FF2B5EF4-FFF2-40B4-BE49-F238E27FC236}">
                <a16:creationId xmlns:a16="http://schemas.microsoft.com/office/drawing/2014/main" id="{31BA3A5B-16FC-00D3-7915-1C13D657C128}"/>
              </a:ext>
            </a:extLst>
          </p:cNvPr>
          <p:cNvSpPr/>
          <p:nvPr/>
        </p:nvSpPr>
        <p:spPr>
          <a:xfrm>
            <a:off x="6522720" y="3662212"/>
            <a:ext cx="5120640" cy="426720"/>
          </a:xfrm>
          <a:prstGeom prst="rect">
            <a:avLst/>
          </a:prstGeom>
          <a:noFill/>
          <a:ln/>
        </p:spPr>
        <p:txBody>
          <a:bodyPr wrap="square" rtlCol="0" anchor="ctr"/>
          <a:lstStyle/>
          <a:p>
            <a:pPr defTabSz="1219170"/>
            <a:r>
              <a:rPr lang="en-US" sz="1733" b="1" dirty="0">
                <a:solidFill>
                  <a:srgbClr val="FFFFFF"/>
                </a:solidFill>
                <a:latin typeface="Calibri" panose="020F0502020204030204"/>
              </a:rPr>
              <a:t>Paiement direct</a:t>
            </a:r>
            <a:endParaRPr lang="en-US" sz="1733" dirty="0">
              <a:solidFill>
                <a:prstClr val="black"/>
              </a:solidFill>
              <a:latin typeface="Calibri" panose="020F0502020204030204"/>
            </a:endParaRPr>
          </a:p>
        </p:txBody>
      </p:sp>
      <p:sp>
        <p:nvSpPr>
          <p:cNvPr id="37" name="Text 11">
            <a:extLst>
              <a:ext uri="{FF2B5EF4-FFF2-40B4-BE49-F238E27FC236}">
                <a16:creationId xmlns:a16="http://schemas.microsoft.com/office/drawing/2014/main" id="{607CD992-FE6A-A51F-44C9-EA872C54AAAA}"/>
              </a:ext>
            </a:extLst>
          </p:cNvPr>
          <p:cNvSpPr/>
          <p:nvPr/>
        </p:nvSpPr>
        <p:spPr>
          <a:xfrm>
            <a:off x="6522720" y="4125508"/>
            <a:ext cx="5120640" cy="568162"/>
          </a:xfrm>
          <a:prstGeom prst="rect">
            <a:avLst/>
          </a:prstGeom>
          <a:noFill/>
          <a:ln/>
        </p:spPr>
        <p:txBody>
          <a:bodyPr wrap="square" rtlCol="0" anchor="ctr"/>
          <a:lstStyle/>
          <a:p>
            <a:pPr defTabSz="1219170"/>
            <a:r>
              <a:rPr lang="en-US" sz="1467" dirty="0">
                <a:solidFill>
                  <a:srgbClr val="CADCFC"/>
                </a:solidFill>
                <a:latin typeface="Calibri" panose="020F0502020204030204"/>
              </a:rPr>
              <a:t>Versement complémentaire effectué hors recharge, pour les clients dont les recharges ne couvrent pas la redevance.</a:t>
            </a:r>
            <a:endParaRPr lang="en-US" sz="1467" dirty="0">
              <a:solidFill>
                <a:prstClr val="black"/>
              </a:solidFill>
              <a:latin typeface="Calibri" panose="020F0502020204030204"/>
            </a:endParaRPr>
          </a:p>
        </p:txBody>
      </p:sp>
      <p:sp>
        <p:nvSpPr>
          <p:cNvPr id="39" name="Text 12">
            <a:extLst>
              <a:ext uri="{FF2B5EF4-FFF2-40B4-BE49-F238E27FC236}">
                <a16:creationId xmlns:a16="http://schemas.microsoft.com/office/drawing/2014/main" id="{9F02D652-FA82-135B-77EC-ED9A4B1BB5FD}"/>
              </a:ext>
            </a:extLst>
          </p:cNvPr>
          <p:cNvSpPr/>
          <p:nvPr/>
        </p:nvSpPr>
        <p:spPr>
          <a:xfrm>
            <a:off x="6522720" y="4708310"/>
            <a:ext cx="5120640" cy="365760"/>
          </a:xfrm>
          <a:prstGeom prst="rect">
            <a:avLst/>
          </a:prstGeom>
          <a:noFill/>
          <a:ln/>
        </p:spPr>
        <p:txBody>
          <a:bodyPr wrap="square" rtlCol="0" anchor="ctr"/>
          <a:lstStyle/>
          <a:p>
            <a:pPr defTabSz="1219170"/>
            <a:r>
              <a:rPr lang="en-US" sz="1400" b="1" dirty="0">
                <a:solidFill>
                  <a:srgbClr val="F59E0B"/>
                </a:solidFill>
                <a:latin typeface="Calibri" panose="020F0502020204030204"/>
              </a:rPr>
              <a:t>→ variable RedevancebranchementuniquementFCFA (REGLEMENT)</a:t>
            </a:r>
            <a:endParaRPr lang="en-US" sz="1400" b="1" dirty="0">
              <a:solidFill>
                <a:prstClr val="black"/>
              </a:solidFill>
              <a:latin typeface="Calibri" panose="020F0502020204030204"/>
            </a:endParaRPr>
          </a:p>
        </p:txBody>
      </p:sp>
      <p:sp>
        <p:nvSpPr>
          <p:cNvPr id="41" name="Shape 13">
            <a:extLst>
              <a:ext uri="{FF2B5EF4-FFF2-40B4-BE49-F238E27FC236}">
                <a16:creationId xmlns:a16="http://schemas.microsoft.com/office/drawing/2014/main" id="{3E8B0456-773F-E85A-E48D-7F084C4B5228}"/>
              </a:ext>
            </a:extLst>
          </p:cNvPr>
          <p:cNvSpPr/>
          <p:nvPr/>
        </p:nvSpPr>
        <p:spPr>
          <a:xfrm>
            <a:off x="365760" y="5374558"/>
            <a:ext cx="11460480" cy="609600"/>
          </a:xfrm>
          <a:prstGeom prst="roundRect">
            <a:avLst>
              <a:gd name="adj" fmla="val 11429"/>
            </a:avLst>
          </a:prstGeom>
          <a:solidFill>
            <a:srgbClr val="1E2761"/>
          </a:solidFill>
          <a:ln w="12700">
            <a:solidFill>
              <a:srgbClr val="1E2761"/>
            </a:solidFill>
            <a:prstDash val="solid"/>
          </a:ln>
        </p:spPr>
        <p:txBody>
          <a:bodyPr/>
          <a:lstStyle/>
          <a:p>
            <a:endParaRPr lang="fr-FR"/>
          </a:p>
        </p:txBody>
      </p:sp>
      <p:sp>
        <p:nvSpPr>
          <p:cNvPr id="43" name="Text 14">
            <a:extLst>
              <a:ext uri="{FF2B5EF4-FFF2-40B4-BE49-F238E27FC236}">
                <a16:creationId xmlns:a16="http://schemas.microsoft.com/office/drawing/2014/main" id="{6A1B3D76-8E4A-7EE7-F567-98C4326BEB34}"/>
              </a:ext>
            </a:extLst>
          </p:cNvPr>
          <p:cNvSpPr/>
          <p:nvPr/>
        </p:nvSpPr>
        <p:spPr>
          <a:xfrm>
            <a:off x="365760" y="5435518"/>
            <a:ext cx="11460480" cy="487680"/>
          </a:xfrm>
          <a:prstGeom prst="rect">
            <a:avLst/>
          </a:prstGeom>
          <a:noFill/>
          <a:ln/>
        </p:spPr>
        <p:txBody>
          <a:bodyPr wrap="square" rtlCol="0" anchor="ctr"/>
          <a:lstStyle/>
          <a:p>
            <a:pPr algn="ctr" defTabSz="1219170"/>
            <a:r>
              <a:rPr lang="en-US" sz="1867" dirty="0">
                <a:solidFill>
                  <a:srgbClr val="CADCFC"/>
                </a:solidFill>
                <a:latin typeface="Calibri" panose="020F0502020204030204"/>
              </a:rPr>
              <a:t>redevance_paye  =  </a:t>
            </a:r>
            <a:r>
              <a:rPr lang="en-US" sz="1867" b="1" dirty="0">
                <a:solidFill>
                  <a:srgbClr val="F59E0B"/>
                </a:solidFill>
                <a:latin typeface="Calibri" panose="020F0502020204030204"/>
              </a:rPr>
              <a:t>Ponction</a:t>
            </a:r>
            <a:r>
              <a:rPr lang="en-US" sz="1867" dirty="0">
                <a:solidFill>
                  <a:srgbClr val="CADCFC"/>
                </a:solidFill>
                <a:latin typeface="Calibri" panose="020F0502020204030204"/>
              </a:rPr>
              <a:t>  +  </a:t>
            </a:r>
            <a:r>
              <a:rPr lang="en-US" sz="1867" b="1" dirty="0">
                <a:solidFill>
                  <a:srgbClr val="F59E0B"/>
                </a:solidFill>
                <a:latin typeface="Calibri" panose="020F0502020204030204"/>
              </a:rPr>
              <a:t>RedevancebranchementuniquementFCFA</a:t>
            </a:r>
            <a:endParaRPr lang="en-US" sz="1867" dirty="0">
              <a:solidFill>
                <a:prstClr val="black"/>
              </a:solidFill>
              <a:latin typeface="Calibri" panose="020F0502020204030204"/>
            </a:endParaRPr>
          </a:p>
        </p:txBody>
      </p:sp>
    </p:spTree>
    <p:extLst>
      <p:ext uri="{BB962C8B-B14F-4D97-AF65-F5344CB8AC3E}">
        <p14:creationId xmlns:p14="http://schemas.microsoft.com/office/powerpoint/2010/main" val="34964014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A44240-4222-D471-8517-D820034CD425}"/>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E4B2D0EC-DC20-853C-E527-533276750D07}"/>
              </a:ext>
            </a:extLst>
          </p:cNvPr>
          <p:cNvSpPr/>
          <p:nvPr/>
        </p:nvSpPr>
        <p:spPr>
          <a:xfrm>
            <a:off x="1651000" y="943200"/>
            <a:ext cx="8890000" cy="762000"/>
          </a:xfrm>
          <a:prstGeom prst="rect">
            <a:avLst/>
          </a:prstGeom>
          <a:noFill/>
          <a:ln/>
        </p:spPr>
        <p:txBody>
          <a:bodyPr wrap="square" rtlCol="0" anchor="ctr"/>
          <a:lstStyle/>
          <a:p>
            <a:pPr algn="ctr"/>
            <a:r>
              <a:rPr lang="fr-FR" sz="3600" b="1" dirty="0">
                <a:solidFill>
                  <a:srgbClr val="002060"/>
                </a:solidFill>
              </a:rPr>
              <a:t>Définition de la variable cible</a:t>
            </a:r>
          </a:p>
        </p:txBody>
      </p:sp>
      <p:grpSp>
        <p:nvGrpSpPr>
          <p:cNvPr id="2" name="Groupe 1">
            <a:extLst>
              <a:ext uri="{FF2B5EF4-FFF2-40B4-BE49-F238E27FC236}">
                <a16:creationId xmlns:a16="http://schemas.microsoft.com/office/drawing/2014/main" id="{DF00E5DD-9463-4C9B-4CBA-69DBA77E19F2}"/>
              </a:ext>
            </a:extLst>
          </p:cNvPr>
          <p:cNvGrpSpPr/>
          <p:nvPr/>
        </p:nvGrpSpPr>
        <p:grpSpPr>
          <a:xfrm>
            <a:off x="11081151" y="124008"/>
            <a:ext cx="1002497" cy="997548"/>
            <a:chOff x="5594751" y="1197012"/>
            <a:chExt cx="1002497" cy="997548"/>
          </a:xfrm>
        </p:grpSpPr>
        <p:grpSp>
          <p:nvGrpSpPr>
            <p:cNvPr id="5" name="Groupe 4">
              <a:extLst>
                <a:ext uri="{FF2B5EF4-FFF2-40B4-BE49-F238E27FC236}">
                  <a16:creationId xmlns:a16="http://schemas.microsoft.com/office/drawing/2014/main" id="{FBFA651F-ACB1-5B67-A8C6-F30B02E48FC5}"/>
                </a:ext>
              </a:extLst>
            </p:cNvPr>
            <p:cNvGrpSpPr/>
            <p:nvPr/>
          </p:nvGrpSpPr>
          <p:grpSpPr>
            <a:xfrm>
              <a:off x="5594751" y="1197012"/>
              <a:ext cx="1002497" cy="997548"/>
              <a:chOff x="6263169" y="2855357"/>
              <a:chExt cx="600075" cy="612815"/>
            </a:xfrm>
          </p:grpSpPr>
          <p:sp>
            <p:nvSpPr>
              <p:cNvPr id="18" name="Organigramme : Connecteur 17">
                <a:extLst>
                  <a:ext uri="{FF2B5EF4-FFF2-40B4-BE49-F238E27FC236}">
                    <a16:creationId xmlns:a16="http://schemas.microsoft.com/office/drawing/2014/main" id="{AFAE3A37-1090-3EF6-2A0E-E9B3BA62D249}"/>
                  </a:ext>
                </a:extLst>
              </p:cNvPr>
              <p:cNvSpPr/>
              <p:nvPr/>
            </p:nvSpPr>
            <p:spPr>
              <a:xfrm>
                <a:off x="6263169" y="2855357"/>
                <a:ext cx="600075" cy="612815"/>
              </a:xfrm>
              <a:prstGeom prst="flowChartConnector">
                <a:avLst/>
              </a:prstGeom>
              <a:solidFill>
                <a:schemeClr val="bg1"/>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I"/>
              </a:p>
            </p:txBody>
          </p:sp>
          <p:sp>
            <p:nvSpPr>
              <p:cNvPr id="21" name="Organigramme : Connecteur 20">
                <a:extLst>
                  <a:ext uri="{FF2B5EF4-FFF2-40B4-BE49-F238E27FC236}">
                    <a16:creationId xmlns:a16="http://schemas.microsoft.com/office/drawing/2014/main" id="{C097DFDD-B32A-54EC-85B4-D333A9E1C288}"/>
                  </a:ext>
                </a:extLst>
              </p:cNvPr>
              <p:cNvSpPr/>
              <p:nvPr/>
            </p:nvSpPr>
            <p:spPr>
              <a:xfrm>
                <a:off x="6370324" y="2964924"/>
                <a:ext cx="385763" cy="393680"/>
              </a:xfrm>
              <a:prstGeom prst="flowChartConnector">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I" dirty="0"/>
              </a:p>
            </p:txBody>
          </p:sp>
        </p:grpSp>
        <p:pic>
          <p:nvPicPr>
            <p:cNvPr id="16" name="Graphic 1031">
              <a:extLst>
                <a:ext uri="{FF2B5EF4-FFF2-40B4-BE49-F238E27FC236}">
                  <a16:creationId xmlns:a16="http://schemas.microsoft.com/office/drawing/2014/main" id="{6761E383-FC89-6B80-1627-E9A05B823CB7}"/>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867397" y="1467186"/>
              <a:ext cx="457200" cy="457200"/>
            </a:xfrm>
            <a:prstGeom prst="rect">
              <a:avLst/>
            </a:prstGeom>
          </p:spPr>
        </p:pic>
      </p:grpSp>
      <p:sp>
        <p:nvSpPr>
          <p:cNvPr id="23" name="ZoneTexte 22">
            <a:extLst>
              <a:ext uri="{FF2B5EF4-FFF2-40B4-BE49-F238E27FC236}">
                <a16:creationId xmlns:a16="http://schemas.microsoft.com/office/drawing/2014/main" id="{64B51A94-D53B-218D-BFA0-CAF3D37B8422}"/>
              </a:ext>
            </a:extLst>
          </p:cNvPr>
          <p:cNvSpPr txBox="1"/>
          <p:nvPr/>
        </p:nvSpPr>
        <p:spPr>
          <a:xfrm>
            <a:off x="61747" y="40933"/>
            <a:ext cx="5767553" cy="369332"/>
          </a:xfrm>
          <a:prstGeom prst="rect">
            <a:avLst/>
          </a:prstGeom>
          <a:noFill/>
          <a:effectLst>
            <a:reflection stA="63000" endPos="11000" dist="50800" dir="5400000" sy="-100000" algn="bl" rotWithShape="0"/>
          </a:effectLst>
        </p:spPr>
        <p:txBody>
          <a:bodyPr wrap="square" rtlCol="0">
            <a:spAutoFit/>
          </a:bodyPr>
          <a:lstStyle/>
          <a:p>
            <a:r>
              <a:rPr lang="fr-CI" b="1" dirty="0">
                <a:solidFill>
                  <a:schemeClr val="accent1">
                    <a:lumMod val="50000"/>
                  </a:schemeClr>
                </a:solidFill>
                <a:latin typeface="+mn-lt" panose="020E0705020206020404" pitchFamily="34" charset="0"/>
              </a:rPr>
              <a:t>Partie 3 : Données &amp; Méthodologie</a:t>
            </a:r>
          </a:p>
        </p:txBody>
      </p:sp>
      <p:sp>
        <p:nvSpPr>
          <p:cNvPr id="6" name="Text 2">
            <a:extLst>
              <a:ext uri="{FF2B5EF4-FFF2-40B4-BE49-F238E27FC236}">
                <a16:creationId xmlns:a16="http://schemas.microsoft.com/office/drawing/2014/main" id="{E58F483F-C81D-492A-52DE-15D607216684}"/>
              </a:ext>
            </a:extLst>
          </p:cNvPr>
          <p:cNvSpPr/>
          <p:nvPr/>
        </p:nvSpPr>
        <p:spPr>
          <a:xfrm>
            <a:off x="350517" y="1871743"/>
            <a:ext cx="11460480" cy="487680"/>
          </a:xfrm>
          <a:prstGeom prst="rect">
            <a:avLst/>
          </a:prstGeom>
          <a:noFill/>
          <a:ln/>
        </p:spPr>
        <p:txBody>
          <a:bodyPr wrap="square" rtlCol="0" anchor="ctr"/>
          <a:lstStyle/>
          <a:p>
            <a:pPr algn="ctr" defTabSz="1219170"/>
            <a:r>
              <a:rPr lang="en-US" sz="1867" b="1" dirty="0">
                <a:solidFill>
                  <a:srgbClr val="1E2761"/>
                </a:solidFill>
                <a:latin typeface="Calibri" panose="020F0502020204030204"/>
              </a:rPr>
              <a:t>Règle de classification mensuelle</a:t>
            </a:r>
            <a:endParaRPr lang="en-US" sz="1867" dirty="0">
              <a:solidFill>
                <a:prstClr val="black"/>
              </a:solidFill>
              <a:latin typeface="Calibri" panose="020F0502020204030204"/>
            </a:endParaRPr>
          </a:p>
        </p:txBody>
      </p:sp>
      <p:sp>
        <p:nvSpPr>
          <p:cNvPr id="8" name="Shape 3">
            <a:extLst>
              <a:ext uri="{FF2B5EF4-FFF2-40B4-BE49-F238E27FC236}">
                <a16:creationId xmlns:a16="http://schemas.microsoft.com/office/drawing/2014/main" id="{6F68CAD3-500D-6765-18EE-D06A95111EC5}"/>
              </a:ext>
            </a:extLst>
          </p:cNvPr>
          <p:cNvSpPr/>
          <p:nvPr/>
        </p:nvSpPr>
        <p:spPr>
          <a:xfrm>
            <a:off x="594357" y="2542303"/>
            <a:ext cx="5364480" cy="1706880"/>
          </a:xfrm>
          <a:prstGeom prst="roundRect">
            <a:avLst>
              <a:gd name="adj" fmla="val 5714"/>
            </a:avLst>
          </a:prstGeom>
          <a:solidFill>
            <a:srgbClr val="10B981">
              <a:alpha val="12000"/>
            </a:srgbClr>
          </a:solidFill>
          <a:ln w="19050">
            <a:solidFill>
              <a:srgbClr val="10B981"/>
            </a:solidFill>
            <a:prstDash val="solid"/>
          </a:ln>
        </p:spPr>
        <p:txBody>
          <a:bodyPr/>
          <a:lstStyle/>
          <a:p>
            <a:endParaRPr lang="fr-FR"/>
          </a:p>
        </p:txBody>
      </p:sp>
      <p:sp>
        <p:nvSpPr>
          <p:cNvPr id="10" name="Text 4">
            <a:extLst>
              <a:ext uri="{FF2B5EF4-FFF2-40B4-BE49-F238E27FC236}">
                <a16:creationId xmlns:a16="http://schemas.microsoft.com/office/drawing/2014/main" id="{F91E673E-2710-06E3-C54F-E1CADAC5D395}"/>
              </a:ext>
            </a:extLst>
          </p:cNvPr>
          <p:cNvSpPr/>
          <p:nvPr/>
        </p:nvSpPr>
        <p:spPr>
          <a:xfrm>
            <a:off x="594357" y="2664223"/>
            <a:ext cx="5364480" cy="487680"/>
          </a:xfrm>
          <a:prstGeom prst="rect">
            <a:avLst/>
          </a:prstGeom>
          <a:noFill/>
          <a:ln/>
        </p:spPr>
        <p:txBody>
          <a:bodyPr wrap="square" rtlCol="0" anchor="ctr"/>
          <a:lstStyle/>
          <a:p>
            <a:pPr algn="ctr" defTabSz="1219170"/>
            <a:r>
              <a:rPr lang="en-US" sz="2133" b="1" dirty="0">
                <a:solidFill>
                  <a:srgbClr val="10B981"/>
                </a:solidFill>
                <a:latin typeface="Calibri" panose="020F0502020204030204"/>
              </a:rPr>
              <a:t>À JOUR  (0)</a:t>
            </a:r>
            <a:endParaRPr lang="en-US" sz="2133" dirty="0">
              <a:solidFill>
                <a:prstClr val="black"/>
              </a:solidFill>
              <a:latin typeface="Calibri" panose="020F0502020204030204"/>
            </a:endParaRPr>
          </a:p>
        </p:txBody>
      </p:sp>
      <p:sp>
        <p:nvSpPr>
          <p:cNvPr id="12" name="Text 5">
            <a:extLst>
              <a:ext uri="{FF2B5EF4-FFF2-40B4-BE49-F238E27FC236}">
                <a16:creationId xmlns:a16="http://schemas.microsoft.com/office/drawing/2014/main" id="{F2FAFADB-90D3-27BE-7BE9-2DEDAFFA1FBD}"/>
              </a:ext>
            </a:extLst>
          </p:cNvPr>
          <p:cNvSpPr/>
          <p:nvPr/>
        </p:nvSpPr>
        <p:spPr>
          <a:xfrm>
            <a:off x="594357" y="3212863"/>
            <a:ext cx="5364480" cy="853440"/>
          </a:xfrm>
          <a:prstGeom prst="rect">
            <a:avLst/>
          </a:prstGeom>
          <a:noFill/>
          <a:ln/>
        </p:spPr>
        <p:txBody>
          <a:bodyPr wrap="square" rtlCol="0" anchor="ctr"/>
          <a:lstStyle/>
          <a:p>
            <a:pPr algn="ctr" defTabSz="1219170"/>
            <a:r>
              <a:rPr lang="en-US" sz="1600" dirty="0">
                <a:solidFill>
                  <a:srgbClr val="1E2761"/>
                </a:solidFill>
                <a:latin typeface="Calibri" panose="020F0502020204030204"/>
              </a:rPr>
              <a:t>redevance_paye  ≥  RedevanceMensuelleNormative</a:t>
            </a:r>
            <a:endParaRPr lang="en-US" sz="1600" dirty="0">
              <a:solidFill>
                <a:prstClr val="black"/>
              </a:solidFill>
              <a:latin typeface="Calibri" panose="020F0502020204030204"/>
            </a:endParaRPr>
          </a:p>
        </p:txBody>
      </p:sp>
      <p:sp>
        <p:nvSpPr>
          <p:cNvPr id="14" name="Shape 6">
            <a:extLst>
              <a:ext uri="{FF2B5EF4-FFF2-40B4-BE49-F238E27FC236}">
                <a16:creationId xmlns:a16="http://schemas.microsoft.com/office/drawing/2014/main" id="{5FC866E3-0FA1-852C-4738-733FBEF96BDF}"/>
              </a:ext>
            </a:extLst>
          </p:cNvPr>
          <p:cNvSpPr/>
          <p:nvPr/>
        </p:nvSpPr>
        <p:spPr>
          <a:xfrm>
            <a:off x="6324597" y="2542303"/>
            <a:ext cx="5364480" cy="1706880"/>
          </a:xfrm>
          <a:prstGeom prst="roundRect">
            <a:avLst>
              <a:gd name="adj" fmla="val 5714"/>
            </a:avLst>
          </a:prstGeom>
          <a:solidFill>
            <a:srgbClr val="EF4444">
              <a:alpha val="12000"/>
            </a:srgbClr>
          </a:solidFill>
          <a:ln w="19050">
            <a:solidFill>
              <a:srgbClr val="EF4444"/>
            </a:solidFill>
            <a:prstDash val="solid"/>
          </a:ln>
        </p:spPr>
        <p:txBody>
          <a:bodyPr/>
          <a:lstStyle/>
          <a:p>
            <a:endParaRPr lang="fr-FR"/>
          </a:p>
        </p:txBody>
      </p:sp>
      <p:sp>
        <p:nvSpPr>
          <p:cNvPr id="20" name="Text 7">
            <a:extLst>
              <a:ext uri="{FF2B5EF4-FFF2-40B4-BE49-F238E27FC236}">
                <a16:creationId xmlns:a16="http://schemas.microsoft.com/office/drawing/2014/main" id="{F75918E2-2C5B-284C-FB87-E81FFA2B7C43}"/>
              </a:ext>
            </a:extLst>
          </p:cNvPr>
          <p:cNvSpPr/>
          <p:nvPr/>
        </p:nvSpPr>
        <p:spPr>
          <a:xfrm>
            <a:off x="6324597" y="2664223"/>
            <a:ext cx="5364480" cy="487680"/>
          </a:xfrm>
          <a:prstGeom prst="rect">
            <a:avLst/>
          </a:prstGeom>
          <a:noFill/>
          <a:ln/>
        </p:spPr>
        <p:txBody>
          <a:bodyPr wrap="square" rtlCol="0" anchor="ctr"/>
          <a:lstStyle/>
          <a:p>
            <a:pPr algn="ctr" defTabSz="1219170"/>
            <a:r>
              <a:rPr lang="en-US" sz="2133" b="1" dirty="0">
                <a:solidFill>
                  <a:srgbClr val="EF4444"/>
                </a:solidFill>
                <a:latin typeface="Calibri" panose="020F0502020204030204"/>
              </a:rPr>
              <a:t>EN RETARD  (1)</a:t>
            </a:r>
            <a:endParaRPr lang="en-US" sz="2133" dirty="0">
              <a:solidFill>
                <a:prstClr val="black"/>
              </a:solidFill>
              <a:latin typeface="Calibri" panose="020F0502020204030204"/>
            </a:endParaRPr>
          </a:p>
        </p:txBody>
      </p:sp>
      <p:sp>
        <p:nvSpPr>
          <p:cNvPr id="26" name="Text 8">
            <a:extLst>
              <a:ext uri="{FF2B5EF4-FFF2-40B4-BE49-F238E27FC236}">
                <a16:creationId xmlns:a16="http://schemas.microsoft.com/office/drawing/2014/main" id="{3A453CA3-4034-470C-F28A-DF363A448B8F}"/>
              </a:ext>
            </a:extLst>
          </p:cNvPr>
          <p:cNvSpPr/>
          <p:nvPr/>
        </p:nvSpPr>
        <p:spPr>
          <a:xfrm>
            <a:off x="6324597" y="3212863"/>
            <a:ext cx="5364480" cy="853440"/>
          </a:xfrm>
          <a:prstGeom prst="rect">
            <a:avLst/>
          </a:prstGeom>
          <a:noFill/>
          <a:ln/>
        </p:spPr>
        <p:txBody>
          <a:bodyPr wrap="square" rtlCol="0" anchor="ctr"/>
          <a:lstStyle/>
          <a:p>
            <a:pPr algn="ctr" defTabSz="1219170"/>
            <a:r>
              <a:rPr lang="en-US" sz="1600" dirty="0">
                <a:solidFill>
                  <a:srgbClr val="1E2761"/>
                </a:solidFill>
                <a:latin typeface="Calibri" panose="020F0502020204030204"/>
              </a:rPr>
              <a:t>redevance_paye  &lt;  RedevanceMensuelleNormative</a:t>
            </a:r>
            <a:endParaRPr lang="en-US" sz="1600" dirty="0">
              <a:solidFill>
                <a:prstClr val="black"/>
              </a:solidFill>
              <a:latin typeface="Calibri" panose="020F0502020204030204"/>
            </a:endParaRPr>
          </a:p>
        </p:txBody>
      </p:sp>
      <p:sp>
        <p:nvSpPr>
          <p:cNvPr id="30" name="Text 12">
            <a:extLst>
              <a:ext uri="{FF2B5EF4-FFF2-40B4-BE49-F238E27FC236}">
                <a16:creationId xmlns:a16="http://schemas.microsoft.com/office/drawing/2014/main" id="{DF84FB47-F3E4-8E63-8D84-B96A05317DE6}"/>
              </a:ext>
            </a:extLst>
          </p:cNvPr>
          <p:cNvSpPr/>
          <p:nvPr/>
        </p:nvSpPr>
        <p:spPr>
          <a:xfrm>
            <a:off x="609600" y="5175775"/>
            <a:ext cx="10972800" cy="426720"/>
          </a:xfrm>
          <a:prstGeom prst="rect">
            <a:avLst/>
          </a:prstGeom>
          <a:noFill/>
          <a:ln/>
        </p:spPr>
        <p:txBody>
          <a:bodyPr wrap="square" rtlCol="0" anchor="ctr"/>
          <a:lstStyle/>
          <a:p>
            <a:pPr algn="ctr" defTabSz="1219170"/>
            <a:r>
              <a:rPr lang="fr-FR" sz="1600" b="1" dirty="0">
                <a:solidFill>
                  <a:srgbClr val="1E2761"/>
                </a:solidFill>
                <a:latin typeface="Calibri" panose="020F0502020204030204"/>
              </a:rPr>
              <a:t>Distribution sur le dataset des clients titrisés en 2024 et le suivi de paiement en 2025</a:t>
            </a:r>
          </a:p>
        </p:txBody>
      </p:sp>
      <p:sp>
        <p:nvSpPr>
          <p:cNvPr id="34" name="Text 13">
            <a:extLst>
              <a:ext uri="{FF2B5EF4-FFF2-40B4-BE49-F238E27FC236}">
                <a16:creationId xmlns:a16="http://schemas.microsoft.com/office/drawing/2014/main" id="{81BDF4B0-0DA3-4879-9D3B-76FAB79A6E39}"/>
              </a:ext>
            </a:extLst>
          </p:cNvPr>
          <p:cNvSpPr/>
          <p:nvPr/>
        </p:nvSpPr>
        <p:spPr>
          <a:xfrm>
            <a:off x="609600" y="5663455"/>
            <a:ext cx="1584960" cy="390144"/>
          </a:xfrm>
          <a:prstGeom prst="rect">
            <a:avLst/>
          </a:prstGeom>
          <a:noFill/>
          <a:ln/>
        </p:spPr>
        <p:txBody>
          <a:bodyPr wrap="square" rtlCol="0" anchor="ctr"/>
          <a:lstStyle/>
          <a:p>
            <a:pPr algn="r" defTabSz="1219170"/>
            <a:r>
              <a:rPr lang="en-US" sz="1467" dirty="0">
                <a:solidFill>
                  <a:srgbClr val="1E2761"/>
                </a:solidFill>
                <a:latin typeface="Calibri" panose="020F0502020204030204"/>
              </a:rPr>
              <a:t>À jour</a:t>
            </a:r>
            <a:endParaRPr lang="en-US" sz="1467" dirty="0">
              <a:solidFill>
                <a:prstClr val="black"/>
              </a:solidFill>
              <a:latin typeface="Calibri" panose="020F0502020204030204"/>
            </a:endParaRPr>
          </a:p>
        </p:txBody>
      </p:sp>
      <p:sp>
        <p:nvSpPr>
          <p:cNvPr id="38" name="Shape 14">
            <a:extLst>
              <a:ext uri="{FF2B5EF4-FFF2-40B4-BE49-F238E27FC236}">
                <a16:creationId xmlns:a16="http://schemas.microsoft.com/office/drawing/2014/main" id="{62B7BCFF-71DA-34D4-3486-542328D13D8D}"/>
              </a:ext>
            </a:extLst>
          </p:cNvPr>
          <p:cNvSpPr/>
          <p:nvPr/>
        </p:nvSpPr>
        <p:spPr>
          <a:xfrm>
            <a:off x="2377441" y="5712223"/>
            <a:ext cx="3233319" cy="292608"/>
          </a:xfrm>
          <a:prstGeom prst="roundRect">
            <a:avLst>
              <a:gd name="adj" fmla="val 16667"/>
            </a:avLst>
          </a:prstGeom>
          <a:solidFill>
            <a:srgbClr val="10B981"/>
          </a:solidFill>
          <a:ln w="12700">
            <a:solidFill>
              <a:srgbClr val="10B981"/>
            </a:solidFill>
            <a:prstDash val="solid"/>
          </a:ln>
        </p:spPr>
        <p:txBody>
          <a:bodyPr/>
          <a:lstStyle/>
          <a:p>
            <a:endParaRPr lang="fr-FR"/>
          </a:p>
        </p:txBody>
      </p:sp>
      <p:sp>
        <p:nvSpPr>
          <p:cNvPr id="42" name="Text 15">
            <a:extLst>
              <a:ext uri="{FF2B5EF4-FFF2-40B4-BE49-F238E27FC236}">
                <a16:creationId xmlns:a16="http://schemas.microsoft.com/office/drawing/2014/main" id="{DA284228-72D1-29A5-298A-A80A2116690F}"/>
              </a:ext>
            </a:extLst>
          </p:cNvPr>
          <p:cNvSpPr/>
          <p:nvPr/>
        </p:nvSpPr>
        <p:spPr>
          <a:xfrm>
            <a:off x="5732679" y="5663455"/>
            <a:ext cx="1097280" cy="390144"/>
          </a:xfrm>
          <a:prstGeom prst="rect">
            <a:avLst/>
          </a:prstGeom>
          <a:noFill/>
          <a:ln/>
        </p:spPr>
        <p:txBody>
          <a:bodyPr wrap="square" rtlCol="0" anchor="ctr"/>
          <a:lstStyle/>
          <a:p>
            <a:pPr defTabSz="1219170"/>
            <a:r>
              <a:rPr lang="en-US" sz="1467" b="1" dirty="0">
                <a:solidFill>
                  <a:srgbClr val="10B981"/>
                </a:solidFill>
                <a:latin typeface="Calibri" panose="020F0502020204030204"/>
              </a:rPr>
              <a:t>40.8%</a:t>
            </a:r>
            <a:endParaRPr lang="en-US" sz="1467" dirty="0">
              <a:solidFill>
                <a:prstClr val="black"/>
              </a:solidFill>
              <a:latin typeface="Calibri" panose="020F0502020204030204"/>
            </a:endParaRPr>
          </a:p>
        </p:txBody>
      </p:sp>
      <p:sp>
        <p:nvSpPr>
          <p:cNvPr id="45" name="Text 16">
            <a:extLst>
              <a:ext uri="{FF2B5EF4-FFF2-40B4-BE49-F238E27FC236}">
                <a16:creationId xmlns:a16="http://schemas.microsoft.com/office/drawing/2014/main" id="{56AEB587-1FDF-668F-506A-9FD09265B699}"/>
              </a:ext>
            </a:extLst>
          </p:cNvPr>
          <p:cNvSpPr/>
          <p:nvPr/>
        </p:nvSpPr>
        <p:spPr>
          <a:xfrm>
            <a:off x="609600" y="6151135"/>
            <a:ext cx="1584960" cy="390144"/>
          </a:xfrm>
          <a:prstGeom prst="rect">
            <a:avLst/>
          </a:prstGeom>
          <a:noFill/>
          <a:ln/>
        </p:spPr>
        <p:txBody>
          <a:bodyPr wrap="square" rtlCol="0" anchor="ctr"/>
          <a:lstStyle/>
          <a:p>
            <a:pPr algn="r" defTabSz="1219170"/>
            <a:r>
              <a:rPr lang="en-US" sz="1467" dirty="0">
                <a:solidFill>
                  <a:srgbClr val="1E2761"/>
                </a:solidFill>
                <a:latin typeface="Calibri" panose="020F0502020204030204"/>
              </a:rPr>
              <a:t>En retard</a:t>
            </a:r>
            <a:endParaRPr lang="en-US" sz="1467" dirty="0">
              <a:solidFill>
                <a:prstClr val="black"/>
              </a:solidFill>
              <a:latin typeface="Calibri" panose="020F0502020204030204"/>
            </a:endParaRPr>
          </a:p>
        </p:txBody>
      </p:sp>
      <p:sp>
        <p:nvSpPr>
          <p:cNvPr id="47" name="Shape 17">
            <a:extLst>
              <a:ext uri="{FF2B5EF4-FFF2-40B4-BE49-F238E27FC236}">
                <a16:creationId xmlns:a16="http://schemas.microsoft.com/office/drawing/2014/main" id="{716E67BA-CA7B-0032-51D1-4DF61B1CD7A4}"/>
              </a:ext>
            </a:extLst>
          </p:cNvPr>
          <p:cNvSpPr/>
          <p:nvPr/>
        </p:nvSpPr>
        <p:spPr>
          <a:xfrm>
            <a:off x="2377441" y="6199903"/>
            <a:ext cx="4691481" cy="292608"/>
          </a:xfrm>
          <a:prstGeom prst="roundRect">
            <a:avLst>
              <a:gd name="adj" fmla="val 16667"/>
            </a:avLst>
          </a:prstGeom>
          <a:solidFill>
            <a:srgbClr val="EF4444"/>
          </a:solidFill>
          <a:ln w="12700">
            <a:solidFill>
              <a:srgbClr val="EF4444"/>
            </a:solidFill>
            <a:prstDash val="solid"/>
          </a:ln>
        </p:spPr>
        <p:txBody>
          <a:bodyPr/>
          <a:lstStyle/>
          <a:p>
            <a:endParaRPr lang="fr-FR"/>
          </a:p>
        </p:txBody>
      </p:sp>
      <p:sp>
        <p:nvSpPr>
          <p:cNvPr id="49" name="Text 18">
            <a:extLst>
              <a:ext uri="{FF2B5EF4-FFF2-40B4-BE49-F238E27FC236}">
                <a16:creationId xmlns:a16="http://schemas.microsoft.com/office/drawing/2014/main" id="{80B1BF54-8A0C-4F71-95DB-7FDC47EF466A}"/>
              </a:ext>
            </a:extLst>
          </p:cNvPr>
          <p:cNvSpPr/>
          <p:nvPr/>
        </p:nvSpPr>
        <p:spPr>
          <a:xfrm>
            <a:off x="7190841" y="6151135"/>
            <a:ext cx="1097280" cy="390144"/>
          </a:xfrm>
          <a:prstGeom prst="rect">
            <a:avLst/>
          </a:prstGeom>
          <a:noFill/>
          <a:ln/>
        </p:spPr>
        <p:txBody>
          <a:bodyPr wrap="square" rtlCol="0" anchor="ctr"/>
          <a:lstStyle/>
          <a:p>
            <a:pPr defTabSz="1219170"/>
            <a:r>
              <a:rPr lang="en-US" sz="1467" b="1" dirty="0">
                <a:solidFill>
                  <a:srgbClr val="EF4444"/>
                </a:solidFill>
                <a:latin typeface="Calibri" panose="020F0502020204030204"/>
              </a:rPr>
              <a:t>59.2%</a:t>
            </a:r>
            <a:endParaRPr lang="en-US" sz="1467" dirty="0">
              <a:solidFill>
                <a:prstClr val="black"/>
              </a:solidFill>
              <a:latin typeface="Calibri" panose="020F0502020204030204"/>
            </a:endParaRPr>
          </a:p>
        </p:txBody>
      </p:sp>
      <p:sp>
        <p:nvSpPr>
          <p:cNvPr id="51" name="Shape 13">
            <a:extLst>
              <a:ext uri="{FF2B5EF4-FFF2-40B4-BE49-F238E27FC236}">
                <a16:creationId xmlns:a16="http://schemas.microsoft.com/office/drawing/2014/main" id="{6C3E1970-6F10-29D9-C5DF-4AF490E23C00}"/>
              </a:ext>
            </a:extLst>
          </p:cNvPr>
          <p:cNvSpPr/>
          <p:nvPr/>
        </p:nvSpPr>
        <p:spPr>
          <a:xfrm>
            <a:off x="437200" y="4480203"/>
            <a:ext cx="11460480" cy="549268"/>
          </a:xfrm>
          <a:prstGeom prst="roundRect">
            <a:avLst>
              <a:gd name="adj" fmla="val 11429"/>
            </a:avLst>
          </a:prstGeom>
          <a:solidFill>
            <a:srgbClr val="1E2761"/>
          </a:solidFill>
          <a:ln w="12700">
            <a:solidFill>
              <a:srgbClr val="1E2761"/>
            </a:solidFill>
            <a:prstDash val="solid"/>
          </a:ln>
        </p:spPr>
        <p:txBody>
          <a:bodyPr/>
          <a:lstStyle/>
          <a:p>
            <a:endParaRPr lang="fr-FR"/>
          </a:p>
        </p:txBody>
      </p:sp>
      <p:sp>
        <p:nvSpPr>
          <p:cNvPr id="53" name="Text 14">
            <a:extLst>
              <a:ext uri="{FF2B5EF4-FFF2-40B4-BE49-F238E27FC236}">
                <a16:creationId xmlns:a16="http://schemas.microsoft.com/office/drawing/2014/main" id="{4115C82E-5858-82AE-D0E7-B406127F2E80}"/>
              </a:ext>
            </a:extLst>
          </p:cNvPr>
          <p:cNvSpPr/>
          <p:nvPr/>
        </p:nvSpPr>
        <p:spPr>
          <a:xfrm>
            <a:off x="873940" y="4494642"/>
            <a:ext cx="10587000" cy="487680"/>
          </a:xfrm>
          <a:prstGeom prst="rect">
            <a:avLst/>
          </a:prstGeom>
          <a:noFill/>
          <a:ln/>
        </p:spPr>
        <p:txBody>
          <a:bodyPr wrap="square" rtlCol="0" anchor="ctr"/>
          <a:lstStyle/>
          <a:p>
            <a:pPr algn="ctr" defTabSz="1219170"/>
            <a:r>
              <a:rPr lang="en-US" sz="1867" dirty="0">
                <a:solidFill>
                  <a:srgbClr val="CADCFC"/>
                </a:solidFill>
                <a:latin typeface="Calibri" panose="020F0502020204030204"/>
              </a:rPr>
              <a:t>redevance_paye  =  </a:t>
            </a:r>
            <a:r>
              <a:rPr lang="en-US" sz="1867" b="1" dirty="0">
                <a:solidFill>
                  <a:srgbClr val="F59E0B"/>
                </a:solidFill>
                <a:latin typeface="Calibri" panose="020F0502020204030204"/>
              </a:rPr>
              <a:t>Ponction</a:t>
            </a:r>
            <a:r>
              <a:rPr lang="en-US" sz="1867" dirty="0">
                <a:solidFill>
                  <a:srgbClr val="CADCFC"/>
                </a:solidFill>
                <a:latin typeface="Calibri" panose="020F0502020204030204"/>
              </a:rPr>
              <a:t>  +  </a:t>
            </a:r>
            <a:r>
              <a:rPr lang="en-US" sz="1867" b="1" dirty="0">
                <a:solidFill>
                  <a:srgbClr val="F59E0B"/>
                </a:solidFill>
                <a:latin typeface="Calibri" panose="020F0502020204030204"/>
              </a:rPr>
              <a:t>RedevancebranchementuniquementFCFA</a:t>
            </a:r>
            <a:endParaRPr lang="en-US" sz="1867" dirty="0">
              <a:solidFill>
                <a:prstClr val="black"/>
              </a:solidFill>
              <a:latin typeface="Calibri" panose="020F0502020204030204"/>
            </a:endParaRPr>
          </a:p>
        </p:txBody>
      </p:sp>
    </p:spTree>
    <p:extLst>
      <p:ext uri="{BB962C8B-B14F-4D97-AF65-F5344CB8AC3E}">
        <p14:creationId xmlns:p14="http://schemas.microsoft.com/office/powerpoint/2010/main" val="39235833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2EB847-D286-9CFC-F7A8-B6295630D8AA}"/>
            </a:ext>
          </a:extLst>
        </p:cNvPr>
        <p:cNvGrpSpPr/>
        <p:nvPr/>
      </p:nvGrpSpPr>
      <p:grpSpPr>
        <a:xfrm>
          <a:off x="0" y="0"/>
          <a:ext cx="0" cy="0"/>
          <a:chOff x="0" y="0"/>
          <a:chExt cx="0" cy="0"/>
        </a:xfrm>
      </p:grpSpPr>
      <p:sp>
        <p:nvSpPr>
          <p:cNvPr id="18" name="Larme 17">
            <a:extLst>
              <a:ext uri="{FF2B5EF4-FFF2-40B4-BE49-F238E27FC236}">
                <a16:creationId xmlns:a16="http://schemas.microsoft.com/office/drawing/2014/main" id="{8DE1BC30-C28C-3A84-EFA9-4089F96B457F}"/>
              </a:ext>
            </a:extLst>
          </p:cNvPr>
          <p:cNvSpPr/>
          <p:nvPr/>
        </p:nvSpPr>
        <p:spPr>
          <a:xfrm>
            <a:off x="7010400" y="0"/>
            <a:ext cx="5181600" cy="5478308"/>
          </a:xfrm>
          <a:prstGeom prst="teardrop">
            <a:avLst/>
          </a:prstGeom>
          <a:solidFill>
            <a:srgbClr val="E5EA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Text 1">
            <a:extLst>
              <a:ext uri="{FF2B5EF4-FFF2-40B4-BE49-F238E27FC236}">
                <a16:creationId xmlns:a16="http://schemas.microsoft.com/office/drawing/2014/main" id="{926BBA19-BFFD-B5C7-2C44-1A8439B43F66}"/>
              </a:ext>
            </a:extLst>
          </p:cNvPr>
          <p:cNvSpPr/>
          <p:nvPr/>
        </p:nvSpPr>
        <p:spPr>
          <a:xfrm>
            <a:off x="609600" y="2438400"/>
            <a:ext cx="10972800" cy="609600"/>
          </a:xfrm>
          <a:prstGeom prst="rect">
            <a:avLst/>
          </a:prstGeom>
          <a:noFill/>
          <a:ln/>
        </p:spPr>
        <p:txBody>
          <a:bodyPr wrap="square" rtlCol="0" anchor="ctr"/>
          <a:lstStyle/>
          <a:p>
            <a:pPr algn="ctr" defTabSz="1219170"/>
            <a:r>
              <a:rPr lang="en-US" sz="1867" b="1" kern="0" spc="533" dirty="0">
                <a:solidFill>
                  <a:srgbClr val="7C8BA8"/>
                </a:solidFill>
                <a:latin typeface="Calibri" panose="020F0502020204030204"/>
              </a:rPr>
              <a:t>PARTIE 04</a:t>
            </a:r>
            <a:endParaRPr lang="en-US" sz="1867" b="1" dirty="0">
              <a:solidFill>
                <a:prstClr val="black"/>
              </a:solidFill>
              <a:latin typeface="Calibri" panose="020F0502020204030204"/>
            </a:endParaRPr>
          </a:p>
        </p:txBody>
      </p:sp>
      <p:sp>
        <p:nvSpPr>
          <p:cNvPr id="4" name="Text 2">
            <a:extLst>
              <a:ext uri="{FF2B5EF4-FFF2-40B4-BE49-F238E27FC236}">
                <a16:creationId xmlns:a16="http://schemas.microsoft.com/office/drawing/2014/main" id="{499A1EE1-4CE9-7938-1A91-D728914EB6C8}"/>
              </a:ext>
            </a:extLst>
          </p:cNvPr>
          <p:cNvSpPr/>
          <p:nvPr/>
        </p:nvSpPr>
        <p:spPr>
          <a:xfrm>
            <a:off x="609600" y="3048000"/>
            <a:ext cx="10972800" cy="1219200"/>
          </a:xfrm>
          <a:prstGeom prst="rect">
            <a:avLst/>
          </a:prstGeom>
          <a:noFill/>
          <a:ln/>
        </p:spPr>
        <p:txBody>
          <a:bodyPr wrap="square" rtlCol="0" anchor="ctr"/>
          <a:lstStyle/>
          <a:p>
            <a:pPr algn="ctr" defTabSz="1219170"/>
            <a:r>
              <a:rPr lang="en-US" sz="4267" b="1" dirty="0">
                <a:solidFill>
                  <a:srgbClr val="002060"/>
                </a:solidFill>
              </a:rPr>
              <a:t>MODÉLISATION &amp; RÉSULTATS</a:t>
            </a:r>
          </a:p>
        </p:txBody>
      </p:sp>
      <p:sp>
        <p:nvSpPr>
          <p:cNvPr id="5" name="Shape 3">
            <a:extLst>
              <a:ext uri="{FF2B5EF4-FFF2-40B4-BE49-F238E27FC236}">
                <a16:creationId xmlns:a16="http://schemas.microsoft.com/office/drawing/2014/main" id="{ED26986A-4098-0F78-156A-F4E09ACB170F}"/>
              </a:ext>
            </a:extLst>
          </p:cNvPr>
          <p:cNvSpPr/>
          <p:nvPr/>
        </p:nvSpPr>
        <p:spPr>
          <a:xfrm>
            <a:off x="5181600" y="4511040"/>
            <a:ext cx="1828800" cy="48768"/>
          </a:xfrm>
          <a:prstGeom prst="rect">
            <a:avLst/>
          </a:prstGeom>
          <a:solidFill>
            <a:srgbClr val="F59E0B"/>
          </a:solidFill>
          <a:ln w="12700">
            <a:solidFill>
              <a:srgbClr val="F59E0B"/>
            </a:solidFill>
            <a:prstDash val="solid"/>
          </a:ln>
        </p:spPr>
        <p:txBody>
          <a:bodyPr/>
          <a:lstStyle/>
          <a:p>
            <a:endParaRPr lang="fr-FR"/>
          </a:p>
        </p:txBody>
      </p:sp>
      <p:grpSp>
        <p:nvGrpSpPr>
          <p:cNvPr id="17" name="Groupe 16">
            <a:extLst>
              <a:ext uri="{FF2B5EF4-FFF2-40B4-BE49-F238E27FC236}">
                <a16:creationId xmlns:a16="http://schemas.microsoft.com/office/drawing/2014/main" id="{DD8C80E9-85E9-4A2B-F0B1-65BA0EA959B5}"/>
              </a:ext>
            </a:extLst>
          </p:cNvPr>
          <p:cNvGrpSpPr/>
          <p:nvPr/>
        </p:nvGrpSpPr>
        <p:grpSpPr>
          <a:xfrm>
            <a:off x="5594752" y="1197012"/>
            <a:ext cx="1002497" cy="997548"/>
            <a:chOff x="5594751" y="1197012"/>
            <a:chExt cx="1002497" cy="997548"/>
          </a:xfrm>
        </p:grpSpPr>
        <p:grpSp>
          <p:nvGrpSpPr>
            <p:cNvPr id="13" name="Groupe 12">
              <a:extLst>
                <a:ext uri="{FF2B5EF4-FFF2-40B4-BE49-F238E27FC236}">
                  <a16:creationId xmlns:a16="http://schemas.microsoft.com/office/drawing/2014/main" id="{FD2F515C-1B86-D101-B1E8-B98B411F0693}"/>
                </a:ext>
              </a:extLst>
            </p:cNvPr>
            <p:cNvGrpSpPr/>
            <p:nvPr/>
          </p:nvGrpSpPr>
          <p:grpSpPr>
            <a:xfrm>
              <a:off x="5594751" y="1197012"/>
              <a:ext cx="1002497" cy="997548"/>
              <a:chOff x="6263169" y="2855357"/>
              <a:chExt cx="600075" cy="612815"/>
            </a:xfrm>
          </p:grpSpPr>
          <p:sp>
            <p:nvSpPr>
              <p:cNvPr id="14" name="Organigramme : Connecteur 13">
                <a:extLst>
                  <a:ext uri="{FF2B5EF4-FFF2-40B4-BE49-F238E27FC236}">
                    <a16:creationId xmlns:a16="http://schemas.microsoft.com/office/drawing/2014/main" id="{233473CB-5555-736E-F915-5028FA9CB3DA}"/>
                  </a:ext>
                </a:extLst>
              </p:cNvPr>
              <p:cNvSpPr/>
              <p:nvPr/>
            </p:nvSpPr>
            <p:spPr>
              <a:xfrm>
                <a:off x="6263169" y="2855357"/>
                <a:ext cx="600075" cy="612815"/>
              </a:xfrm>
              <a:prstGeom prst="flowChartConnector">
                <a:avLst/>
              </a:prstGeom>
              <a:solidFill>
                <a:schemeClr val="bg1"/>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I"/>
              </a:p>
            </p:txBody>
          </p:sp>
          <p:sp>
            <p:nvSpPr>
              <p:cNvPr id="15" name="Organigramme : Connecteur 14">
                <a:extLst>
                  <a:ext uri="{FF2B5EF4-FFF2-40B4-BE49-F238E27FC236}">
                    <a16:creationId xmlns:a16="http://schemas.microsoft.com/office/drawing/2014/main" id="{5D0EC90C-FED0-12FC-DC78-29722CD4CF11}"/>
                  </a:ext>
                </a:extLst>
              </p:cNvPr>
              <p:cNvSpPr/>
              <p:nvPr/>
            </p:nvSpPr>
            <p:spPr>
              <a:xfrm>
                <a:off x="6370324" y="2964924"/>
                <a:ext cx="385763" cy="393680"/>
              </a:xfrm>
              <a:prstGeom prst="flowChartConnector">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I" dirty="0"/>
              </a:p>
            </p:txBody>
          </p:sp>
        </p:grpSp>
        <p:pic>
          <p:nvPicPr>
            <p:cNvPr id="16" name="Graphic 1031">
              <a:extLst>
                <a:ext uri="{FF2B5EF4-FFF2-40B4-BE49-F238E27FC236}">
                  <a16:creationId xmlns:a16="http://schemas.microsoft.com/office/drawing/2014/main" id="{DA51CB40-CA88-33AA-9450-2C30C15DEE73}"/>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867397" y="1467186"/>
              <a:ext cx="457200" cy="457200"/>
            </a:xfrm>
            <a:prstGeom prst="rect">
              <a:avLst/>
            </a:prstGeom>
          </p:spPr>
        </p:pic>
      </p:grpSp>
    </p:spTree>
    <p:extLst>
      <p:ext uri="{BB962C8B-B14F-4D97-AF65-F5344CB8AC3E}">
        <p14:creationId xmlns:p14="http://schemas.microsoft.com/office/powerpoint/2010/main" val="6362157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Image 22">
            <a:extLst>
              <a:ext uri="{FF2B5EF4-FFF2-40B4-BE49-F238E27FC236}">
                <a16:creationId xmlns:a16="http://schemas.microsoft.com/office/drawing/2014/main" id="{4AD89C85-978F-3775-F0A9-8EEE6F68872F}"/>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311965" y="1866016"/>
            <a:ext cx="8640417" cy="4171187"/>
          </a:xfrm>
          <a:prstGeom prst="rect">
            <a:avLst/>
          </a:prstGeom>
          <a:noFill/>
          <a:ln>
            <a:noFill/>
          </a:ln>
        </p:spPr>
      </p:pic>
      <p:sp>
        <p:nvSpPr>
          <p:cNvPr id="4" name="Text 1">
            <a:extLst>
              <a:ext uri="{FF2B5EF4-FFF2-40B4-BE49-F238E27FC236}">
                <a16:creationId xmlns:a16="http://schemas.microsoft.com/office/drawing/2014/main" id="{17353AB1-A65F-8AED-423B-201718469902}"/>
              </a:ext>
            </a:extLst>
          </p:cNvPr>
          <p:cNvSpPr/>
          <p:nvPr/>
        </p:nvSpPr>
        <p:spPr>
          <a:xfrm>
            <a:off x="1651000" y="943200"/>
            <a:ext cx="8890000" cy="762000"/>
          </a:xfrm>
          <a:prstGeom prst="rect">
            <a:avLst/>
          </a:prstGeom>
          <a:noFill/>
          <a:ln/>
        </p:spPr>
        <p:txBody>
          <a:bodyPr wrap="square" rtlCol="0" anchor="ctr"/>
          <a:lstStyle/>
          <a:p>
            <a:pPr algn="ctr"/>
            <a:r>
              <a:rPr lang="fr-FR" sz="3600" b="1" dirty="0">
                <a:solidFill>
                  <a:srgbClr val="002060"/>
                </a:solidFill>
              </a:rPr>
              <a:t>Machine Learning (ML)</a:t>
            </a:r>
          </a:p>
        </p:txBody>
      </p:sp>
      <p:grpSp>
        <p:nvGrpSpPr>
          <p:cNvPr id="11" name="Groupe 10">
            <a:extLst>
              <a:ext uri="{FF2B5EF4-FFF2-40B4-BE49-F238E27FC236}">
                <a16:creationId xmlns:a16="http://schemas.microsoft.com/office/drawing/2014/main" id="{A3BCEF8F-756A-0019-CC6B-62ED6D6A6BD3}"/>
              </a:ext>
            </a:extLst>
          </p:cNvPr>
          <p:cNvGrpSpPr/>
          <p:nvPr/>
        </p:nvGrpSpPr>
        <p:grpSpPr>
          <a:xfrm>
            <a:off x="11081151" y="124008"/>
            <a:ext cx="1002497" cy="997548"/>
            <a:chOff x="11081151" y="124008"/>
            <a:chExt cx="1002497" cy="997548"/>
          </a:xfrm>
        </p:grpSpPr>
        <p:grpSp>
          <p:nvGrpSpPr>
            <p:cNvPr id="6" name="Groupe 5">
              <a:extLst>
                <a:ext uri="{FF2B5EF4-FFF2-40B4-BE49-F238E27FC236}">
                  <a16:creationId xmlns:a16="http://schemas.microsoft.com/office/drawing/2014/main" id="{56FD5A7F-10A0-5A2E-F996-3D18D2C692D9}"/>
                </a:ext>
              </a:extLst>
            </p:cNvPr>
            <p:cNvGrpSpPr/>
            <p:nvPr/>
          </p:nvGrpSpPr>
          <p:grpSpPr>
            <a:xfrm>
              <a:off x="11081151" y="124008"/>
              <a:ext cx="1002497" cy="997548"/>
              <a:chOff x="6263169" y="2855357"/>
              <a:chExt cx="600075" cy="612815"/>
            </a:xfrm>
          </p:grpSpPr>
          <p:sp>
            <p:nvSpPr>
              <p:cNvPr id="8" name="Organigramme : Connecteur 7">
                <a:extLst>
                  <a:ext uri="{FF2B5EF4-FFF2-40B4-BE49-F238E27FC236}">
                    <a16:creationId xmlns:a16="http://schemas.microsoft.com/office/drawing/2014/main" id="{3DD5FE2C-8AA2-5CCC-1131-D6C4DA8D7531}"/>
                  </a:ext>
                </a:extLst>
              </p:cNvPr>
              <p:cNvSpPr/>
              <p:nvPr/>
            </p:nvSpPr>
            <p:spPr>
              <a:xfrm>
                <a:off x="6263169" y="2855357"/>
                <a:ext cx="600075" cy="612815"/>
              </a:xfrm>
              <a:prstGeom prst="flowChartConnector">
                <a:avLst/>
              </a:prstGeom>
              <a:solidFill>
                <a:schemeClr val="bg1"/>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I"/>
              </a:p>
            </p:txBody>
          </p:sp>
          <p:sp>
            <p:nvSpPr>
              <p:cNvPr id="9" name="Organigramme : Connecteur 8">
                <a:extLst>
                  <a:ext uri="{FF2B5EF4-FFF2-40B4-BE49-F238E27FC236}">
                    <a16:creationId xmlns:a16="http://schemas.microsoft.com/office/drawing/2014/main" id="{6A3F32D3-3EED-3DB8-2916-9C582768A42D}"/>
                  </a:ext>
                </a:extLst>
              </p:cNvPr>
              <p:cNvSpPr/>
              <p:nvPr/>
            </p:nvSpPr>
            <p:spPr>
              <a:xfrm>
                <a:off x="6370324" y="2964924"/>
                <a:ext cx="385763" cy="393680"/>
              </a:xfrm>
              <a:prstGeom prst="flowChartConnector">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I" dirty="0"/>
              </a:p>
            </p:txBody>
          </p:sp>
        </p:grpSp>
        <p:pic>
          <p:nvPicPr>
            <p:cNvPr id="7" name="Graphic 1031">
              <a:extLst>
                <a:ext uri="{FF2B5EF4-FFF2-40B4-BE49-F238E27FC236}">
                  <a16:creationId xmlns:a16="http://schemas.microsoft.com/office/drawing/2014/main" id="{6102C915-30F5-8FCB-5628-17FF67D77823}"/>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11353797" y="394182"/>
              <a:ext cx="457200" cy="457200"/>
            </a:xfrm>
            <a:prstGeom prst="rect">
              <a:avLst/>
            </a:prstGeom>
          </p:spPr>
        </p:pic>
      </p:grpSp>
      <p:sp>
        <p:nvSpPr>
          <p:cNvPr id="10" name="ZoneTexte 9">
            <a:extLst>
              <a:ext uri="{FF2B5EF4-FFF2-40B4-BE49-F238E27FC236}">
                <a16:creationId xmlns:a16="http://schemas.microsoft.com/office/drawing/2014/main" id="{33A345DE-24DE-8269-2446-F1F2269FABD4}"/>
              </a:ext>
            </a:extLst>
          </p:cNvPr>
          <p:cNvSpPr txBox="1"/>
          <p:nvPr/>
        </p:nvSpPr>
        <p:spPr>
          <a:xfrm>
            <a:off x="61747" y="40933"/>
            <a:ext cx="5767553" cy="369332"/>
          </a:xfrm>
          <a:prstGeom prst="rect">
            <a:avLst/>
          </a:prstGeom>
          <a:noFill/>
          <a:effectLst>
            <a:reflection stA="63000" endPos="11000" dist="50800" dir="5400000" sy="-100000" algn="bl" rotWithShape="0"/>
          </a:effectLst>
        </p:spPr>
        <p:txBody>
          <a:bodyPr wrap="square" rtlCol="0">
            <a:spAutoFit/>
          </a:bodyPr>
          <a:lstStyle/>
          <a:p>
            <a:r>
              <a:rPr lang="fr-CI" b="1" dirty="0">
                <a:solidFill>
                  <a:schemeClr val="accent1">
                    <a:lumMod val="50000"/>
                  </a:schemeClr>
                </a:solidFill>
                <a:latin typeface="+mn-lt" panose="020E0705020206020404" pitchFamily="34" charset="0"/>
              </a:rPr>
              <a:t>Partie 4 : Modélisation &amp; Résultats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A4ECB9-9380-D6CA-ECAD-87AF7AACC88B}"/>
            </a:ext>
          </a:extLst>
        </p:cNvPr>
        <p:cNvGrpSpPr/>
        <p:nvPr/>
      </p:nvGrpSpPr>
      <p:grpSpPr>
        <a:xfrm>
          <a:off x="0" y="0"/>
          <a:ext cx="0" cy="0"/>
          <a:chOff x="0" y="0"/>
          <a:chExt cx="0" cy="0"/>
        </a:xfrm>
      </p:grpSpPr>
      <p:sp>
        <p:nvSpPr>
          <p:cNvPr id="116" name="Ellipse 115">
            <a:extLst>
              <a:ext uri="{FF2B5EF4-FFF2-40B4-BE49-F238E27FC236}">
                <a16:creationId xmlns:a16="http://schemas.microsoft.com/office/drawing/2014/main" id="{5D559CDA-8591-0EC0-8C13-1E9032D7B7C8}"/>
              </a:ext>
            </a:extLst>
          </p:cNvPr>
          <p:cNvSpPr/>
          <p:nvPr/>
        </p:nvSpPr>
        <p:spPr>
          <a:xfrm>
            <a:off x="243363" y="1442217"/>
            <a:ext cx="914400" cy="9144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I">
              <a:latin typeface="+mn-lt" panose="02020603050405020304" pitchFamily="18" charset="0"/>
              <a:cs typeface="+mn-cs" panose="02020603050405020304" pitchFamily="18" charset="0"/>
            </a:endParaRPr>
          </a:p>
        </p:txBody>
      </p:sp>
      <p:sp>
        <p:nvSpPr>
          <p:cNvPr id="117" name="ZoneTexte 116">
            <a:extLst>
              <a:ext uri="{FF2B5EF4-FFF2-40B4-BE49-F238E27FC236}">
                <a16:creationId xmlns:a16="http://schemas.microsoft.com/office/drawing/2014/main" id="{43476FB8-3FE1-E773-AF54-2E1D6946BB5C}"/>
              </a:ext>
            </a:extLst>
          </p:cNvPr>
          <p:cNvSpPr txBox="1"/>
          <p:nvPr/>
        </p:nvSpPr>
        <p:spPr>
          <a:xfrm>
            <a:off x="1182609" y="1657457"/>
            <a:ext cx="4995739" cy="461665"/>
          </a:xfrm>
          <a:prstGeom prst="rect">
            <a:avLst/>
          </a:prstGeom>
          <a:noFill/>
        </p:spPr>
        <p:txBody>
          <a:bodyPr wrap="square" rtlCol="0">
            <a:spAutoFit/>
          </a:bodyPr>
          <a:lstStyle/>
          <a:p>
            <a:r>
              <a:rPr lang="fr-FR" sz="2400" b="1" dirty="0">
                <a:solidFill>
                  <a:srgbClr val="002060"/>
                </a:solidFill>
              </a:rPr>
              <a:t>Régression logistique</a:t>
            </a:r>
            <a:endParaRPr lang="fr-CI" sz="2400" b="1" dirty="0">
              <a:solidFill>
                <a:srgbClr val="002060"/>
              </a:solidFill>
              <a:latin typeface="+mn-lt" panose="02020603050405020304" pitchFamily="18" charset="0"/>
              <a:cs typeface="+mn-cs" panose="02020603050405020304" pitchFamily="18" charset="0"/>
            </a:endParaRPr>
          </a:p>
        </p:txBody>
      </p:sp>
      <p:sp>
        <p:nvSpPr>
          <p:cNvPr id="2" name="ZoneTexte 1">
            <a:extLst>
              <a:ext uri="{FF2B5EF4-FFF2-40B4-BE49-F238E27FC236}">
                <a16:creationId xmlns:a16="http://schemas.microsoft.com/office/drawing/2014/main" id="{27A905B2-3FD1-34D8-C7E0-B1EED8EE25F4}"/>
              </a:ext>
            </a:extLst>
          </p:cNvPr>
          <p:cNvSpPr txBox="1"/>
          <p:nvPr/>
        </p:nvSpPr>
        <p:spPr>
          <a:xfrm>
            <a:off x="504229" y="1714751"/>
            <a:ext cx="678380" cy="369332"/>
          </a:xfrm>
          <a:prstGeom prst="rect">
            <a:avLst/>
          </a:prstGeom>
          <a:noFill/>
        </p:spPr>
        <p:txBody>
          <a:bodyPr wrap="square" rtlCol="0">
            <a:spAutoFit/>
          </a:bodyPr>
          <a:lstStyle/>
          <a:p>
            <a:r>
              <a:rPr lang="fr-CI">
                <a:solidFill>
                  <a:schemeClr val="bg1"/>
                </a:solidFill>
                <a:latin typeface="+mn-lt" panose="02020603050405020304" pitchFamily="18" charset="0"/>
                <a:cs typeface="+mn-cs" panose="02020603050405020304" pitchFamily="18" charset="0"/>
              </a:rPr>
              <a:t>01</a:t>
            </a:r>
          </a:p>
        </p:txBody>
      </p:sp>
      <p:sp>
        <p:nvSpPr>
          <p:cNvPr id="21" name="Forme libre : forme 20">
            <a:extLst>
              <a:ext uri="{FF2B5EF4-FFF2-40B4-BE49-F238E27FC236}">
                <a16:creationId xmlns:a16="http://schemas.microsoft.com/office/drawing/2014/main" id="{59FBD806-FE13-E312-94BB-94DD74CB94C6}"/>
              </a:ext>
            </a:extLst>
          </p:cNvPr>
          <p:cNvSpPr/>
          <p:nvPr/>
        </p:nvSpPr>
        <p:spPr>
          <a:xfrm rot="10237838">
            <a:off x="-3141282" y="-21829819"/>
            <a:ext cx="5764448" cy="28628424"/>
          </a:xfrm>
          <a:custGeom>
            <a:avLst/>
            <a:gdLst>
              <a:gd name="connsiteX0" fmla="*/ 1069895 w 5764448"/>
              <a:gd name="connsiteY0" fmla="*/ 28628424 h 28628424"/>
              <a:gd name="connsiteX1" fmla="*/ 0 w 5764448"/>
              <a:gd name="connsiteY1" fmla="*/ 28451891 h 28628424"/>
              <a:gd name="connsiteX2" fmla="*/ 3757094 w 5764448"/>
              <a:gd name="connsiteY2" fmla="*/ 5681579 h 28628424"/>
              <a:gd name="connsiteX3" fmla="*/ 3793169 w 5764448"/>
              <a:gd name="connsiteY3" fmla="*/ 5582071 h 28628424"/>
              <a:gd name="connsiteX4" fmla="*/ 4010502 w 5764448"/>
              <a:gd name="connsiteY4" fmla="*/ 5232789 h 28628424"/>
              <a:gd name="connsiteX5" fmla="*/ 4131549 w 5764448"/>
              <a:gd name="connsiteY5" fmla="*/ 4980193 h 28628424"/>
              <a:gd name="connsiteX6" fmla="*/ 4133741 w 5764448"/>
              <a:gd name="connsiteY6" fmla="*/ 4960834 h 28628424"/>
              <a:gd name="connsiteX7" fmla="*/ 4136802 w 5764448"/>
              <a:gd name="connsiteY7" fmla="*/ 4948356 h 28628424"/>
              <a:gd name="connsiteX8" fmla="*/ 4110733 w 5764448"/>
              <a:gd name="connsiteY8" fmla="*/ 4668841 h 28628424"/>
              <a:gd name="connsiteX9" fmla="*/ 4027893 w 5764448"/>
              <a:gd name="connsiteY9" fmla="*/ 4264630 h 28628424"/>
              <a:gd name="connsiteX10" fmla="*/ 4028265 w 5764448"/>
              <a:gd name="connsiteY10" fmla="*/ 4199536 h 28628424"/>
              <a:gd name="connsiteX11" fmla="*/ 4018495 w 5764448"/>
              <a:gd name="connsiteY11" fmla="*/ 4155166 h 28628424"/>
              <a:gd name="connsiteX12" fmla="*/ 4026376 w 5764448"/>
              <a:gd name="connsiteY12" fmla="*/ 4119379 h 28628424"/>
              <a:gd name="connsiteX13" fmla="*/ 4027298 w 5764448"/>
              <a:gd name="connsiteY13" fmla="*/ 4125094 h 28628424"/>
              <a:gd name="connsiteX14" fmla="*/ 4028735 w 5764448"/>
              <a:gd name="connsiteY14" fmla="*/ 4117492 h 28628424"/>
              <a:gd name="connsiteX15" fmla="*/ 4028834 w 5764448"/>
              <a:gd name="connsiteY15" fmla="*/ 4100262 h 28628424"/>
              <a:gd name="connsiteX16" fmla="*/ 4008971 w 5764448"/>
              <a:gd name="connsiteY16" fmla="*/ 4155052 h 28628424"/>
              <a:gd name="connsiteX17" fmla="*/ 4694553 w 5764448"/>
              <a:gd name="connsiteY17" fmla="*/ 0 h 28628424"/>
              <a:gd name="connsiteX18" fmla="*/ 5764448 w 5764448"/>
              <a:gd name="connsiteY18" fmla="*/ 176533 h 28628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764448" h="28628424">
                <a:moveTo>
                  <a:pt x="1069895" y="28628424"/>
                </a:moveTo>
                <a:lnTo>
                  <a:pt x="0" y="28451891"/>
                </a:lnTo>
                <a:lnTo>
                  <a:pt x="3757094" y="5681579"/>
                </a:lnTo>
                <a:lnTo>
                  <a:pt x="3793169" y="5582071"/>
                </a:lnTo>
                <a:cubicBezTo>
                  <a:pt x="3853235" y="5437236"/>
                  <a:pt x="3925679" y="5320808"/>
                  <a:pt x="4010502" y="5232789"/>
                </a:cubicBezTo>
                <a:cubicBezTo>
                  <a:pt x="4072655" y="5168293"/>
                  <a:pt x="4114362" y="5076486"/>
                  <a:pt x="4131549" y="4980193"/>
                </a:cubicBezTo>
                <a:lnTo>
                  <a:pt x="4133741" y="4960834"/>
                </a:lnTo>
                <a:lnTo>
                  <a:pt x="4136802" y="4948356"/>
                </a:lnTo>
                <a:cubicBezTo>
                  <a:pt x="4153989" y="4852063"/>
                  <a:pt x="4146657" y="4751283"/>
                  <a:pt x="4110733" y="4668841"/>
                </a:cubicBezTo>
                <a:cubicBezTo>
                  <a:pt x="4061704" y="4556326"/>
                  <a:pt x="4034090" y="4421590"/>
                  <a:pt x="4027893" y="4264630"/>
                </a:cubicBezTo>
                <a:lnTo>
                  <a:pt x="4028265" y="4199536"/>
                </a:lnTo>
                <a:lnTo>
                  <a:pt x="4018495" y="4155166"/>
                </a:lnTo>
                <a:lnTo>
                  <a:pt x="4026376" y="4119379"/>
                </a:lnTo>
                <a:lnTo>
                  <a:pt x="4027298" y="4125094"/>
                </a:lnTo>
                <a:lnTo>
                  <a:pt x="4028735" y="4117492"/>
                </a:lnTo>
                <a:lnTo>
                  <a:pt x="4028834" y="4100262"/>
                </a:lnTo>
                <a:lnTo>
                  <a:pt x="4008971" y="4155052"/>
                </a:lnTo>
                <a:lnTo>
                  <a:pt x="4694553" y="0"/>
                </a:lnTo>
                <a:lnTo>
                  <a:pt x="5764448" y="176533"/>
                </a:lnTo>
                <a:close/>
              </a:path>
            </a:pathLst>
          </a:cu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CI" dirty="0"/>
          </a:p>
        </p:txBody>
      </p:sp>
      <p:sp>
        <p:nvSpPr>
          <p:cNvPr id="5" name="Title 1">
            <a:extLst>
              <a:ext uri="{FF2B5EF4-FFF2-40B4-BE49-F238E27FC236}">
                <a16:creationId xmlns:a16="http://schemas.microsoft.com/office/drawing/2014/main" id="{8239BCA5-066A-772E-4D23-2778CD40BABC}"/>
              </a:ext>
            </a:extLst>
          </p:cNvPr>
          <p:cNvSpPr txBox="1">
            <a:spLocks/>
          </p:cNvSpPr>
          <p:nvPr/>
        </p:nvSpPr>
        <p:spPr>
          <a:xfrm>
            <a:off x="2428694" y="669304"/>
            <a:ext cx="8000324" cy="729114"/>
          </a:xfrm>
          <a:prstGeom prst="rect">
            <a:avLst/>
          </a:prstGeom>
          <a:ln w="19050">
            <a:noFill/>
          </a:ln>
          <a:effectLst>
            <a:reflection blurRad="6350" stA="52000" endA="300" endPos="35000" dir="5400000" sy="-100000" algn="bl" rotWithShape="0"/>
          </a:effectLst>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n-lt"/>
                <a:ea typeface="+mj-ea"/>
                <a:cs typeface="+mj-cs"/>
              </a:defRPr>
            </a:lvl1pPr>
          </a:lstStyle>
          <a:p>
            <a:r>
              <a:rPr lang="fr-FR" sz="4000" b="1" dirty="0">
                <a:solidFill>
                  <a:srgbClr val="002060"/>
                </a:solidFill>
                <a:latin typeface="+mn-lt" panose="02020603050405020304" pitchFamily="18" charset="0"/>
                <a:cs typeface="+mn-cs" panose="02020603050405020304" pitchFamily="18" charset="0"/>
              </a:rPr>
              <a:t>Apprentissage supervisé </a:t>
            </a:r>
          </a:p>
        </p:txBody>
      </p:sp>
      <p:pic>
        <p:nvPicPr>
          <p:cNvPr id="3" name="Image 2">
            <a:extLst>
              <a:ext uri="{FF2B5EF4-FFF2-40B4-BE49-F238E27FC236}">
                <a16:creationId xmlns:a16="http://schemas.microsoft.com/office/drawing/2014/main" id="{A3D3F21E-F8C5-7539-7429-477B42AE92FC}"/>
              </a:ext>
            </a:extLst>
          </p:cNvPr>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937500" y="2286000"/>
            <a:ext cx="3746500" cy="1955800"/>
          </a:xfrm>
          <a:prstGeom prst="rect">
            <a:avLst/>
          </a:prstGeom>
          <a:noFill/>
          <a:ln>
            <a:noFill/>
          </a:ln>
        </p:spPr>
      </p:pic>
      <p:grpSp>
        <p:nvGrpSpPr>
          <p:cNvPr id="13" name="Groupe 12">
            <a:extLst>
              <a:ext uri="{FF2B5EF4-FFF2-40B4-BE49-F238E27FC236}">
                <a16:creationId xmlns:a16="http://schemas.microsoft.com/office/drawing/2014/main" id="{5BE67358-80A0-F325-3642-44AE8C665FED}"/>
              </a:ext>
            </a:extLst>
          </p:cNvPr>
          <p:cNvGrpSpPr/>
          <p:nvPr/>
        </p:nvGrpSpPr>
        <p:grpSpPr>
          <a:xfrm>
            <a:off x="11081151" y="124008"/>
            <a:ext cx="1002497" cy="997548"/>
            <a:chOff x="11081151" y="124008"/>
            <a:chExt cx="1002497" cy="997548"/>
          </a:xfrm>
        </p:grpSpPr>
        <p:grpSp>
          <p:nvGrpSpPr>
            <p:cNvPr id="14" name="Groupe 13">
              <a:extLst>
                <a:ext uri="{FF2B5EF4-FFF2-40B4-BE49-F238E27FC236}">
                  <a16:creationId xmlns:a16="http://schemas.microsoft.com/office/drawing/2014/main" id="{3E1E0731-2693-DEB2-9949-651C974A4086}"/>
                </a:ext>
              </a:extLst>
            </p:cNvPr>
            <p:cNvGrpSpPr/>
            <p:nvPr/>
          </p:nvGrpSpPr>
          <p:grpSpPr>
            <a:xfrm>
              <a:off x="11081151" y="124008"/>
              <a:ext cx="1002497" cy="997548"/>
              <a:chOff x="6263169" y="2855357"/>
              <a:chExt cx="600075" cy="612815"/>
            </a:xfrm>
          </p:grpSpPr>
          <p:sp>
            <p:nvSpPr>
              <p:cNvPr id="16" name="Organigramme : Connecteur 15">
                <a:extLst>
                  <a:ext uri="{FF2B5EF4-FFF2-40B4-BE49-F238E27FC236}">
                    <a16:creationId xmlns:a16="http://schemas.microsoft.com/office/drawing/2014/main" id="{83A6A9E6-8021-6F90-EE9F-D9EBEDF430A1}"/>
                  </a:ext>
                </a:extLst>
              </p:cNvPr>
              <p:cNvSpPr/>
              <p:nvPr/>
            </p:nvSpPr>
            <p:spPr>
              <a:xfrm>
                <a:off x="6263169" y="2855357"/>
                <a:ext cx="600075" cy="612815"/>
              </a:xfrm>
              <a:prstGeom prst="flowChartConnector">
                <a:avLst/>
              </a:prstGeom>
              <a:solidFill>
                <a:schemeClr val="bg1"/>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I"/>
              </a:p>
            </p:txBody>
          </p:sp>
          <p:sp>
            <p:nvSpPr>
              <p:cNvPr id="17" name="Organigramme : Connecteur 16">
                <a:extLst>
                  <a:ext uri="{FF2B5EF4-FFF2-40B4-BE49-F238E27FC236}">
                    <a16:creationId xmlns:a16="http://schemas.microsoft.com/office/drawing/2014/main" id="{D05232D0-C540-E660-576E-F5291E78785D}"/>
                  </a:ext>
                </a:extLst>
              </p:cNvPr>
              <p:cNvSpPr/>
              <p:nvPr/>
            </p:nvSpPr>
            <p:spPr>
              <a:xfrm>
                <a:off x="6370324" y="2964924"/>
                <a:ext cx="385763" cy="393680"/>
              </a:xfrm>
              <a:prstGeom prst="flowChartConnector">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I" dirty="0"/>
              </a:p>
            </p:txBody>
          </p:sp>
        </p:grpSp>
        <p:pic>
          <p:nvPicPr>
            <p:cNvPr id="15" name="Graphic 1031">
              <a:extLst>
                <a:ext uri="{FF2B5EF4-FFF2-40B4-BE49-F238E27FC236}">
                  <a16:creationId xmlns:a16="http://schemas.microsoft.com/office/drawing/2014/main" id="{E04B179E-617D-9BF2-516A-450EBFCC370A}"/>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11353797" y="394182"/>
              <a:ext cx="457200" cy="457200"/>
            </a:xfrm>
            <a:prstGeom prst="rect">
              <a:avLst/>
            </a:prstGeom>
          </p:spPr>
        </p:pic>
      </p:grpSp>
      <p:sp>
        <p:nvSpPr>
          <p:cNvPr id="18" name="ZoneTexte 17">
            <a:extLst>
              <a:ext uri="{FF2B5EF4-FFF2-40B4-BE49-F238E27FC236}">
                <a16:creationId xmlns:a16="http://schemas.microsoft.com/office/drawing/2014/main" id="{1A764783-612F-945F-E9EA-57BD434DC3C4}"/>
              </a:ext>
            </a:extLst>
          </p:cNvPr>
          <p:cNvSpPr txBox="1"/>
          <p:nvPr/>
        </p:nvSpPr>
        <p:spPr>
          <a:xfrm>
            <a:off x="80035" y="40933"/>
            <a:ext cx="5767553" cy="369332"/>
          </a:xfrm>
          <a:prstGeom prst="rect">
            <a:avLst/>
          </a:prstGeom>
          <a:noFill/>
          <a:effectLst>
            <a:reflection stA="63000" endPos="11000" dist="50800" dir="5400000" sy="-100000" algn="bl" rotWithShape="0"/>
          </a:effectLst>
        </p:spPr>
        <p:txBody>
          <a:bodyPr wrap="square" rtlCol="0">
            <a:spAutoFit/>
          </a:bodyPr>
          <a:lstStyle/>
          <a:p>
            <a:r>
              <a:rPr lang="fr-CI" b="1" dirty="0">
                <a:solidFill>
                  <a:schemeClr val="bg1"/>
                </a:solidFill>
                <a:latin typeface="+mn-lt" panose="020E0705020206020404" pitchFamily="34" charset="0"/>
              </a:rPr>
              <a:t>P</a:t>
            </a:r>
            <a:r>
              <a:rPr lang="fr-CI" b="1" dirty="0">
                <a:solidFill>
                  <a:schemeClr val="accent1">
                    <a:lumMod val="50000"/>
                  </a:schemeClr>
                </a:solidFill>
                <a:latin typeface="+mn-lt" panose="020E0705020206020404" pitchFamily="34" charset="0"/>
              </a:rPr>
              <a:t>artie 4 : Modélisation &amp; Résultats</a:t>
            </a:r>
          </a:p>
        </p:txBody>
      </p:sp>
      <mc:AlternateContent xmlns:mc="http://schemas.openxmlformats.org/markup-compatibility/2006" xmlns:a14="http://schemas.microsoft.com/office/drawing/2010/main">
        <mc:Choice Requires="a14">
          <p:sp>
            <p:nvSpPr>
              <p:cNvPr id="200" name="Contenu régression"/>
              <p:cNvSpPr txBox="1"/>
              <p:nvPr/>
            </p:nvSpPr>
            <p:spPr>
              <a:xfrm>
                <a:off x="508000" y="2484780"/>
                <a:ext cx="6921500" cy="2032000"/>
              </a:xfrm>
              <a:prstGeom prst="rect">
                <a:avLst/>
              </a:prstGeom>
              <a:noFill/>
            </p:spPr>
            <p:txBody>
              <a:bodyPr wrap="square" lIns="0" rIns="0">
                <a:normAutofit/>
              </a:bodyPr>
              <a:lstStyle/>
              <a:p>
                <a:pPr marL="228600" indent="-228600">
                  <a:spcAft>
                    <a:spcPts val="400"/>
                  </a:spcAft>
                  <a:buFont typeface="Arial"/>
                  <a:buChar char="•"/>
                </a:pPr>
                <a:r>
                  <a:rPr lang="fr-FR" sz="1600" dirty="0">
                    <a:solidFill>
                      <a:srgbClr val="002060"/>
                    </a:solidFill>
                  </a:rPr>
                  <a:t>Fonction logistique et sa réciproque :</a:t>
                </a:r>
              </a:p>
              <a:p>
                <a:pPr algn="ctr">
                  <a:spcBef>
                    <a:spcPts val="400"/>
                  </a:spcBef>
                  <a:spcAft>
                    <a:spcPts val="800"/>
                  </a:spcAft>
                  <a:buNone/>
                </a:pPr>
                <a14:m>
                  <m:oMathPara xmlns:m="http://schemas.openxmlformats.org/officeDocument/2006/math">
                    <m:oMathParaPr>
                      <m:jc m:val="centerGroup"/>
                    </m:oMathParaPr>
                    <m:oMath xmlns:m="http://schemas.openxmlformats.org/officeDocument/2006/math">
                      <m:r>
                        <a:rPr lang="fr-FR" sz="1600" dirty="0">
                          <a:solidFill>
                            <a:srgbClr val="0B66AE"/>
                          </a:solidFill>
                          <a:latin typeface="Cambria Math" panose="02040503050406030204" pitchFamily="18" charset="0"/>
                        </a:rPr>
                        <m:t>𝑓</m:t>
                      </m:r>
                      <m:r>
                        <a:rPr lang="fr-FR" sz="1600" dirty="0">
                          <a:solidFill>
                            <a:srgbClr val="0B66AE"/>
                          </a:solidFill>
                          <a:latin typeface="Cambria Math" panose="02040503050406030204" pitchFamily="18" charset="0"/>
                        </a:rPr>
                        <m:t>(</m:t>
                      </m:r>
                      <m:r>
                        <a:rPr lang="fr-FR" sz="1600" dirty="0">
                          <a:solidFill>
                            <a:srgbClr val="0B66AE"/>
                          </a:solidFill>
                          <a:latin typeface="Cambria Math" panose="02040503050406030204" pitchFamily="18" charset="0"/>
                        </a:rPr>
                        <m:t>𝑥</m:t>
                      </m:r>
                      <m:r>
                        <a:rPr lang="fr-FR" sz="1600" dirty="0">
                          <a:solidFill>
                            <a:srgbClr val="0B66AE"/>
                          </a:solidFill>
                          <a:latin typeface="Cambria Math" panose="02040503050406030204" pitchFamily="18" charset="0"/>
                        </a:rPr>
                        <m:t>)=</m:t>
                      </m:r>
                      <m:f>
                        <m:fPr>
                          <m:ctrlPr>
                            <a:rPr lang="fr-FR" sz="1600" i="1" dirty="0">
                              <a:solidFill>
                                <a:srgbClr val="0B66AE"/>
                              </a:solidFill>
                              <a:latin typeface="Cambria Math" panose="02040503050406030204" pitchFamily="18" charset="0"/>
                            </a:rPr>
                          </m:ctrlPr>
                        </m:fPr>
                        <m:num>
                          <m:r>
                            <a:rPr lang="fr-FR" sz="1600" dirty="0">
                              <a:solidFill>
                                <a:srgbClr val="0B66AE"/>
                              </a:solidFill>
                              <a:latin typeface="Cambria Math" panose="02040503050406030204" pitchFamily="18" charset="0"/>
                            </a:rPr>
                            <m:t>1</m:t>
                          </m:r>
                        </m:num>
                        <m:den>
                          <m:r>
                            <a:rPr lang="fr-FR" sz="1600" dirty="0">
                              <a:solidFill>
                                <a:srgbClr val="0B66AE"/>
                              </a:solidFill>
                              <a:latin typeface="Cambria Math" panose="02040503050406030204" pitchFamily="18" charset="0"/>
                            </a:rPr>
                            <m:t>1+</m:t>
                          </m:r>
                          <m:sSup>
                            <m:sSupPr>
                              <m:ctrlPr>
                                <a:rPr lang="fr-FR" sz="1600" i="1" dirty="0">
                                  <a:solidFill>
                                    <a:srgbClr val="0B66AE"/>
                                  </a:solidFill>
                                  <a:latin typeface="Cambria Math" panose="02040503050406030204" pitchFamily="18" charset="0"/>
                                </a:rPr>
                              </m:ctrlPr>
                            </m:sSupPr>
                            <m:e>
                              <m:r>
                                <a:rPr lang="fr-FR" sz="1600" dirty="0">
                                  <a:solidFill>
                                    <a:srgbClr val="0B66AE"/>
                                  </a:solidFill>
                                  <a:latin typeface="Cambria Math" panose="02040503050406030204" pitchFamily="18" charset="0"/>
                                </a:rPr>
                                <m:t>𝑒</m:t>
                              </m:r>
                            </m:e>
                            <m:sup>
                              <m:r>
                                <a:rPr lang="fr-FR" sz="1600" dirty="0">
                                  <a:solidFill>
                                    <a:srgbClr val="0B66AE"/>
                                  </a:solidFill>
                                  <a:latin typeface="Cambria Math" panose="02040503050406030204" pitchFamily="18" charset="0"/>
                                </a:rPr>
                                <m:t>−</m:t>
                              </m:r>
                              <m:r>
                                <a:rPr lang="fr-FR" sz="1600" dirty="0">
                                  <a:solidFill>
                                    <a:srgbClr val="0B66AE"/>
                                  </a:solidFill>
                                  <a:latin typeface="Cambria Math" panose="02040503050406030204" pitchFamily="18" charset="0"/>
                                </a:rPr>
                                <m:t>𝑥</m:t>
                              </m:r>
                            </m:sup>
                          </m:sSup>
                        </m:den>
                      </m:f>
                      <m:r>
                        <a:rPr lang="fr-FR" sz="1600" dirty="0">
                          <a:solidFill>
                            <a:srgbClr val="0B66AE"/>
                          </a:solidFill>
                          <a:latin typeface="Cambria Math" panose="02040503050406030204" pitchFamily="18" charset="0"/>
                        </a:rPr>
                        <m:t>∈]0,1[ </m:t>
                      </m:r>
                      <m:r>
                        <a:rPr lang="fr-FR" sz="1600" dirty="0">
                          <a:solidFill>
                            <a:srgbClr val="0B66AE"/>
                          </a:solidFill>
                          <a:latin typeface="Cambria Math" panose="02040503050406030204" pitchFamily="18" charset="0"/>
                        </a:rPr>
                        <m:t>𝑒𝑡</m:t>
                      </m:r>
                      <m:r>
                        <a:rPr lang="fr-FR" sz="1600" dirty="0">
                          <a:solidFill>
                            <a:srgbClr val="0B66AE"/>
                          </a:solidFill>
                          <a:latin typeface="Cambria Math" panose="02040503050406030204" pitchFamily="18" charset="0"/>
                        </a:rPr>
                        <m:t> </m:t>
                      </m:r>
                      <m:sSup>
                        <m:sSupPr>
                          <m:ctrlPr>
                            <a:rPr lang="fr-FR" sz="1600" i="1" dirty="0">
                              <a:solidFill>
                                <a:srgbClr val="0B66AE"/>
                              </a:solidFill>
                              <a:latin typeface="Cambria Math" panose="02040503050406030204" pitchFamily="18" charset="0"/>
                            </a:rPr>
                          </m:ctrlPr>
                        </m:sSupPr>
                        <m:e>
                          <m:r>
                            <a:rPr lang="fr-FR" sz="1600" dirty="0">
                              <a:solidFill>
                                <a:srgbClr val="0B66AE"/>
                              </a:solidFill>
                              <a:latin typeface="Cambria Math" panose="02040503050406030204" pitchFamily="18" charset="0"/>
                            </a:rPr>
                            <m:t>𝑓</m:t>
                          </m:r>
                        </m:e>
                        <m:sup>
                          <m:r>
                            <a:rPr lang="fr-FR" sz="1600" dirty="0">
                              <a:solidFill>
                                <a:srgbClr val="0B66AE"/>
                              </a:solidFill>
                              <a:latin typeface="Cambria Math" panose="02040503050406030204" pitchFamily="18" charset="0"/>
                            </a:rPr>
                            <m:t>−1</m:t>
                          </m:r>
                        </m:sup>
                      </m:sSup>
                      <m:r>
                        <a:rPr lang="fr-FR" sz="1600" dirty="0">
                          <a:solidFill>
                            <a:srgbClr val="0B66AE"/>
                          </a:solidFill>
                          <a:latin typeface="Cambria Math" panose="02040503050406030204" pitchFamily="18" charset="0"/>
                        </a:rPr>
                        <m:t>(</m:t>
                      </m:r>
                      <m:r>
                        <a:rPr lang="fr-FR" sz="1600" dirty="0">
                          <a:solidFill>
                            <a:srgbClr val="0B66AE"/>
                          </a:solidFill>
                          <a:latin typeface="Cambria Math" panose="02040503050406030204" pitchFamily="18" charset="0"/>
                        </a:rPr>
                        <m:t>𝑥</m:t>
                      </m:r>
                      <m:r>
                        <a:rPr lang="fr-FR" sz="1600" dirty="0">
                          <a:solidFill>
                            <a:srgbClr val="0B66AE"/>
                          </a:solidFill>
                          <a:latin typeface="Cambria Math" panose="02040503050406030204" pitchFamily="18" charset="0"/>
                        </a:rPr>
                        <m:t>)=</m:t>
                      </m:r>
                      <m:r>
                        <m:rPr>
                          <m:sty m:val="p"/>
                        </m:rPr>
                        <a:rPr lang="fr-FR" sz="1600" dirty="0">
                          <a:solidFill>
                            <a:srgbClr val="C00000"/>
                          </a:solidFill>
                          <a:latin typeface="Cambria Math" panose="02040503050406030204" pitchFamily="18" charset="0"/>
                        </a:rPr>
                        <m:t>logit</m:t>
                      </m:r>
                      <m:r>
                        <a:rPr lang="fr-FR" sz="1600" dirty="0">
                          <a:solidFill>
                            <a:srgbClr val="0B66AE"/>
                          </a:solidFill>
                          <a:latin typeface="Cambria Math" panose="02040503050406030204" pitchFamily="18" charset="0"/>
                        </a:rPr>
                        <m:t>(</m:t>
                      </m:r>
                      <m:r>
                        <a:rPr lang="fr-FR" sz="1600" dirty="0">
                          <a:solidFill>
                            <a:srgbClr val="0B66AE"/>
                          </a:solidFill>
                          <a:latin typeface="Cambria Math" panose="02040503050406030204" pitchFamily="18" charset="0"/>
                        </a:rPr>
                        <m:t>𝑥</m:t>
                      </m:r>
                      <m:r>
                        <a:rPr lang="fr-FR" sz="1600" dirty="0">
                          <a:solidFill>
                            <a:srgbClr val="0B66AE"/>
                          </a:solidFill>
                          <a:latin typeface="Cambria Math" panose="02040503050406030204" pitchFamily="18" charset="0"/>
                        </a:rPr>
                        <m:t>)=</m:t>
                      </m:r>
                      <m:r>
                        <m:rPr>
                          <m:sty m:val="p"/>
                        </m:rPr>
                        <a:rPr lang="fr-FR" sz="1600" dirty="0">
                          <a:solidFill>
                            <a:srgbClr val="0B66AE"/>
                          </a:solidFill>
                          <a:latin typeface="Cambria Math" panose="02040503050406030204" pitchFamily="18" charset="0"/>
                        </a:rPr>
                        <m:t>ln</m:t>
                      </m:r>
                      <m:d>
                        <m:dPr>
                          <m:ctrlPr>
                            <a:rPr lang="fr-FR" sz="1600" i="1" dirty="0">
                              <a:solidFill>
                                <a:srgbClr val="0B66AE"/>
                              </a:solidFill>
                              <a:latin typeface="Cambria Math" panose="02040503050406030204" pitchFamily="18" charset="0"/>
                            </a:rPr>
                          </m:ctrlPr>
                        </m:dPr>
                        <m:e>
                          <m:f>
                            <m:fPr>
                              <m:ctrlPr>
                                <a:rPr lang="fr-FR" sz="1600" i="1" dirty="0">
                                  <a:solidFill>
                                    <a:srgbClr val="0B66AE"/>
                                  </a:solidFill>
                                  <a:latin typeface="Cambria Math" panose="02040503050406030204" pitchFamily="18" charset="0"/>
                                </a:rPr>
                              </m:ctrlPr>
                            </m:fPr>
                            <m:num>
                              <m:r>
                                <a:rPr lang="fr-FR" sz="1600" dirty="0">
                                  <a:solidFill>
                                    <a:srgbClr val="0B66AE"/>
                                  </a:solidFill>
                                  <a:latin typeface="Cambria Math" panose="02040503050406030204" pitchFamily="18" charset="0"/>
                                </a:rPr>
                                <m:t>𝑥</m:t>
                              </m:r>
                            </m:num>
                            <m:den>
                              <m:r>
                                <a:rPr lang="fr-FR" sz="1600" dirty="0">
                                  <a:solidFill>
                                    <a:srgbClr val="0B66AE"/>
                                  </a:solidFill>
                                  <a:latin typeface="Cambria Math" panose="02040503050406030204" pitchFamily="18" charset="0"/>
                                </a:rPr>
                                <m:t>1−</m:t>
                              </m:r>
                              <m:r>
                                <a:rPr lang="fr-FR" sz="1600" dirty="0">
                                  <a:solidFill>
                                    <a:srgbClr val="0B66AE"/>
                                  </a:solidFill>
                                  <a:latin typeface="Cambria Math" panose="02040503050406030204" pitchFamily="18" charset="0"/>
                                </a:rPr>
                                <m:t>𝑥</m:t>
                              </m:r>
                            </m:den>
                          </m:f>
                        </m:e>
                      </m:d>
                    </m:oMath>
                  </m:oMathPara>
                </a14:m>
                <a:endParaRPr lang="fr-FR" sz="1600" dirty="0">
                  <a:solidFill>
                    <a:srgbClr val="002060"/>
                  </a:solidFill>
                </a:endParaRPr>
              </a:p>
              <a:p>
                <a:pPr marL="228600" indent="-228600">
                  <a:spcAft>
                    <a:spcPts val="400"/>
                  </a:spcAft>
                  <a:buFont typeface="Arial"/>
                  <a:buChar char="•"/>
                </a:pPr>
                <a:r>
                  <a:rPr lang="fr-FR" sz="1600" dirty="0">
                    <a:solidFill>
                      <a:srgbClr val="002060"/>
                    </a:solidFill>
                  </a:rPr>
                  <a:t>Pour β ∈ ℝᵖ, on note pᵦ : ℝᵖ → ]0,1[ la fonction telle que</a:t>
                </a:r>
              </a:p>
              <a:p>
                <a:pPr algn="ctr">
                  <a:spcBef>
                    <a:spcPts val="400"/>
                  </a:spcBef>
                  <a:spcAft>
                    <a:spcPts val="800"/>
                  </a:spcAft>
                  <a:buNone/>
                </a:pPr>
                <a14:m>
                  <m:oMathPara xmlns:m="http://schemas.openxmlformats.org/officeDocument/2006/math">
                    <m:oMathParaPr>
                      <m:jc m:val="centerGroup"/>
                    </m:oMathParaPr>
                    <m:oMath xmlns:m="http://schemas.openxmlformats.org/officeDocument/2006/math">
                      <m:sSub>
                        <m:sSubPr>
                          <m:ctrlPr>
                            <a:rPr lang="fr-FR" sz="1600" i="1" dirty="0">
                              <a:solidFill>
                                <a:srgbClr val="0B66AE"/>
                              </a:solidFill>
                              <a:latin typeface="Cambria Math" panose="02040503050406030204" pitchFamily="18" charset="0"/>
                            </a:rPr>
                          </m:ctrlPr>
                        </m:sSubPr>
                        <m:e>
                          <m:r>
                            <a:rPr lang="fr-FR" sz="1600" dirty="0">
                              <a:solidFill>
                                <a:srgbClr val="0B66AE"/>
                              </a:solidFill>
                              <a:latin typeface="Cambria Math" panose="02040503050406030204" pitchFamily="18" charset="0"/>
                            </a:rPr>
                            <m:t>𝑝</m:t>
                          </m:r>
                        </m:e>
                        <m:sub>
                          <m:r>
                            <a:rPr lang="fr-FR" sz="1600" dirty="0">
                              <a:solidFill>
                                <a:srgbClr val="0B66AE"/>
                              </a:solidFill>
                              <a:latin typeface="Cambria Math" panose="02040503050406030204" pitchFamily="18" charset="0"/>
                            </a:rPr>
                            <m:t>𝛽</m:t>
                          </m:r>
                        </m:sub>
                      </m:sSub>
                      <m:r>
                        <a:rPr lang="fr-FR" sz="1600" dirty="0">
                          <a:solidFill>
                            <a:srgbClr val="0B66AE"/>
                          </a:solidFill>
                          <a:latin typeface="Cambria Math" panose="02040503050406030204" pitchFamily="18" charset="0"/>
                        </a:rPr>
                        <m:t>(</m:t>
                      </m:r>
                      <m:r>
                        <a:rPr lang="fr-FR" sz="1600" dirty="0">
                          <a:solidFill>
                            <a:srgbClr val="0B66AE"/>
                          </a:solidFill>
                          <a:latin typeface="Cambria Math" panose="02040503050406030204" pitchFamily="18" charset="0"/>
                        </a:rPr>
                        <m:t>𝑥</m:t>
                      </m:r>
                      <m:r>
                        <a:rPr lang="fr-FR" sz="1600" dirty="0">
                          <a:solidFill>
                            <a:srgbClr val="0B66AE"/>
                          </a:solidFill>
                          <a:latin typeface="Cambria Math" panose="02040503050406030204" pitchFamily="18" charset="0"/>
                        </a:rPr>
                        <m:t>)=</m:t>
                      </m:r>
                      <m:f>
                        <m:fPr>
                          <m:ctrlPr>
                            <a:rPr lang="fr-FR" sz="1600" i="1" dirty="0">
                              <a:solidFill>
                                <a:srgbClr val="0B66AE"/>
                              </a:solidFill>
                              <a:latin typeface="Cambria Math" panose="02040503050406030204" pitchFamily="18" charset="0"/>
                            </a:rPr>
                          </m:ctrlPr>
                        </m:fPr>
                        <m:num>
                          <m:r>
                            <a:rPr lang="fr-FR" sz="1600" dirty="0">
                              <a:solidFill>
                                <a:srgbClr val="0B66AE"/>
                              </a:solidFill>
                              <a:latin typeface="Cambria Math" panose="02040503050406030204" pitchFamily="18" charset="0"/>
                            </a:rPr>
                            <m:t>1</m:t>
                          </m:r>
                        </m:num>
                        <m:den>
                          <m:r>
                            <a:rPr lang="fr-FR" sz="1600" dirty="0">
                              <a:solidFill>
                                <a:srgbClr val="0B66AE"/>
                              </a:solidFill>
                              <a:latin typeface="Cambria Math" panose="02040503050406030204" pitchFamily="18" charset="0"/>
                            </a:rPr>
                            <m:t>1+</m:t>
                          </m:r>
                          <m:sSup>
                            <m:sSupPr>
                              <m:ctrlPr>
                                <a:rPr lang="fr-FR" sz="1600" i="1" dirty="0">
                                  <a:solidFill>
                                    <a:srgbClr val="0B66AE"/>
                                  </a:solidFill>
                                  <a:latin typeface="Cambria Math" panose="02040503050406030204" pitchFamily="18" charset="0"/>
                                </a:rPr>
                              </m:ctrlPr>
                            </m:sSupPr>
                            <m:e>
                              <m:r>
                                <a:rPr lang="fr-FR" sz="1600" dirty="0">
                                  <a:solidFill>
                                    <a:srgbClr val="0B66AE"/>
                                  </a:solidFill>
                                  <a:latin typeface="Cambria Math" panose="02040503050406030204" pitchFamily="18" charset="0"/>
                                </a:rPr>
                                <m:t>𝑒</m:t>
                              </m:r>
                            </m:e>
                            <m:sup>
                              <m:r>
                                <a:rPr lang="fr-FR" sz="1600" dirty="0">
                                  <a:solidFill>
                                    <a:srgbClr val="0B66AE"/>
                                  </a:solidFill>
                                  <a:latin typeface="Cambria Math" panose="02040503050406030204" pitchFamily="18" charset="0"/>
                                </a:rPr>
                                <m:t>−</m:t>
                              </m:r>
                              <m:r>
                                <a:rPr lang="fr-FR" sz="1600" dirty="0">
                                  <a:solidFill>
                                    <a:srgbClr val="0B66AE"/>
                                  </a:solidFill>
                                  <a:latin typeface="Cambria Math" panose="02040503050406030204" pitchFamily="18" charset="0"/>
                                </a:rPr>
                                <m:t>𝑥</m:t>
                              </m:r>
                              <m:r>
                                <a:rPr lang="fr-FR" sz="1600" dirty="0">
                                  <a:solidFill>
                                    <a:srgbClr val="0B66AE"/>
                                  </a:solidFill>
                                  <a:latin typeface="Cambria Math" panose="02040503050406030204" pitchFamily="18" charset="0"/>
                                </a:rPr>
                                <m:t>′</m:t>
                              </m:r>
                              <m:r>
                                <a:rPr lang="fr-FR" sz="1600" dirty="0">
                                  <a:solidFill>
                                    <a:srgbClr val="0B66AE"/>
                                  </a:solidFill>
                                  <a:latin typeface="Cambria Math" panose="02040503050406030204" pitchFamily="18" charset="0"/>
                                </a:rPr>
                                <m:t>𝛽</m:t>
                              </m:r>
                            </m:sup>
                          </m:sSup>
                        </m:den>
                      </m:f>
                      <m:r>
                        <a:rPr lang="fr-FR" sz="1600" dirty="0">
                          <a:solidFill>
                            <a:srgbClr val="0B66AE"/>
                          </a:solidFill>
                          <a:latin typeface="Cambria Math" panose="02040503050406030204" pitchFamily="18" charset="0"/>
                        </a:rPr>
                        <m:t> ⇔ </m:t>
                      </m:r>
                      <m:r>
                        <m:rPr>
                          <m:sty m:val="p"/>
                        </m:rPr>
                        <a:rPr lang="fr-FR" sz="1600" dirty="0">
                          <a:solidFill>
                            <a:srgbClr val="0B66AE"/>
                          </a:solidFill>
                          <a:latin typeface="Cambria Math" panose="02040503050406030204" pitchFamily="18" charset="0"/>
                        </a:rPr>
                        <m:t>logit</m:t>
                      </m:r>
                      <m:r>
                        <a:rPr lang="fr-FR" sz="1600" dirty="0">
                          <a:solidFill>
                            <a:srgbClr val="0B66AE"/>
                          </a:solidFill>
                          <a:latin typeface="Cambria Math" panose="02040503050406030204" pitchFamily="18" charset="0"/>
                        </a:rPr>
                        <m:t> </m:t>
                      </m:r>
                      <m:sSub>
                        <m:sSubPr>
                          <m:ctrlPr>
                            <a:rPr lang="fr-FR" sz="1600" i="1" dirty="0">
                              <a:solidFill>
                                <a:srgbClr val="0B66AE"/>
                              </a:solidFill>
                              <a:latin typeface="Cambria Math" panose="02040503050406030204" pitchFamily="18" charset="0"/>
                            </a:rPr>
                          </m:ctrlPr>
                        </m:sSubPr>
                        <m:e>
                          <m:r>
                            <a:rPr lang="fr-FR" sz="1600" dirty="0">
                              <a:solidFill>
                                <a:srgbClr val="0B66AE"/>
                              </a:solidFill>
                              <a:latin typeface="Cambria Math" panose="02040503050406030204" pitchFamily="18" charset="0"/>
                            </a:rPr>
                            <m:t>𝑝</m:t>
                          </m:r>
                        </m:e>
                        <m:sub>
                          <m:r>
                            <a:rPr lang="fr-FR" sz="1600" dirty="0">
                              <a:solidFill>
                                <a:srgbClr val="0B66AE"/>
                              </a:solidFill>
                              <a:latin typeface="Cambria Math" panose="02040503050406030204" pitchFamily="18" charset="0"/>
                            </a:rPr>
                            <m:t>𝛽</m:t>
                          </m:r>
                        </m:sub>
                      </m:sSub>
                      <m:r>
                        <a:rPr lang="fr-FR" sz="1600" dirty="0">
                          <a:solidFill>
                            <a:srgbClr val="0B66AE"/>
                          </a:solidFill>
                          <a:latin typeface="Cambria Math" panose="02040503050406030204" pitchFamily="18" charset="0"/>
                        </a:rPr>
                        <m:t>(</m:t>
                      </m:r>
                      <m:r>
                        <a:rPr lang="fr-FR" sz="1600" dirty="0">
                          <a:solidFill>
                            <a:srgbClr val="0B66AE"/>
                          </a:solidFill>
                          <a:latin typeface="Cambria Math" panose="02040503050406030204" pitchFamily="18" charset="0"/>
                        </a:rPr>
                        <m:t>𝑥</m:t>
                      </m:r>
                      <m:r>
                        <a:rPr lang="fr-FR" sz="1600" dirty="0">
                          <a:solidFill>
                            <a:srgbClr val="0B66AE"/>
                          </a:solidFill>
                          <a:latin typeface="Cambria Math" panose="02040503050406030204" pitchFamily="18" charset="0"/>
                        </a:rPr>
                        <m:t>)=</m:t>
                      </m:r>
                      <m:r>
                        <a:rPr lang="fr-FR" sz="1600" dirty="0">
                          <a:solidFill>
                            <a:srgbClr val="0B66AE"/>
                          </a:solidFill>
                          <a:latin typeface="Cambria Math" panose="02040503050406030204" pitchFamily="18" charset="0"/>
                        </a:rPr>
                        <m:t>𝑥</m:t>
                      </m:r>
                      <m:r>
                        <a:rPr lang="fr-FR" sz="1600" dirty="0">
                          <a:solidFill>
                            <a:srgbClr val="0B66AE"/>
                          </a:solidFill>
                          <a:latin typeface="Cambria Math" panose="02040503050406030204" pitchFamily="18" charset="0"/>
                        </a:rPr>
                        <m:t>′</m:t>
                      </m:r>
                      <m:r>
                        <a:rPr lang="fr-FR" sz="1600" dirty="0">
                          <a:solidFill>
                            <a:srgbClr val="0B66AE"/>
                          </a:solidFill>
                          <a:latin typeface="Cambria Math" panose="02040503050406030204" pitchFamily="18" charset="0"/>
                        </a:rPr>
                        <m:t>𝛽</m:t>
                      </m:r>
                    </m:oMath>
                  </m:oMathPara>
                </a14:m>
                <a:endParaRPr lang="fr-FR" sz="1600" dirty="0">
                  <a:solidFill>
                    <a:srgbClr val="002060"/>
                  </a:solidFill>
                </a:endParaRPr>
              </a:p>
            </p:txBody>
          </p:sp>
        </mc:Choice>
        <mc:Fallback xmlns="">
          <p:sp>
            <p:nvSpPr>
              <p:cNvPr id="200" name="Contenu régression"/>
              <p:cNvSpPr txBox="1">
                <a:spLocks noRot="1" noChangeAspect="1" noMove="1" noResize="1" noEditPoints="1" noAdjustHandles="1" noChangeArrowheads="1" noChangeShapeType="1" noTextEdit="1"/>
              </p:cNvSpPr>
              <p:nvPr/>
            </p:nvSpPr>
            <p:spPr>
              <a:xfrm>
                <a:off x="508000" y="2484780"/>
                <a:ext cx="6921500" cy="2032000"/>
              </a:xfrm>
              <a:prstGeom prst="rect">
                <a:avLst/>
              </a:prstGeom>
              <a:blipFill>
                <a:blip r:embed="rId4"/>
                <a:stretch>
                  <a:fillRect l="-1673" t="-901"/>
                </a:stretch>
              </a:blipFill>
            </p:spPr>
            <p:txBody>
              <a:bodyPr/>
              <a:lstStyle/>
              <a:p>
                <a:r>
                  <a:rPr lang="fr-FR">
                    <a:noFill/>
                  </a:rPr>
                  <a:t> </a:t>
                </a:r>
              </a:p>
            </p:txBody>
          </p:sp>
        </mc:Fallback>
      </mc:AlternateContent>
      <p:sp>
        <p:nvSpPr>
          <p:cNvPr id="201" name="Titre modèle"/>
          <p:cNvSpPr/>
          <p:nvPr/>
        </p:nvSpPr>
        <p:spPr>
          <a:xfrm>
            <a:off x="508000" y="4953000"/>
            <a:ext cx="11176000" cy="431800"/>
          </a:xfrm>
          <a:prstGeom prst="round2SameRect">
            <a:avLst>
              <a:gd name="adj1" fmla="val 25000"/>
              <a:gd name="adj2" fmla="val 0"/>
            </a:avLst>
          </a:prstGeom>
          <a:solidFill>
            <a:srgbClr val="C00000"/>
          </a:solidFill>
          <a:ln>
            <a:noFill/>
          </a:ln>
        </p:spPr>
        <p:txBody>
          <a:bodyPr lIns="182880" tIns="0" bIns="0" anchor="ctr"/>
          <a:lstStyle/>
          <a:p>
            <a:pPr>
              <a:buNone/>
            </a:pPr>
            <a:r>
              <a:rPr lang="fr-FR" sz="1800" b="1" dirty="0">
                <a:solidFill>
                  <a:srgbClr val="FFFFFF"/>
                </a:solidFill>
              </a:rPr>
              <a:t>Le modèle de régression logistique</a:t>
            </a:r>
          </a:p>
        </p:txBody>
      </p:sp>
      <p:sp>
        <p:nvSpPr>
          <p:cNvPr id="202" name="Corps modèle"/>
          <p:cNvSpPr/>
          <p:nvPr/>
        </p:nvSpPr>
        <p:spPr>
          <a:xfrm>
            <a:off x="508000" y="5384800"/>
            <a:ext cx="11176000" cy="1041400"/>
          </a:xfrm>
          <a:prstGeom prst="round2SameRect">
            <a:avLst>
              <a:gd name="adj1" fmla="val 0"/>
              <a:gd name="adj2" fmla="val 15000"/>
            </a:avLst>
          </a:prstGeom>
          <a:solidFill>
            <a:srgbClr val="FCEDED"/>
          </a:solidFill>
          <a:ln w="9525">
            <a:solidFill>
              <a:srgbClr val="C00000"/>
            </a:solidFill>
          </a:ln>
        </p:spPr>
        <p:txBody>
          <a:bodyPr lIns="182880" tIns="45720" bIns="45720" anchor="ctr"/>
          <a:lstStyle/>
          <a:p>
            <a:pPr>
              <a:spcAft>
                <a:spcPts val="300"/>
              </a:spcAft>
              <a:buNone/>
            </a:pPr>
            <a:r>
              <a:rPr lang="fr-FR" sz="1600" dirty="0">
                <a:solidFill>
                  <a:srgbClr val="002060"/>
                </a:solidFill>
              </a:rPr>
              <a:t>Il existe β ∈ ℝᵖ tel que pour tout i = 1, ⋯, n :</a:t>
            </a:r>
          </a:p>
          <a:p>
            <a:pPr algn="ctr">
              <a:buNone/>
            </a:pPr>
            <a:r>
              <a:rPr lang="fr-FR" sz="1600" i="1" dirty="0">
                <a:solidFill>
                  <a:srgbClr val="0B66AE"/>
                </a:solidFill>
              </a:rPr>
              <a:t>ℙ(Yᵢ = 1 | Xᵢ = xᵢ) = pᵦ(xᵢ)   et   ℙ(Yᵢ = 0 | Xᵢ = xᵢ) = 1 − pᵦ(xᵢ)</a:t>
            </a:r>
          </a:p>
        </p:txBody>
      </p:sp>
    </p:spTree>
    <p:extLst>
      <p:ext uri="{BB962C8B-B14F-4D97-AF65-F5344CB8AC3E}">
        <p14:creationId xmlns:p14="http://schemas.microsoft.com/office/powerpoint/2010/main" val="3417040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17A70E-EB54-E5B4-87CA-58E0A413C77D}"/>
            </a:ext>
          </a:extLst>
        </p:cNvPr>
        <p:cNvGrpSpPr/>
        <p:nvPr/>
      </p:nvGrpSpPr>
      <p:grpSpPr>
        <a:xfrm>
          <a:off x="0" y="0"/>
          <a:ext cx="0" cy="0"/>
          <a:chOff x="0" y="0"/>
          <a:chExt cx="0" cy="0"/>
        </a:xfrm>
      </p:grpSpPr>
      <p:pic>
        <p:nvPicPr>
          <p:cNvPr id="14" name="Image 13">
            <a:extLst>
              <a:ext uri="{FF2B5EF4-FFF2-40B4-BE49-F238E27FC236}">
                <a16:creationId xmlns:a16="http://schemas.microsoft.com/office/drawing/2014/main" id="{4EFCE170-ED7B-5E4D-8B2C-7F2EF4394451}"/>
              </a:ext>
            </a:extLst>
          </p:cNvPr>
          <p:cNvPicPr>
            <a:picLocks noChangeAspect="1"/>
          </p:cNvPicPr>
          <p:nvPr/>
        </p:nvPicPr>
        <p:blipFill>
          <a:blip r:embed="rId2">
            <a:extLst>
              <a:ext uri="{28A0092B-C50C-407E-A947-70E740481C1C}">
                <a14:useLocalDpi xmlns:a14="http://schemas.microsoft.com/office/drawing/2010/main" val="0"/>
              </a:ext>
            </a:extLst>
          </a:blip>
          <a:srcRect l="6072"/>
          <a:stretch>
            <a:fillRect/>
          </a:stretch>
        </p:blipFill>
        <p:spPr bwMode="auto">
          <a:xfrm>
            <a:off x="5461000" y="1841500"/>
            <a:ext cx="6223000" cy="3962400"/>
          </a:xfrm>
          <a:prstGeom prst="rect">
            <a:avLst/>
          </a:prstGeom>
          <a:noFill/>
          <a:ln>
            <a:noFill/>
          </a:ln>
        </p:spPr>
      </p:pic>
      <p:sp>
        <p:nvSpPr>
          <p:cNvPr id="116" name="Ellipse 115">
            <a:extLst>
              <a:ext uri="{FF2B5EF4-FFF2-40B4-BE49-F238E27FC236}">
                <a16:creationId xmlns:a16="http://schemas.microsoft.com/office/drawing/2014/main" id="{33052D8B-8356-BADD-07D1-4B8F7BA786C2}"/>
              </a:ext>
            </a:extLst>
          </p:cNvPr>
          <p:cNvSpPr/>
          <p:nvPr/>
        </p:nvSpPr>
        <p:spPr>
          <a:xfrm>
            <a:off x="218679" y="2700421"/>
            <a:ext cx="914400" cy="9144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I">
              <a:latin typeface="+mn-lt" panose="02020603050405020304" pitchFamily="18" charset="0"/>
              <a:cs typeface="+mn-cs" panose="02020603050405020304" pitchFamily="18" charset="0"/>
            </a:endParaRPr>
          </a:p>
        </p:txBody>
      </p:sp>
      <p:sp>
        <p:nvSpPr>
          <p:cNvPr id="117" name="ZoneTexte 116">
            <a:extLst>
              <a:ext uri="{FF2B5EF4-FFF2-40B4-BE49-F238E27FC236}">
                <a16:creationId xmlns:a16="http://schemas.microsoft.com/office/drawing/2014/main" id="{205AE1D4-C61E-2F9E-047C-8F3C61CB0023}"/>
              </a:ext>
            </a:extLst>
          </p:cNvPr>
          <p:cNvSpPr txBox="1"/>
          <p:nvPr/>
        </p:nvSpPr>
        <p:spPr>
          <a:xfrm>
            <a:off x="1178232" y="2938427"/>
            <a:ext cx="4995739" cy="461665"/>
          </a:xfrm>
          <a:prstGeom prst="rect">
            <a:avLst/>
          </a:prstGeom>
          <a:noFill/>
        </p:spPr>
        <p:txBody>
          <a:bodyPr wrap="square" rtlCol="0">
            <a:spAutoFit/>
          </a:bodyPr>
          <a:lstStyle/>
          <a:p>
            <a:r>
              <a:rPr lang="fr-FR" sz="2400" b="1" dirty="0">
                <a:solidFill>
                  <a:srgbClr val="002060"/>
                </a:solidFill>
                <a:latin typeface="+mn-lt" panose="02020603050405020304" pitchFamily="18" charset="0"/>
                <a:cs typeface="+mn-cs" panose="02020603050405020304" pitchFamily="18" charset="0"/>
              </a:rPr>
              <a:t>Les Arbres de Décision</a:t>
            </a:r>
            <a:endParaRPr lang="fr-CI" sz="2400" b="1" dirty="0">
              <a:solidFill>
                <a:srgbClr val="002060"/>
              </a:solidFill>
              <a:latin typeface="+mn-lt" panose="02020603050405020304" pitchFamily="18" charset="0"/>
              <a:cs typeface="+mn-cs" panose="02020603050405020304" pitchFamily="18" charset="0"/>
            </a:endParaRPr>
          </a:p>
        </p:txBody>
      </p:sp>
      <p:sp>
        <p:nvSpPr>
          <p:cNvPr id="2" name="ZoneTexte 1">
            <a:extLst>
              <a:ext uri="{FF2B5EF4-FFF2-40B4-BE49-F238E27FC236}">
                <a16:creationId xmlns:a16="http://schemas.microsoft.com/office/drawing/2014/main" id="{A2640B8D-7DDA-BD8E-7677-38AD0584F352}"/>
              </a:ext>
            </a:extLst>
          </p:cNvPr>
          <p:cNvSpPr txBox="1"/>
          <p:nvPr/>
        </p:nvSpPr>
        <p:spPr>
          <a:xfrm>
            <a:off x="499852" y="2972955"/>
            <a:ext cx="678380" cy="369332"/>
          </a:xfrm>
          <a:prstGeom prst="rect">
            <a:avLst/>
          </a:prstGeom>
          <a:noFill/>
        </p:spPr>
        <p:txBody>
          <a:bodyPr wrap="square" rtlCol="0">
            <a:spAutoFit/>
          </a:bodyPr>
          <a:lstStyle/>
          <a:p>
            <a:r>
              <a:rPr lang="fr-CI">
                <a:solidFill>
                  <a:schemeClr val="bg1"/>
                </a:solidFill>
                <a:latin typeface="+mn-lt" panose="02020603050405020304" pitchFamily="18" charset="0"/>
                <a:cs typeface="+mn-cs" panose="02020603050405020304" pitchFamily="18" charset="0"/>
              </a:rPr>
              <a:t>02</a:t>
            </a:r>
          </a:p>
        </p:txBody>
      </p:sp>
      <p:sp>
        <p:nvSpPr>
          <p:cNvPr id="8" name="Forme libre : forme 7">
            <a:extLst>
              <a:ext uri="{FF2B5EF4-FFF2-40B4-BE49-F238E27FC236}">
                <a16:creationId xmlns:a16="http://schemas.microsoft.com/office/drawing/2014/main" id="{0FFF7A0F-F5EE-67AB-DCEB-521747C54625}"/>
              </a:ext>
            </a:extLst>
          </p:cNvPr>
          <p:cNvSpPr/>
          <p:nvPr/>
        </p:nvSpPr>
        <p:spPr>
          <a:xfrm rot="10237838">
            <a:off x="-3153595" y="-20564899"/>
            <a:ext cx="5764448" cy="28628424"/>
          </a:xfrm>
          <a:custGeom>
            <a:avLst/>
            <a:gdLst>
              <a:gd name="connsiteX0" fmla="*/ 1069895 w 5764448"/>
              <a:gd name="connsiteY0" fmla="*/ 28628424 h 28628424"/>
              <a:gd name="connsiteX1" fmla="*/ 0 w 5764448"/>
              <a:gd name="connsiteY1" fmla="*/ 28451891 h 28628424"/>
              <a:gd name="connsiteX2" fmla="*/ 3757094 w 5764448"/>
              <a:gd name="connsiteY2" fmla="*/ 5681579 h 28628424"/>
              <a:gd name="connsiteX3" fmla="*/ 3793169 w 5764448"/>
              <a:gd name="connsiteY3" fmla="*/ 5582071 h 28628424"/>
              <a:gd name="connsiteX4" fmla="*/ 4010502 w 5764448"/>
              <a:gd name="connsiteY4" fmla="*/ 5232789 h 28628424"/>
              <a:gd name="connsiteX5" fmla="*/ 4131549 w 5764448"/>
              <a:gd name="connsiteY5" fmla="*/ 4980193 h 28628424"/>
              <a:gd name="connsiteX6" fmla="*/ 4133741 w 5764448"/>
              <a:gd name="connsiteY6" fmla="*/ 4960834 h 28628424"/>
              <a:gd name="connsiteX7" fmla="*/ 4136802 w 5764448"/>
              <a:gd name="connsiteY7" fmla="*/ 4948356 h 28628424"/>
              <a:gd name="connsiteX8" fmla="*/ 4110733 w 5764448"/>
              <a:gd name="connsiteY8" fmla="*/ 4668841 h 28628424"/>
              <a:gd name="connsiteX9" fmla="*/ 4027893 w 5764448"/>
              <a:gd name="connsiteY9" fmla="*/ 4264630 h 28628424"/>
              <a:gd name="connsiteX10" fmla="*/ 4028265 w 5764448"/>
              <a:gd name="connsiteY10" fmla="*/ 4199536 h 28628424"/>
              <a:gd name="connsiteX11" fmla="*/ 4018495 w 5764448"/>
              <a:gd name="connsiteY11" fmla="*/ 4155166 h 28628424"/>
              <a:gd name="connsiteX12" fmla="*/ 4026376 w 5764448"/>
              <a:gd name="connsiteY12" fmla="*/ 4119379 h 28628424"/>
              <a:gd name="connsiteX13" fmla="*/ 4027298 w 5764448"/>
              <a:gd name="connsiteY13" fmla="*/ 4125094 h 28628424"/>
              <a:gd name="connsiteX14" fmla="*/ 4028735 w 5764448"/>
              <a:gd name="connsiteY14" fmla="*/ 4117492 h 28628424"/>
              <a:gd name="connsiteX15" fmla="*/ 4028834 w 5764448"/>
              <a:gd name="connsiteY15" fmla="*/ 4100262 h 28628424"/>
              <a:gd name="connsiteX16" fmla="*/ 4008971 w 5764448"/>
              <a:gd name="connsiteY16" fmla="*/ 4155052 h 28628424"/>
              <a:gd name="connsiteX17" fmla="*/ 4694553 w 5764448"/>
              <a:gd name="connsiteY17" fmla="*/ 0 h 28628424"/>
              <a:gd name="connsiteX18" fmla="*/ 5764448 w 5764448"/>
              <a:gd name="connsiteY18" fmla="*/ 176533 h 28628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764448" h="28628424">
                <a:moveTo>
                  <a:pt x="1069895" y="28628424"/>
                </a:moveTo>
                <a:lnTo>
                  <a:pt x="0" y="28451891"/>
                </a:lnTo>
                <a:lnTo>
                  <a:pt x="3757094" y="5681579"/>
                </a:lnTo>
                <a:lnTo>
                  <a:pt x="3793169" y="5582071"/>
                </a:lnTo>
                <a:cubicBezTo>
                  <a:pt x="3853235" y="5437236"/>
                  <a:pt x="3925679" y="5320808"/>
                  <a:pt x="4010502" y="5232789"/>
                </a:cubicBezTo>
                <a:cubicBezTo>
                  <a:pt x="4072655" y="5168293"/>
                  <a:pt x="4114362" y="5076486"/>
                  <a:pt x="4131549" y="4980193"/>
                </a:cubicBezTo>
                <a:lnTo>
                  <a:pt x="4133741" y="4960834"/>
                </a:lnTo>
                <a:lnTo>
                  <a:pt x="4136802" y="4948356"/>
                </a:lnTo>
                <a:cubicBezTo>
                  <a:pt x="4153989" y="4852063"/>
                  <a:pt x="4146657" y="4751283"/>
                  <a:pt x="4110733" y="4668841"/>
                </a:cubicBezTo>
                <a:cubicBezTo>
                  <a:pt x="4061704" y="4556326"/>
                  <a:pt x="4034090" y="4421590"/>
                  <a:pt x="4027893" y="4264630"/>
                </a:cubicBezTo>
                <a:lnTo>
                  <a:pt x="4028265" y="4199536"/>
                </a:lnTo>
                <a:lnTo>
                  <a:pt x="4018495" y="4155166"/>
                </a:lnTo>
                <a:lnTo>
                  <a:pt x="4026376" y="4119379"/>
                </a:lnTo>
                <a:lnTo>
                  <a:pt x="4027298" y="4125094"/>
                </a:lnTo>
                <a:lnTo>
                  <a:pt x="4028735" y="4117492"/>
                </a:lnTo>
                <a:lnTo>
                  <a:pt x="4028834" y="4100262"/>
                </a:lnTo>
                <a:lnTo>
                  <a:pt x="4008971" y="4155052"/>
                </a:lnTo>
                <a:lnTo>
                  <a:pt x="4694553" y="0"/>
                </a:lnTo>
                <a:lnTo>
                  <a:pt x="5764448" y="176533"/>
                </a:lnTo>
                <a:close/>
              </a:path>
            </a:pathLst>
          </a:cu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CI"/>
          </a:p>
        </p:txBody>
      </p:sp>
      <p:grpSp>
        <p:nvGrpSpPr>
          <p:cNvPr id="3" name="Groupe 2">
            <a:extLst>
              <a:ext uri="{FF2B5EF4-FFF2-40B4-BE49-F238E27FC236}">
                <a16:creationId xmlns:a16="http://schemas.microsoft.com/office/drawing/2014/main" id="{A46AE4B7-A758-45F5-8343-5C1AEAA61333}"/>
              </a:ext>
            </a:extLst>
          </p:cNvPr>
          <p:cNvGrpSpPr/>
          <p:nvPr/>
        </p:nvGrpSpPr>
        <p:grpSpPr>
          <a:xfrm>
            <a:off x="11081151" y="124008"/>
            <a:ext cx="1002497" cy="997548"/>
            <a:chOff x="11081151" y="124008"/>
            <a:chExt cx="1002497" cy="997548"/>
          </a:xfrm>
        </p:grpSpPr>
        <p:grpSp>
          <p:nvGrpSpPr>
            <p:cNvPr id="9" name="Groupe 8">
              <a:extLst>
                <a:ext uri="{FF2B5EF4-FFF2-40B4-BE49-F238E27FC236}">
                  <a16:creationId xmlns:a16="http://schemas.microsoft.com/office/drawing/2014/main" id="{948B7372-398D-0EF8-4986-ABBBDB7822BD}"/>
                </a:ext>
              </a:extLst>
            </p:cNvPr>
            <p:cNvGrpSpPr/>
            <p:nvPr/>
          </p:nvGrpSpPr>
          <p:grpSpPr>
            <a:xfrm>
              <a:off x="11081151" y="124008"/>
              <a:ext cx="1002497" cy="997548"/>
              <a:chOff x="6263169" y="2855357"/>
              <a:chExt cx="600075" cy="612815"/>
            </a:xfrm>
          </p:grpSpPr>
          <p:sp>
            <p:nvSpPr>
              <p:cNvPr id="16" name="Organigramme : Connecteur 15">
                <a:extLst>
                  <a:ext uri="{FF2B5EF4-FFF2-40B4-BE49-F238E27FC236}">
                    <a16:creationId xmlns:a16="http://schemas.microsoft.com/office/drawing/2014/main" id="{FE364C92-4B7E-5123-E9D7-1638BA3CA62D}"/>
                  </a:ext>
                </a:extLst>
              </p:cNvPr>
              <p:cNvSpPr/>
              <p:nvPr/>
            </p:nvSpPr>
            <p:spPr>
              <a:xfrm>
                <a:off x="6263169" y="2855357"/>
                <a:ext cx="600075" cy="612815"/>
              </a:xfrm>
              <a:prstGeom prst="flowChartConnector">
                <a:avLst/>
              </a:prstGeom>
              <a:solidFill>
                <a:schemeClr val="bg1"/>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I"/>
              </a:p>
            </p:txBody>
          </p:sp>
          <p:sp>
            <p:nvSpPr>
              <p:cNvPr id="17" name="Organigramme : Connecteur 16">
                <a:extLst>
                  <a:ext uri="{FF2B5EF4-FFF2-40B4-BE49-F238E27FC236}">
                    <a16:creationId xmlns:a16="http://schemas.microsoft.com/office/drawing/2014/main" id="{580A89D0-56A1-5024-E2AC-DFA394D401B2}"/>
                  </a:ext>
                </a:extLst>
              </p:cNvPr>
              <p:cNvSpPr/>
              <p:nvPr/>
            </p:nvSpPr>
            <p:spPr>
              <a:xfrm>
                <a:off x="6370324" y="2964924"/>
                <a:ext cx="385763" cy="393680"/>
              </a:xfrm>
              <a:prstGeom prst="flowChartConnector">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I" dirty="0"/>
              </a:p>
            </p:txBody>
          </p:sp>
        </p:grpSp>
        <p:pic>
          <p:nvPicPr>
            <p:cNvPr id="15" name="Graphic 1031">
              <a:extLst>
                <a:ext uri="{FF2B5EF4-FFF2-40B4-BE49-F238E27FC236}">
                  <a16:creationId xmlns:a16="http://schemas.microsoft.com/office/drawing/2014/main" id="{AE007F5C-63E4-2E2F-B665-BC0327F42F32}"/>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11353797" y="394182"/>
              <a:ext cx="457200" cy="457200"/>
            </a:xfrm>
            <a:prstGeom prst="rect">
              <a:avLst/>
            </a:prstGeom>
          </p:spPr>
        </p:pic>
      </p:grpSp>
      <p:sp>
        <p:nvSpPr>
          <p:cNvPr id="18" name="ZoneTexte 17">
            <a:extLst>
              <a:ext uri="{FF2B5EF4-FFF2-40B4-BE49-F238E27FC236}">
                <a16:creationId xmlns:a16="http://schemas.microsoft.com/office/drawing/2014/main" id="{64411A56-FF26-6AB4-C54D-BAB66EDBF0FC}"/>
              </a:ext>
            </a:extLst>
          </p:cNvPr>
          <p:cNvSpPr txBox="1"/>
          <p:nvPr/>
        </p:nvSpPr>
        <p:spPr>
          <a:xfrm>
            <a:off x="80035" y="40933"/>
            <a:ext cx="5767553" cy="369332"/>
          </a:xfrm>
          <a:prstGeom prst="rect">
            <a:avLst/>
          </a:prstGeom>
          <a:noFill/>
          <a:effectLst>
            <a:reflection stA="63000" endPos="11000" dist="50800" dir="5400000" sy="-100000" algn="bl" rotWithShape="0"/>
          </a:effectLst>
        </p:spPr>
        <p:txBody>
          <a:bodyPr wrap="square" rtlCol="0">
            <a:spAutoFit/>
          </a:bodyPr>
          <a:lstStyle/>
          <a:p>
            <a:r>
              <a:rPr lang="fr-CI" b="1" dirty="0">
                <a:solidFill>
                  <a:schemeClr val="bg1"/>
                </a:solidFill>
                <a:latin typeface="+mn-lt" panose="020E0705020206020404" pitchFamily="34" charset="0"/>
              </a:rPr>
              <a:t>P</a:t>
            </a:r>
            <a:r>
              <a:rPr lang="fr-CI" b="1" dirty="0">
                <a:solidFill>
                  <a:schemeClr val="accent1">
                    <a:lumMod val="50000"/>
                  </a:schemeClr>
                </a:solidFill>
                <a:latin typeface="+mn-lt" panose="020E0705020206020404" pitchFamily="34" charset="0"/>
              </a:rPr>
              <a:t>artie 4 : Modélisation &amp; Résultats</a:t>
            </a:r>
          </a:p>
        </p:txBody>
      </p:sp>
      <p:sp>
        <p:nvSpPr>
          <p:cNvPr id="20" name="Title 1">
            <a:extLst>
              <a:ext uri="{FF2B5EF4-FFF2-40B4-BE49-F238E27FC236}">
                <a16:creationId xmlns:a16="http://schemas.microsoft.com/office/drawing/2014/main" id="{0076AE3A-DB9B-E606-29C6-DD613DEE55B6}"/>
              </a:ext>
            </a:extLst>
          </p:cNvPr>
          <p:cNvSpPr txBox="1">
            <a:spLocks/>
          </p:cNvSpPr>
          <p:nvPr/>
        </p:nvSpPr>
        <p:spPr>
          <a:xfrm>
            <a:off x="2428694" y="669304"/>
            <a:ext cx="8000324" cy="729114"/>
          </a:xfrm>
          <a:prstGeom prst="rect">
            <a:avLst/>
          </a:prstGeom>
          <a:ln w="19050">
            <a:noFill/>
          </a:ln>
          <a:effectLst>
            <a:reflection blurRad="6350" stA="52000" endA="300" endPos="35000" dir="5400000" sy="-100000" algn="bl" rotWithShape="0"/>
          </a:effectLst>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n-lt"/>
                <a:ea typeface="+mj-ea"/>
                <a:cs typeface="+mj-cs"/>
              </a:defRPr>
            </a:lvl1pPr>
          </a:lstStyle>
          <a:p>
            <a:r>
              <a:rPr lang="fr-FR" sz="4000" b="1" dirty="0">
                <a:solidFill>
                  <a:srgbClr val="002060"/>
                </a:solidFill>
                <a:latin typeface="+mn-lt" panose="02020603050405020304" pitchFamily="18" charset="0"/>
                <a:cs typeface="+mn-cs" panose="02020603050405020304" pitchFamily="18" charset="0"/>
              </a:rPr>
              <a:t>Apprentissage supervisé </a:t>
            </a:r>
          </a:p>
        </p:txBody>
      </p:sp>
      <p:sp>
        <p:nvSpPr>
          <p:cNvPr id="210" name="Étapes arbre"/>
          <p:cNvSpPr txBox="1"/>
          <p:nvPr/>
        </p:nvSpPr>
        <p:spPr>
          <a:xfrm>
            <a:off x="508000" y="3810000"/>
            <a:ext cx="4699000" cy="2730500"/>
          </a:xfrm>
          <a:prstGeom prst="rect">
            <a:avLst/>
          </a:prstGeom>
          <a:noFill/>
        </p:spPr>
        <p:txBody>
          <a:bodyPr wrap="square" lIns="0" rIns="0">
            <a:normAutofit/>
          </a:bodyPr>
          <a:lstStyle/>
          <a:p>
            <a:pPr marL="285750" indent="-285750">
              <a:spcAft>
                <a:spcPts val="600"/>
              </a:spcAft>
              <a:buClr>
                <a:srgbClr val="0B66AE"/>
              </a:buClr>
              <a:buFont typeface="+mj-lt"/>
              <a:buAutoNum type="arabicPeriod"/>
            </a:pPr>
            <a:r>
              <a:rPr lang="fr-FR" sz="1400" dirty="0">
                <a:solidFill>
                  <a:srgbClr val="002060"/>
                </a:solidFill>
              </a:rPr>
              <a:t>Commencer avec toutes les observations.</a:t>
            </a:r>
          </a:p>
          <a:p>
            <a:pPr marL="285750" indent="-285750">
              <a:spcAft>
                <a:spcPts val="600"/>
              </a:spcAft>
              <a:buClr>
                <a:srgbClr val="0B66AE"/>
              </a:buClr>
              <a:buFont typeface="+mj-lt"/>
              <a:buAutoNum type="arabicPeriod"/>
            </a:pPr>
            <a:r>
              <a:rPr lang="fr-FR" sz="1400" dirty="0">
                <a:solidFill>
                  <a:srgbClr val="002060"/>
                </a:solidFill>
              </a:rPr>
              <a:t>Choisir la variable qui sépare le mieux les données.</a:t>
            </a:r>
          </a:p>
          <a:p>
            <a:pPr marL="285750" indent="-285750">
              <a:spcAft>
                <a:spcPts val="600"/>
              </a:spcAft>
              <a:buClr>
                <a:srgbClr val="0B66AE"/>
              </a:buClr>
              <a:buFont typeface="+mj-lt"/>
              <a:buAutoNum type="arabicPeriod"/>
            </a:pPr>
            <a:r>
              <a:rPr lang="fr-FR" sz="1400" dirty="0">
                <a:solidFill>
                  <a:srgbClr val="002060"/>
                </a:solidFill>
              </a:rPr>
              <a:t>Diviser les données en sous-groupes.</a:t>
            </a:r>
          </a:p>
          <a:p>
            <a:pPr marL="285750" indent="-285750">
              <a:spcAft>
                <a:spcPts val="600"/>
              </a:spcAft>
              <a:buClr>
                <a:srgbClr val="0B66AE"/>
              </a:buClr>
              <a:buFont typeface="+mj-lt"/>
              <a:buAutoNum type="arabicPeriod"/>
            </a:pPr>
            <a:r>
              <a:rPr lang="fr-FR" sz="1400" dirty="0">
                <a:solidFill>
                  <a:srgbClr val="002060"/>
                </a:solidFill>
              </a:rPr>
              <a:t>Répéter le processus jusqu'à satisfaire un critère d'arrêt :</a:t>
            </a:r>
          </a:p>
          <a:p>
            <a:pPr marL="628650" indent="-285750">
              <a:spcAft>
                <a:spcPts val="300"/>
              </a:spcAft>
              <a:buClr>
                <a:srgbClr val="0B66AE"/>
              </a:buClr>
              <a:buFont typeface="Wingdings" panose="05000000000000000000" pitchFamily="2" charset="2"/>
              <a:buChar char="§"/>
            </a:pPr>
            <a:r>
              <a:rPr lang="fr-FR" sz="1400" dirty="0">
                <a:solidFill>
                  <a:srgbClr val="002060"/>
                </a:solidFill>
              </a:rPr>
              <a:t>profondeur maximale,</a:t>
            </a:r>
          </a:p>
          <a:p>
            <a:pPr marL="628650" indent="-285750">
              <a:spcAft>
                <a:spcPts val="300"/>
              </a:spcAft>
              <a:buClr>
                <a:srgbClr val="0B66AE"/>
              </a:buClr>
              <a:buFont typeface="Wingdings" panose="05000000000000000000" pitchFamily="2" charset="2"/>
              <a:buChar char="§"/>
            </a:pPr>
            <a:r>
              <a:rPr lang="fr-FR" sz="1400" dirty="0">
                <a:solidFill>
                  <a:srgbClr val="002060"/>
                </a:solidFill>
              </a:rPr>
              <a:t>nombre minimum d'observations,</a:t>
            </a:r>
          </a:p>
          <a:p>
            <a:pPr marL="628650" indent="-285750">
              <a:spcAft>
                <a:spcPts val="300"/>
              </a:spcAft>
              <a:buClr>
                <a:srgbClr val="0B66AE"/>
              </a:buClr>
              <a:buFont typeface="Wingdings" panose="05000000000000000000" pitchFamily="2" charset="2"/>
              <a:buChar char="§"/>
            </a:pPr>
            <a:r>
              <a:rPr lang="fr-FR" sz="1400" dirty="0">
                <a:solidFill>
                  <a:srgbClr val="002060"/>
                </a:solidFill>
              </a:rPr>
              <a:t>pureté des feuilles.</a:t>
            </a:r>
          </a:p>
        </p:txBody>
      </p:sp>
    </p:spTree>
    <p:extLst>
      <p:ext uri="{BB962C8B-B14F-4D97-AF65-F5344CB8AC3E}">
        <p14:creationId xmlns:p14="http://schemas.microsoft.com/office/powerpoint/2010/main" val="11903217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E4111-7B71-B9C0-204E-E7DE78449DA4}"/>
            </a:ext>
          </a:extLst>
        </p:cNvPr>
        <p:cNvGrpSpPr/>
        <p:nvPr/>
      </p:nvGrpSpPr>
      <p:grpSpPr>
        <a:xfrm>
          <a:off x="0" y="0"/>
          <a:ext cx="0" cy="0"/>
          <a:chOff x="0" y="0"/>
          <a:chExt cx="0" cy="0"/>
        </a:xfrm>
      </p:grpSpPr>
      <p:sp>
        <p:nvSpPr>
          <p:cNvPr id="116" name="Ellipse 115">
            <a:extLst>
              <a:ext uri="{FF2B5EF4-FFF2-40B4-BE49-F238E27FC236}">
                <a16:creationId xmlns:a16="http://schemas.microsoft.com/office/drawing/2014/main" id="{B5C4359D-FCD3-63F8-FE64-D21608117A87}"/>
              </a:ext>
            </a:extLst>
          </p:cNvPr>
          <p:cNvSpPr/>
          <p:nvPr/>
        </p:nvSpPr>
        <p:spPr>
          <a:xfrm>
            <a:off x="177800" y="4319736"/>
            <a:ext cx="914400" cy="9144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I">
              <a:latin typeface="+mn-lt" panose="02020603050405020304" pitchFamily="18" charset="0"/>
              <a:cs typeface="+mn-cs" panose="02020603050405020304" pitchFamily="18" charset="0"/>
            </a:endParaRPr>
          </a:p>
        </p:txBody>
      </p:sp>
      <p:sp>
        <p:nvSpPr>
          <p:cNvPr id="117" name="ZoneTexte 116">
            <a:extLst>
              <a:ext uri="{FF2B5EF4-FFF2-40B4-BE49-F238E27FC236}">
                <a16:creationId xmlns:a16="http://schemas.microsoft.com/office/drawing/2014/main" id="{9AD53F8B-0C2A-4CA0-1ADE-17A7BEC5B34C}"/>
              </a:ext>
            </a:extLst>
          </p:cNvPr>
          <p:cNvSpPr txBox="1"/>
          <p:nvPr/>
        </p:nvSpPr>
        <p:spPr>
          <a:xfrm>
            <a:off x="1155700" y="4522936"/>
            <a:ext cx="3404651" cy="461665"/>
          </a:xfrm>
          <a:prstGeom prst="rect">
            <a:avLst/>
          </a:prstGeom>
          <a:noFill/>
        </p:spPr>
        <p:txBody>
          <a:bodyPr wrap="square" rtlCol="0">
            <a:spAutoFit/>
          </a:bodyPr>
          <a:lstStyle/>
          <a:p>
            <a:r>
              <a:rPr lang="fr-FR" sz="2400" b="1" dirty="0">
                <a:solidFill>
                  <a:srgbClr val="002060"/>
                </a:solidFill>
                <a:latin typeface="+mn-lt" panose="02020603050405020304" pitchFamily="18" charset="0"/>
                <a:cs typeface="+mn-cs" panose="02020603050405020304" pitchFamily="18" charset="0"/>
              </a:rPr>
              <a:t>Les Forêts Aléatoires</a:t>
            </a:r>
            <a:endParaRPr lang="fr-CI" sz="2400" b="1" dirty="0">
              <a:solidFill>
                <a:srgbClr val="002060"/>
              </a:solidFill>
              <a:latin typeface="+mn-lt" panose="02020603050405020304" pitchFamily="18" charset="0"/>
              <a:cs typeface="+mn-cs" panose="02020603050405020304" pitchFamily="18" charset="0"/>
            </a:endParaRPr>
          </a:p>
        </p:txBody>
      </p:sp>
      <p:sp>
        <p:nvSpPr>
          <p:cNvPr id="2" name="ZoneTexte 1">
            <a:extLst>
              <a:ext uri="{FF2B5EF4-FFF2-40B4-BE49-F238E27FC236}">
                <a16:creationId xmlns:a16="http://schemas.microsoft.com/office/drawing/2014/main" id="{7CBBBCA9-88AD-5108-B2F8-6FB2EFAE8799}"/>
              </a:ext>
            </a:extLst>
          </p:cNvPr>
          <p:cNvSpPr txBox="1"/>
          <p:nvPr/>
        </p:nvSpPr>
        <p:spPr>
          <a:xfrm>
            <a:off x="431800" y="4586436"/>
            <a:ext cx="678380" cy="369332"/>
          </a:xfrm>
          <a:prstGeom prst="rect">
            <a:avLst/>
          </a:prstGeom>
          <a:noFill/>
        </p:spPr>
        <p:txBody>
          <a:bodyPr wrap="square" rtlCol="0">
            <a:spAutoFit/>
          </a:bodyPr>
          <a:lstStyle/>
          <a:p>
            <a:r>
              <a:rPr lang="fr-CI" dirty="0">
                <a:solidFill>
                  <a:schemeClr val="bg1"/>
                </a:solidFill>
                <a:latin typeface="+mn-lt" panose="02020603050405020304" pitchFamily="18" charset="0"/>
                <a:cs typeface="+mn-cs" panose="02020603050405020304" pitchFamily="18" charset="0"/>
              </a:rPr>
              <a:t>03</a:t>
            </a:r>
          </a:p>
        </p:txBody>
      </p:sp>
      <p:sp>
        <p:nvSpPr>
          <p:cNvPr id="7" name="Forme libre : forme 6">
            <a:extLst>
              <a:ext uri="{FF2B5EF4-FFF2-40B4-BE49-F238E27FC236}">
                <a16:creationId xmlns:a16="http://schemas.microsoft.com/office/drawing/2014/main" id="{8C7F5105-4AFB-A045-BEF7-A42D089A9555}"/>
              </a:ext>
            </a:extLst>
          </p:cNvPr>
          <p:cNvSpPr/>
          <p:nvPr/>
        </p:nvSpPr>
        <p:spPr>
          <a:xfrm rot="10237838">
            <a:off x="-3146621" y="-18964699"/>
            <a:ext cx="5764448" cy="28628424"/>
          </a:xfrm>
          <a:custGeom>
            <a:avLst/>
            <a:gdLst>
              <a:gd name="connsiteX0" fmla="*/ 1069895 w 5764448"/>
              <a:gd name="connsiteY0" fmla="*/ 28628424 h 28628424"/>
              <a:gd name="connsiteX1" fmla="*/ 0 w 5764448"/>
              <a:gd name="connsiteY1" fmla="*/ 28451891 h 28628424"/>
              <a:gd name="connsiteX2" fmla="*/ 3757094 w 5764448"/>
              <a:gd name="connsiteY2" fmla="*/ 5681579 h 28628424"/>
              <a:gd name="connsiteX3" fmla="*/ 3793169 w 5764448"/>
              <a:gd name="connsiteY3" fmla="*/ 5582071 h 28628424"/>
              <a:gd name="connsiteX4" fmla="*/ 4010502 w 5764448"/>
              <a:gd name="connsiteY4" fmla="*/ 5232789 h 28628424"/>
              <a:gd name="connsiteX5" fmla="*/ 4131549 w 5764448"/>
              <a:gd name="connsiteY5" fmla="*/ 4980193 h 28628424"/>
              <a:gd name="connsiteX6" fmla="*/ 4133741 w 5764448"/>
              <a:gd name="connsiteY6" fmla="*/ 4960834 h 28628424"/>
              <a:gd name="connsiteX7" fmla="*/ 4136802 w 5764448"/>
              <a:gd name="connsiteY7" fmla="*/ 4948356 h 28628424"/>
              <a:gd name="connsiteX8" fmla="*/ 4110733 w 5764448"/>
              <a:gd name="connsiteY8" fmla="*/ 4668841 h 28628424"/>
              <a:gd name="connsiteX9" fmla="*/ 4027893 w 5764448"/>
              <a:gd name="connsiteY9" fmla="*/ 4264630 h 28628424"/>
              <a:gd name="connsiteX10" fmla="*/ 4028265 w 5764448"/>
              <a:gd name="connsiteY10" fmla="*/ 4199536 h 28628424"/>
              <a:gd name="connsiteX11" fmla="*/ 4018495 w 5764448"/>
              <a:gd name="connsiteY11" fmla="*/ 4155166 h 28628424"/>
              <a:gd name="connsiteX12" fmla="*/ 4026376 w 5764448"/>
              <a:gd name="connsiteY12" fmla="*/ 4119379 h 28628424"/>
              <a:gd name="connsiteX13" fmla="*/ 4027298 w 5764448"/>
              <a:gd name="connsiteY13" fmla="*/ 4125094 h 28628424"/>
              <a:gd name="connsiteX14" fmla="*/ 4028735 w 5764448"/>
              <a:gd name="connsiteY14" fmla="*/ 4117492 h 28628424"/>
              <a:gd name="connsiteX15" fmla="*/ 4028834 w 5764448"/>
              <a:gd name="connsiteY15" fmla="*/ 4100262 h 28628424"/>
              <a:gd name="connsiteX16" fmla="*/ 4008971 w 5764448"/>
              <a:gd name="connsiteY16" fmla="*/ 4155052 h 28628424"/>
              <a:gd name="connsiteX17" fmla="*/ 4694553 w 5764448"/>
              <a:gd name="connsiteY17" fmla="*/ 0 h 28628424"/>
              <a:gd name="connsiteX18" fmla="*/ 5764448 w 5764448"/>
              <a:gd name="connsiteY18" fmla="*/ 176533 h 28628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764448" h="28628424">
                <a:moveTo>
                  <a:pt x="1069895" y="28628424"/>
                </a:moveTo>
                <a:lnTo>
                  <a:pt x="0" y="28451891"/>
                </a:lnTo>
                <a:lnTo>
                  <a:pt x="3757094" y="5681579"/>
                </a:lnTo>
                <a:lnTo>
                  <a:pt x="3793169" y="5582071"/>
                </a:lnTo>
                <a:cubicBezTo>
                  <a:pt x="3853235" y="5437236"/>
                  <a:pt x="3925679" y="5320808"/>
                  <a:pt x="4010502" y="5232789"/>
                </a:cubicBezTo>
                <a:cubicBezTo>
                  <a:pt x="4072655" y="5168293"/>
                  <a:pt x="4114362" y="5076486"/>
                  <a:pt x="4131549" y="4980193"/>
                </a:cubicBezTo>
                <a:lnTo>
                  <a:pt x="4133741" y="4960834"/>
                </a:lnTo>
                <a:lnTo>
                  <a:pt x="4136802" y="4948356"/>
                </a:lnTo>
                <a:cubicBezTo>
                  <a:pt x="4153989" y="4852063"/>
                  <a:pt x="4146657" y="4751283"/>
                  <a:pt x="4110733" y="4668841"/>
                </a:cubicBezTo>
                <a:cubicBezTo>
                  <a:pt x="4061704" y="4556326"/>
                  <a:pt x="4034090" y="4421590"/>
                  <a:pt x="4027893" y="4264630"/>
                </a:cubicBezTo>
                <a:lnTo>
                  <a:pt x="4028265" y="4199536"/>
                </a:lnTo>
                <a:lnTo>
                  <a:pt x="4018495" y="4155166"/>
                </a:lnTo>
                <a:lnTo>
                  <a:pt x="4026376" y="4119379"/>
                </a:lnTo>
                <a:lnTo>
                  <a:pt x="4027298" y="4125094"/>
                </a:lnTo>
                <a:lnTo>
                  <a:pt x="4028735" y="4117492"/>
                </a:lnTo>
                <a:lnTo>
                  <a:pt x="4028834" y="4100262"/>
                </a:lnTo>
                <a:lnTo>
                  <a:pt x="4008971" y="4155052"/>
                </a:lnTo>
                <a:lnTo>
                  <a:pt x="4694553" y="0"/>
                </a:lnTo>
                <a:lnTo>
                  <a:pt x="5764448" y="176533"/>
                </a:lnTo>
                <a:close/>
              </a:path>
            </a:pathLst>
          </a:cu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CI"/>
          </a:p>
        </p:txBody>
      </p:sp>
      <p:pic>
        <p:nvPicPr>
          <p:cNvPr id="3" name="Image 2">
            <a:extLst>
              <a:ext uri="{FF2B5EF4-FFF2-40B4-BE49-F238E27FC236}">
                <a16:creationId xmlns:a16="http://schemas.microsoft.com/office/drawing/2014/main" id="{654DDBE5-6ED5-F612-8EA5-8D6E74052C14}"/>
              </a:ext>
            </a:extLst>
          </p:cNvPr>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r="8607"/>
          <a:stretch>
            <a:fillRect/>
          </a:stretch>
        </p:blipFill>
        <p:spPr bwMode="auto">
          <a:xfrm>
            <a:off x="4973208" y="1905000"/>
            <a:ext cx="6710792" cy="3848100"/>
          </a:xfrm>
          <a:prstGeom prst="rect">
            <a:avLst/>
          </a:prstGeom>
          <a:noFill/>
        </p:spPr>
      </p:pic>
      <p:grpSp>
        <p:nvGrpSpPr>
          <p:cNvPr id="4" name="Groupe 3">
            <a:extLst>
              <a:ext uri="{FF2B5EF4-FFF2-40B4-BE49-F238E27FC236}">
                <a16:creationId xmlns:a16="http://schemas.microsoft.com/office/drawing/2014/main" id="{4D9AFA07-6EF7-C57F-2F13-E8F05E4C2CDF}"/>
              </a:ext>
            </a:extLst>
          </p:cNvPr>
          <p:cNvGrpSpPr/>
          <p:nvPr/>
        </p:nvGrpSpPr>
        <p:grpSpPr>
          <a:xfrm>
            <a:off x="11081151" y="124008"/>
            <a:ext cx="1002497" cy="997548"/>
            <a:chOff x="11081151" y="124008"/>
            <a:chExt cx="1002497" cy="997548"/>
          </a:xfrm>
        </p:grpSpPr>
        <p:grpSp>
          <p:nvGrpSpPr>
            <p:cNvPr id="14" name="Groupe 13">
              <a:extLst>
                <a:ext uri="{FF2B5EF4-FFF2-40B4-BE49-F238E27FC236}">
                  <a16:creationId xmlns:a16="http://schemas.microsoft.com/office/drawing/2014/main" id="{A980C1EB-643C-1A58-7998-BE85BDE354B2}"/>
                </a:ext>
              </a:extLst>
            </p:cNvPr>
            <p:cNvGrpSpPr/>
            <p:nvPr/>
          </p:nvGrpSpPr>
          <p:grpSpPr>
            <a:xfrm>
              <a:off x="11081151" y="124008"/>
              <a:ext cx="1002497" cy="997548"/>
              <a:chOff x="6263169" y="2855357"/>
              <a:chExt cx="600075" cy="612815"/>
            </a:xfrm>
          </p:grpSpPr>
          <p:sp>
            <p:nvSpPr>
              <p:cNvPr id="16" name="Organigramme : Connecteur 15">
                <a:extLst>
                  <a:ext uri="{FF2B5EF4-FFF2-40B4-BE49-F238E27FC236}">
                    <a16:creationId xmlns:a16="http://schemas.microsoft.com/office/drawing/2014/main" id="{E00545C1-3979-54EC-9588-92765AD393DB}"/>
                  </a:ext>
                </a:extLst>
              </p:cNvPr>
              <p:cNvSpPr/>
              <p:nvPr/>
            </p:nvSpPr>
            <p:spPr>
              <a:xfrm>
                <a:off x="6263169" y="2855357"/>
                <a:ext cx="600075" cy="612815"/>
              </a:xfrm>
              <a:prstGeom prst="flowChartConnector">
                <a:avLst/>
              </a:prstGeom>
              <a:solidFill>
                <a:schemeClr val="bg1"/>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I"/>
              </a:p>
            </p:txBody>
          </p:sp>
          <p:sp>
            <p:nvSpPr>
              <p:cNvPr id="17" name="Organigramme : Connecteur 16">
                <a:extLst>
                  <a:ext uri="{FF2B5EF4-FFF2-40B4-BE49-F238E27FC236}">
                    <a16:creationId xmlns:a16="http://schemas.microsoft.com/office/drawing/2014/main" id="{01E3A475-F8E8-2BFC-78C6-1427F2C602BE}"/>
                  </a:ext>
                </a:extLst>
              </p:cNvPr>
              <p:cNvSpPr/>
              <p:nvPr/>
            </p:nvSpPr>
            <p:spPr>
              <a:xfrm>
                <a:off x="6370324" y="2964924"/>
                <a:ext cx="385763" cy="393680"/>
              </a:xfrm>
              <a:prstGeom prst="flowChartConnector">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I" dirty="0"/>
              </a:p>
            </p:txBody>
          </p:sp>
        </p:grpSp>
        <p:pic>
          <p:nvPicPr>
            <p:cNvPr id="15" name="Graphic 1031">
              <a:extLst>
                <a:ext uri="{FF2B5EF4-FFF2-40B4-BE49-F238E27FC236}">
                  <a16:creationId xmlns:a16="http://schemas.microsoft.com/office/drawing/2014/main" id="{30D837F6-EE2A-A859-12F5-2ADC9B6EE679}"/>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11353797" y="394182"/>
              <a:ext cx="457200" cy="457200"/>
            </a:xfrm>
            <a:prstGeom prst="rect">
              <a:avLst/>
            </a:prstGeom>
          </p:spPr>
        </p:pic>
      </p:grpSp>
      <p:sp>
        <p:nvSpPr>
          <p:cNvPr id="18" name="ZoneTexte 17">
            <a:extLst>
              <a:ext uri="{FF2B5EF4-FFF2-40B4-BE49-F238E27FC236}">
                <a16:creationId xmlns:a16="http://schemas.microsoft.com/office/drawing/2014/main" id="{EC8B92AC-2BE6-889C-48BB-F314FAD669B8}"/>
              </a:ext>
            </a:extLst>
          </p:cNvPr>
          <p:cNvSpPr txBox="1"/>
          <p:nvPr/>
        </p:nvSpPr>
        <p:spPr>
          <a:xfrm>
            <a:off x="80035" y="40933"/>
            <a:ext cx="5767553" cy="369332"/>
          </a:xfrm>
          <a:prstGeom prst="rect">
            <a:avLst/>
          </a:prstGeom>
          <a:noFill/>
          <a:effectLst>
            <a:reflection stA="63000" endPos="11000" dist="50800" dir="5400000" sy="-100000" algn="bl" rotWithShape="0"/>
          </a:effectLst>
        </p:spPr>
        <p:txBody>
          <a:bodyPr wrap="square" rtlCol="0">
            <a:spAutoFit/>
          </a:bodyPr>
          <a:lstStyle/>
          <a:p>
            <a:r>
              <a:rPr lang="fr-CI" b="1" dirty="0">
                <a:solidFill>
                  <a:schemeClr val="bg1"/>
                </a:solidFill>
                <a:latin typeface="+mn-lt" panose="020E0705020206020404" pitchFamily="34" charset="0"/>
              </a:rPr>
              <a:t>P</a:t>
            </a:r>
            <a:r>
              <a:rPr lang="fr-CI" b="1" dirty="0">
                <a:solidFill>
                  <a:schemeClr val="accent1">
                    <a:lumMod val="50000"/>
                  </a:schemeClr>
                </a:solidFill>
                <a:latin typeface="+mn-lt" panose="020E0705020206020404" pitchFamily="34" charset="0"/>
              </a:rPr>
              <a:t>artie 4 : Modélisation &amp; Résultats</a:t>
            </a:r>
          </a:p>
        </p:txBody>
      </p:sp>
      <p:sp>
        <p:nvSpPr>
          <p:cNvPr id="19" name="Title 1">
            <a:extLst>
              <a:ext uri="{FF2B5EF4-FFF2-40B4-BE49-F238E27FC236}">
                <a16:creationId xmlns:a16="http://schemas.microsoft.com/office/drawing/2014/main" id="{6B3B4C58-4A2B-6DEA-5FF9-19881C6027B8}"/>
              </a:ext>
            </a:extLst>
          </p:cNvPr>
          <p:cNvSpPr txBox="1">
            <a:spLocks/>
          </p:cNvSpPr>
          <p:nvPr/>
        </p:nvSpPr>
        <p:spPr>
          <a:xfrm>
            <a:off x="2428694" y="669304"/>
            <a:ext cx="8000324" cy="729114"/>
          </a:xfrm>
          <a:prstGeom prst="rect">
            <a:avLst/>
          </a:prstGeom>
          <a:ln w="19050">
            <a:noFill/>
          </a:ln>
          <a:effectLst>
            <a:reflection blurRad="6350" stA="52000" endA="300" endPos="35000" dir="5400000" sy="-100000" algn="bl" rotWithShape="0"/>
          </a:effectLst>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n-lt"/>
                <a:ea typeface="+mj-ea"/>
                <a:cs typeface="+mj-cs"/>
              </a:defRPr>
            </a:lvl1pPr>
          </a:lstStyle>
          <a:p>
            <a:r>
              <a:rPr lang="fr-FR" sz="4000" b="1" dirty="0">
                <a:solidFill>
                  <a:srgbClr val="002060"/>
                </a:solidFill>
                <a:latin typeface="+mn-lt" panose="02020603050405020304" pitchFamily="18" charset="0"/>
                <a:cs typeface="+mn-cs" panose="02020603050405020304" pitchFamily="18" charset="0"/>
              </a:rPr>
              <a:t>Apprentissage supervisé </a:t>
            </a:r>
          </a:p>
        </p:txBody>
      </p:sp>
      <p:sp>
        <p:nvSpPr>
          <p:cNvPr id="230" name="Hyperparamètres"/>
          <p:cNvSpPr txBox="1"/>
          <p:nvPr/>
        </p:nvSpPr>
        <p:spPr>
          <a:xfrm>
            <a:off x="1327321" y="5042007"/>
            <a:ext cx="4889500" cy="1215860"/>
          </a:xfrm>
          <a:prstGeom prst="rect">
            <a:avLst/>
          </a:prstGeom>
          <a:noFill/>
        </p:spPr>
        <p:txBody>
          <a:bodyPr wrap="square" lIns="0" rIns="0">
            <a:normAutofit/>
          </a:bodyPr>
          <a:lstStyle/>
          <a:p>
            <a:pPr>
              <a:spcAft>
                <a:spcPts val="500"/>
              </a:spcAft>
              <a:buNone/>
            </a:pPr>
            <a:r>
              <a:rPr lang="fr-FR" sz="1600" b="1" dirty="0">
                <a:solidFill>
                  <a:srgbClr val="002060"/>
                </a:solidFill>
              </a:rPr>
              <a:t>Hyperparamètres principaux</a:t>
            </a:r>
          </a:p>
          <a:p>
            <a:pPr marL="228600" indent="-228600">
              <a:spcAft>
                <a:spcPts val="400"/>
              </a:spcAft>
              <a:buFont typeface="Arial"/>
              <a:buChar char="•"/>
            </a:pPr>
            <a:r>
              <a:rPr lang="fr-FR" sz="1400" b="1" dirty="0">
                <a:solidFill>
                  <a:srgbClr val="0B66AE"/>
                </a:solidFill>
              </a:rPr>
              <a:t>n_estimators</a:t>
            </a:r>
            <a:r>
              <a:rPr lang="fr-FR" sz="1400" dirty="0">
                <a:solidFill>
                  <a:srgbClr val="002060"/>
                </a:solidFill>
              </a:rPr>
              <a:t> : nombre d'arbres.</a:t>
            </a:r>
          </a:p>
          <a:p>
            <a:pPr marL="228600" indent="-228600">
              <a:spcAft>
                <a:spcPts val="400"/>
              </a:spcAft>
              <a:buFont typeface="Arial"/>
              <a:buChar char="•"/>
            </a:pPr>
            <a:r>
              <a:rPr lang="fr-FR" sz="1400" b="1" dirty="0">
                <a:solidFill>
                  <a:srgbClr val="0B66AE"/>
                </a:solidFill>
              </a:rPr>
              <a:t>max_depth</a:t>
            </a:r>
            <a:r>
              <a:rPr lang="fr-FR" sz="1400" dirty="0">
                <a:solidFill>
                  <a:srgbClr val="002060"/>
                </a:solidFill>
              </a:rPr>
              <a:t> : profondeur maximale des arbres.</a:t>
            </a:r>
          </a:p>
          <a:p>
            <a:pPr marL="228600" indent="-228600">
              <a:spcAft>
                <a:spcPts val="400"/>
              </a:spcAft>
              <a:buFont typeface="Arial"/>
              <a:buChar char="•"/>
            </a:pPr>
            <a:r>
              <a:rPr lang="fr-FR" sz="1400" b="1" dirty="0">
                <a:solidFill>
                  <a:srgbClr val="0B66AE"/>
                </a:solidFill>
              </a:rPr>
              <a:t>max_features</a:t>
            </a:r>
            <a:r>
              <a:rPr lang="fr-FR" sz="1400" dirty="0">
                <a:solidFill>
                  <a:srgbClr val="002060"/>
                </a:solidFill>
              </a:rPr>
              <a:t> : nombre de variables testées à chaque division.</a:t>
            </a:r>
          </a:p>
        </p:txBody>
      </p:sp>
    </p:spTree>
    <p:extLst>
      <p:ext uri="{BB962C8B-B14F-4D97-AF65-F5344CB8AC3E}">
        <p14:creationId xmlns:p14="http://schemas.microsoft.com/office/powerpoint/2010/main" val="24715722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0749CC-E77F-838D-AA76-55C07F663F60}"/>
            </a:ext>
          </a:extLst>
        </p:cNvPr>
        <p:cNvGrpSpPr/>
        <p:nvPr/>
      </p:nvGrpSpPr>
      <p:grpSpPr>
        <a:xfrm>
          <a:off x="0" y="0"/>
          <a:ext cx="0" cy="0"/>
          <a:chOff x="0" y="0"/>
          <a:chExt cx="0" cy="0"/>
        </a:xfrm>
      </p:grpSpPr>
      <p:sp>
        <p:nvSpPr>
          <p:cNvPr id="116" name="Ellipse 115">
            <a:extLst>
              <a:ext uri="{FF2B5EF4-FFF2-40B4-BE49-F238E27FC236}">
                <a16:creationId xmlns:a16="http://schemas.microsoft.com/office/drawing/2014/main" id="{192E9670-C53F-EC9B-BD15-17417C7D73E2}"/>
              </a:ext>
            </a:extLst>
          </p:cNvPr>
          <p:cNvSpPr/>
          <p:nvPr/>
        </p:nvSpPr>
        <p:spPr>
          <a:xfrm>
            <a:off x="269843" y="5638278"/>
            <a:ext cx="914400" cy="9144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I">
              <a:latin typeface="+mn-lt" panose="02020603050405020304" pitchFamily="18" charset="0"/>
              <a:cs typeface="+mn-cs" panose="02020603050405020304" pitchFamily="18" charset="0"/>
            </a:endParaRPr>
          </a:p>
        </p:txBody>
      </p:sp>
      <p:sp>
        <p:nvSpPr>
          <p:cNvPr id="117" name="ZoneTexte 116">
            <a:extLst>
              <a:ext uri="{FF2B5EF4-FFF2-40B4-BE49-F238E27FC236}">
                <a16:creationId xmlns:a16="http://schemas.microsoft.com/office/drawing/2014/main" id="{DBF84A75-765B-5103-D773-4F724CDFC08F}"/>
              </a:ext>
            </a:extLst>
          </p:cNvPr>
          <p:cNvSpPr txBox="1"/>
          <p:nvPr/>
        </p:nvSpPr>
        <p:spPr>
          <a:xfrm>
            <a:off x="1276481" y="5851484"/>
            <a:ext cx="5058058" cy="461665"/>
          </a:xfrm>
          <a:prstGeom prst="rect">
            <a:avLst/>
          </a:prstGeom>
          <a:noFill/>
        </p:spPr>
        <p:txBody>
          <a:bodyPr wrap="square" rtlCol="0">
            <a:spAutoFit/>
          </a:bodyPr>
          <a:lstStyle/>
          <a:p>
            <a:r>
              <a:rPr lang="fr-CI" sz="2400" b="1" dirty="0" err="1">
                <a:solidFill>
                  <a:srgbClr val="002060"/>
                </a:solidFill>
                <a:latin typeface="+mn-lt" panose="02020603050405020304" pitchFamily="18" charset="0"/>
                <a:cs typeface="+mn-cs" panose="02020603050405020304" pitchFamily="18" charset="0"/>
              </a:rPr>
              <a:t>XGBoost</a:t>
            </a:r>
            <a:r>
              <a:rPr lang="fr-CI" sz="2400" b="1" dirty="0">
                <a:solidFill>
                  <a:srgbClr val="002060"/>
                </a:solidFill>
                <a:latin typeface="+mn-lt" panose="02020603050405020304" pitchFamily="18" charset="0"/>
                <a:cs typeface="+mn-cs" panose="02020603050405020304" pitchFamily="18" charset="0"/>
              </a:rPr>
              <a:t>(</a:t>
            </a:r>
            <a:r>
              <a:rPr lang="fr-FR" sz="2400" dirty="0" err="1"/>
              <a:t>eXtreme</a:t>
            </a:r>
            <a:r>
              <a:rPr lang="fr-FR" sz="2400" dirty="0"/>
              <a:t> Gradient </a:t>
            </a:r>
            <a:r>
              <a:rPr lang="fr-FR" sz="2400" dirty="0" err="1"/>
              <a:t>Boosting</a:t>
            </a:r>
            <a:r>
              <a:rPr lang="fr-FR" sz="2400" dirty="0"/>
              <a:t>)</a:t>
            </a:r>
            <a:endParaRPr lang="fr-CI" sz="2400" b="1" dirty="0">
              <a:solidFill>
                <a:srgbClr val="002060"/>
              </a:solidFill>
              <a:latin typeface="+mn-lt" panose="02020603050405020304" pitchFamily="18" charset="0"/>
              <a:cs typeface="+mn-cs" panose="02020603050405020304" pitchFamily="18" charset="0"/>
            </a:endParaRPr>
          </a:p>
        </p:txBody>
      </p:sp>
      <p:sp>
        <p:nvSpPr>
          <p:cNvPr id="2" name="ZoneTexte 1">
            <a:extLst>
              <a:ext uri="{FF2B5EF4-FFF2-40B4-BE49-F238E27FC236}">
                <a16:creationId xmlns:a16="http://schemas.microsoft.com/office/drawing/2014/main" id="{B83C9D5D-258A-1D15-6BA4-76EE4A1287D6}"/>
              </a:ext>
            </a:extLst>
          </p:cNvPr>
          <p:cNvSpPr txBox="1"/>
          <p:nvPr/>
        </p:nvSpPr>
        <p:spPr>
          <a:xfrm>
            <a:off x="522365" y="5910811"/>
            <a:ext cx="678380" cy="369332"/>
          </a:xfrm>
          <a:prstGeom prst="rect">
            <a:avLst/>
          </a:prstGeom>
          <a:noFill/>
        </p:spPr>
        <p:txBody>
          <a:bodyPr wrap="square" rtlCol="0">
            <a:spAutoFit/>
          </a:bodyPr>
          <a:lstStyle/>
          <a:p>
            <a:r>
              <a:rPr lang="fr-CI">
                <a:solidFill>
                  <a:schemeClr val="bg1"/>
                </a:solidFill>
                <a:latin typeface="+mn-lt" panose="02020603050405020304" pitchFamily="18" charset="0"/>
                <a:cs typeface="+mn-cs" panose="02020603050405020304" pitchFamily="18" charset="0"/>
              </a:rPr>
              <a:t>04</a:t>
            </a:r>
          </a:p>
        </p:txBody>
      </p:sp>
      <p:sp>
        <p:nvSpPr>
          <p:cNvPr id="7" name="Forme libre : forme 6">
            <a:extLst>
              <a:ext uri="{FF2B5EF4-FFF2-40B4-BE49-F238E27FC236}">
                <a16:creationId xmlns:a16="http://schemas.microsoft.com/office/drawing/2014/main" id="{20E6B66A-42DD-F6E1-3525-E8EB65251FE2}"/>
              </a:ext>
            </a:extLst>
          </p:cNvPr>
          <p:cNvSpPr/>
          <p:nvPr/>
        </p:nvSpPr>
        <p:spPr>
          <a:xfrm rot="10237838">
            <a:off x="-3159955" y="-17608339"/>
            <a:ext cx="5764448" cy="28628424"/>
          </a:xfrm>
          <a:custGeom>
            <a:avLst/>
            <a:gdLst>
              <a:gd name="connsiteX0" fmla="*/ 1069895 w 5764448"/>
              <a:gd name="connsiteY0" fmla="*/ 28628424 h 28628424"/>
              <a:gd name="connsiteX1" fmla="*/ 0 w 5764448"/>
              <a:gd name="connsiteY1" fmla="*/ 28451891 h 28628424"/>
              <a:gd name="connsiteX2" fmla="*/ 3757094 w 5764448"/>
              <a:gd name="connsiteY2" fmla="*/ 5681579 h 28628424"/>
              <a:gd name="connsiteX3" fmla="*/ 3793169 w 5764448"/>
              <a:gd name="connsiteY3" fmla="*/ 5582071 h 28628424"/>
              <a:gd name="connsiteX4" fmla="*/ 4010502 w 5764448"/>
              <a:gd name="connsiteY4" fmla="*/ 5232789 h 28628424"/>
              <a:gd name="connsiteX5" fmla="*/ 4131549 w 5764448"/>
              <a:gd name="connsiteY5" fmla="*/ 4980193 h 28628424"/>
              <a:gd name="connsiteX6" fmla="*/ 4133741 w 5764448"/>
              <a:gd name="connsiteY6" fmla="*/ 4960834 h 28628424"/>
              <a:gd name="connsiteX7" fmla="*/ 4136802 w 5764448"/>
              <a:gd name="connsiteY7" fmla="*/ 4948356 h 28628424"/>
              <a:gd name="connsiteX8" fmla="*/ 4110733 w 5764448"/>
              <a:gd name="connsiteY8" fmla="*/ 4668841 h 28628424"/>
              <a:gd name="connsiteX9" fmla="*/ 4027893 w 5764448"/>
              <a:gd name="connsiteY9" fmla="*/ 4264630 h 28628424"/>
              <a:gd name="connsiteX10" fmla="*/ 4028265 w 5764448"/>
              <a:gd name="connsiteY10" fmla="*/ 4199536 h 28628424"/>
              <a:gd name="connsiteX11" fmla="*/ 4018495 w 5764448"/>
              <a:gd name="connsiteY11" fmla="*/ 4155166 h 28628424"/>
              <a:gd name="connsiteX12" fmla="*/ 4026376 w 5764448"/>
              <a:gd name="connsiteY12" fmla="*/ 4119379 h 28628424"/>
              <a:gd name="connsiteX13" fmla="*/ 4027298 w 5764448"/>
              <a:gd name="connsiteY13" fmla="*/ 4125094 h 28628424"/>
              <a:gd name="connsiteX14" fmla="*/ 4028735 w 5764448"/>
              <a:gd name="connsiteY14" fmla="*/ 4117492 h 28628424"/>
              <a:gd name="connsiteX15" fmla="*/ 4028834 w 5764448"/>
              <a:gd name="connsiteY15" fmla="*/ 4100262 h 28628424"/>
              <a:gd name="connsiteX16" fmla="*/ 4008971 w 5764448"/>
              <a:gd name="connsiteY16" fmla="*/ 4155052 h 28628424"/>
              <a:gd name="connsiteX17" fmla="*/ 4694553 w 5764448"/>
              <a:gd name="connsiteY17" fmla="*/ 0 h 28628424"/>
              <a:gd name="connsiteX18" fmla="*/ 5764448 w 5764448"/>
              <a:gd name="connsiteY18" fmla="*/ 176533 h 28628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764448" h="28628424">
                <a:moveTo>
                  <a:pt x="1069895" y="28628424"/>
                </a:moveTo>
                <a:lnTo>
                  <a:pt x="0" y="28451891"/>
                </a:lnTo>
                <a:lnTo>
                  <a:pt x="3757094" y="5681579"/>
                </a:lnTo>
                <a:lnTo>
                  <a:pt x="3793169" y="5582071"/>
                </a:lnTo>
                <a:cubicBezTo>
                  <a:pt x="3853235" y="5437236"/>
                  <a:pt x="3925679" y="5320808"/>
                  <a:pt x="4010502" y="5232789"/>
                </a:cubicBezTo>
                <a:cubicBezTo>
                  <a:pt x="4072655" y="5168293"/>
                  <a:pt x="4114362" y="5076486"/>
                  <a:pt x="4131549" y="4980193"/>
                </a:cubicBezTo>
                <a:lnTo>
                  <a:pt x="4133741" y="4960834"/>
                </a:lnTo>
                <a:lnTo>
                  <a:pt x="4136802" y="4948356"/>
                </a:lnTo>
                <a:cubicBezTo>
                  <a:pt x="4153989" y="4852063"/>
                  <a:pt x="4146657" y="4751283"/>
                  <a:pt x="4110733" y="4668841"/>
                </a:cubicBezTo>
                <a:cubicBezTo>
                  <a:pt x="4061704" y="4556326"/>
                  <a:pt x="4034090" y="4421590"/>
                  <a:pt x="4027893" y="4264630"/>
                </a:cubicBezTo>
                <a:lnTo>
                  <a:pt x="4028265" y="4199536"/>
                </a:lnTo>
                <a:lnTo>
                  <a:pt x="4018495" y="4155166"/>
                </a:lnTo>
                <a:lnTo>
                  <a:pt x="4026376" y="4119379"/>
                </a:lnTo>
                <a:lnTo>
                  <a:pt x="4027298" y="4125094"/>
                </a:lnTo>
                <a:lnTo>
                  <a:pt x="4028735" y="4117492"/>
                </a:lnTo>
                <a:lnTo>
                  <a:pt x="4028834" y="4100262"/>
                </a:lnTo>
                <a:lnTo>
                  <a:pt x="4008971" y="4155052"/>
                </a:lnTo>
                <a:lnTo>
                  <a:pt x="4694553" y="0"/>
                </a:lnTo>
                <a:lnTo>
                  <a:pt x="5764448" y="176533"/>
                </a:lnTo>
                <a:close/>
              </a:path>
            </a:pathLst>
          </a:cu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CI"/>
          </a:p>
        </p:txBody>
      </p:sp>
      <p:pic>
        <p:nvPicPr>
          <p:cNvPr id="3" name="Image 2">
            <a:extLst>
              <a:ext uri="{FF2B5EF4-FFF2-40B4-BE49-F238E27FC236}">
                <a16:creationId xmlns:a16="http://schemas.microsoft.com/office/drawing/2014/main" id="{AF8ADE3B-30A8-6F1D-3733-D669C136BFCD}"/>
              </a:ext>
            </a:extLst>
          </p:cNvPr>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a:xfrm>
            <a:off x="4714875" y="1430745"/>
            <a:ext cx="6638922" cy="4480066"/>
          </a:xfrm>
          <a:prstGeom prst="rect">
            <a:avLst/>
          </a:prstGeom>
        </p:spPr>
      </p:pic>
      <p:sp>
        <p:nvSpPr>
          <p:cNvPr id="4" name="Title 1">
            <a:extLst>
              <a:ext uri="{FF2B5EF4-FFF2-40B4-BE49-F238E27FC236}">
                <a16:creationId xmlns:a16="http://schemas.microsoft.com/office/drawing/2014/main" id="{3E5A2746-7B97-2D12-4845-041FABA261CB}"/>
              </a:ext>
            </a:extLst>
          </p:cNvPr>
          <p:cNvSpPr txBox="1">
            <a:spLocks/>
          </p:cNvSpPr>
          <p:nvPr/>
        </p:nvSpPr>
        <p:spPr>
          <a:xfrm>
            <a:off x="2428694" y="669304"/>
            <a:ext cx="8000324" cy="729114"/>
          </a:xfrm>
          <a:prstGeom prst="rect">
            <a:avLst/>
          </a:prstGeom>
          <a:ln w="19050">
            <a:noFill/>
          </a:ln>
          <a:effectLst>
            <a:reflection blurRad="6350" stA="52000" endA="300" endPos="35000" dir="5400000" sy="-100000" algn="bl" rotWithShape="0"/>
          </a:effectLst>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n-lt"/>
                <a:ea typeface="+mj-ea"/>
                <a:cs typeface="+mj-cs"/>
              </a:defRPr>
            </a:lvl1pPr>
          </a:lstStyle>
          <a:p>
            <a:r>
              <a:rPr lang="fr-FR" sz="4000" b="1" dirty="0">
                <a:solidFill>
                  <a:srgbClr val="002060"/>
                </a:solidFill>
                <a:latin typeface="+mn-lt" panose="02020603050405020304" pitchFamily="18" charset="0"/>
                <a:cs typeface="+mn-cs" panose="02020603050405020304" pitchFamily="18" charset="0"/>
              </a:rPr>
              <a:t>Apprentissage supervisé </a:t>
            </a:r>
          </a:p>
        </p:txBody>
      </p:sp>
      <p:grpSp>
        <p:nvGrpSpPr>
          <p:cNvPr id="14" name="Groupe 13">
            <a:extLst>
              <a:ext uri="{FF2B5EF4-FFF2-40B4-BE49-F238E27FC236}">
                <a16:creationId xmlns:a16="http://schemas.microsoft.com/office/drawing/2014/main" id="{CD57831F-2ABA-413A-6907-8D243C757E1F}"/>
              </a:ext>
            </a:extLst>
          </p:cNvPr>
          <p:cNvGrpSpPr/>
          <p:nvPr/>
        </p:nvGrpSpPr>
        <p:grpSpPr>
          <a:xfrm>
            <a:off x="11081151" y="124008"/>
            <a:ext cx="1002497" cy="997548"/>
            <a:chOff x="11081151" y="124008"/>
            <a:chExt cx="1002497" cy="997548"/>
          </a:xfrm>
        </p:grpSpPr>
        <p:grpSp>
          <p:nvGrpSpPr>
            <p:cNvPr id="15" name="Groupe 14">
              <a:extLst>
                <a:ext uri="{FF2B5EF4-FFF2-40B4-BE49-F238E27FC236}">
                  <a16:creationId xmlns:a16="http://schemas.microsoft.com/office/drawing/2014/main" id="{BF035C05-8A68-879E-0341-8CE3E9B425DD}"/>
                </a:ext>
              </a:extLst>
            </p:cNvPr>
            <p:cNvGrpSpPr/>
            <p:nvPr/>
          </p:nvGrpSpPr>
          <p:grpSpPr>
            <a:xfrm>
              <a:off x="11081151" y="124008"/>
              <a:ext cx="1002497" cy="997548"/>
              <a:chOff x="6263169" y="2855357"/>
              <a:chExt cx="600075" cy="612815"/>
            </a:xfrm>
          </p:grpSpPr>
          <p:sp>
            <p:nvSpPr>
              <p:cNvPr id="17" name="Organigramme : Connecteur 16">
                <a:extLst>
                  <a:ext uri="{FF2B5EF4-FFF2-40B4-BE49-F238E27FC236}">
                    <a16:creationId xmlns:a16="http://schemas.microsoft.com/office/drawing/2014/main" id="{028EDFD5-09BF-B584-58FB-6B8407523717}"/>
                  </a:ext>
                </a:extLst>
              </p:cNvPr>
              <p:cNvSpPr/>
              <p:nvPr/>
            </p:nvSpPr>
            <p:spPr>
              <a:xfrm>
                <a:off x="6263169" y="2855357"/>
                <a:ext cx="600075" cy="612815"/>
              </a:xfrm>
              <a:prstGeom prst="flowChartConnector">
                <a:avLst/>
              </a:prstGeom>
              <a:solidFill>
                <a:schemeClr val="bg1"/>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I"/>
              </a:p>
            </p:txBody>
          </p:sp>
          <p:sp>
            <p:nvSpPr>
              <p:cNvPr id="18" name="Organigramme : Connecteur 17">
                <a:extLst>
                  <a:ext uri="{FF2B5EF4-FFF2-40B4-BE49-F238E27FC236}">
                    <a16:creationId xmlns:a16="http://schemas.microsoft.com/office/drawing/2014/main" id="{4F4AAD8A-70AD-65D5-0E82-11D676ED3BD0}"/>
                  </a:ext>
                </a:extLst>
              </p:cNvPr>
              <p:cNvSpPr/>
              <p:nvPr/>
            </p:nvSpPr>
            <p:spPr>
              <a:xfrm>
                <a:off x="6370324" y="2964924"/>
                <a:ext cx="385763" cy="393680"/>
              </a:xfrm>
              <a:prstGeom prst="flowChartConnector">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I" dirty="0"/>
              </a:p>
            </p:txBody>
          </p:sp>
        </p:grpSp>
        <p:pic>
          <p:nvPicPr>
            <p:cNvPr id="16" name="Graphic 1031">
              <a:extLst>
                <a:ext uri="{FF2B5EF4-FFF2-40B4-BE49-F238E27FC236}">
                  <a16:creationId xmlns:a16="http://schemas.microsoft.com/office/drawing/2014/main" id="{E8D3A5BE-B2DA-EE3E-7A90-E600B196F445}"/>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11353797" y="394182"/>
              <a:ext cx="457200" cy="457200"/>
            </a:xfrm>
            <a:prstGeom prst="rect">
              <a:avLst/>
            </a:prstGeom>
          </p:spPr>
        </p:pic>
      </p:grpSp>
      <p:sp>
        <p:nvSpPr>
          <p:cNvPr id="19" name="ZoneTexte 18">
            <a:extLst>
              <a:ext uri="{FF2B5EF4-FFF2-40B4-BE49-F238E27FC236}">
                <a16:creationId xmlns:a16="http://schemas.microsoft.com/office/drawing/2014/main" id="{DF27CDCF-C493-9AD6-198A-4F6973196BB9}"/>
              </a:ext>
            </a:extLst>
          </p:cNvPr>
          <p:cNvSpPr txBox="1"/>
          <p:nvPr/>
        </p:nvSpPr>
        <p:spPr>
          <a:xfrm>
            <a:off x="80035" y="40933"/>
            <a:ext cx="5767553" cy="369332"/>
          </a:xfrm>
          <a:prstGeom prst="rect">
            <a:avLst/>
          </a:prstGeom>
          <a:noFill/>
          <a:effectLst>
            <a:reflection stA="63000" endPos="11000" dist="50800" dir="5400000" sy="-100000" algn="bl" rotWithShape="0"/>
          </a:effectLst>
        </p:spPr>
        <p:txBody>
          <a:bodyPr wrap="square" rtlCol="0">
            <a:spAutoFit/>
          </a:bodyPr>
          <a:lstStyle/>
          <a:p>
            <a:r>
              <a:rPr lang="fr-CI" b="1" dirty="0">
                <a:solidFill>
                  <a:schemeClr val="bg1"/>
                </a:solidFill>
                <a:latin typeface="+mn-lt" panose="020E0705020206020404" pitchFamily="34" charset="0"/>
              </a:rPr>
              <a:t>P</a:t>
            </a:r>
            <a:r>
              <a:rPr lang="fr-CI" b="1" dirty="0">
                <a:solidFill>
                  <a:schemeClr val="accent1">
                    <a:lumMod val="50000"/>
                  </a:schemeClr>
                </a:solidFill>
                <a:latin typeface="+mn-lt" panose="020E0705020206020404" pitchFamily="34" charset="0"/>
              </a:rPr>
              <a:t>artie 4 : Modélisation &amp; Résultats</a:t>
            </a:r>
          </a:p>
        </p:txBody>
      </p:sp>
      <p:sp>
        <p:nvSpPr>
          <p:cNvPr id="11" name="Hyperparamètres">
            <a:extLst>
              <a:ext uri="{FF2B5EF4-FFF2-40B4-BE49-F238E27FC236}">
                <a16:creationId xmlns:a16="http://schemas.microsoft.com/office/drawing/2014/main" id="{9D35F21B-DED5-0E46-058A-103C20438734}"/>
              </a:ext>
            </a:extLst>
          </p:cNvPr>
          <p:cNvSpPr txBox="1"/>
          <p:nvPr/>
        </p:nvSpPr>
        <p:spPr>
          <a:xfrm>
            <a:off x="727043" y="4183364"/>
            <a:ext cx="3942491" cy="1295280"/>
          </a:xfrm>
          <a:prstGeom prst="rect">
            <a:avLst/>
          </a:prstGeom>
          <a:noFill/>
        </p:spPr>
        <p:txBody>
          <a:bodyPr wrap="square" lIns="0" rIns="0">
            <a:normAutofit/>
          </a:bodyPr>
          <a:lstStyle/>
          <a:p>
            <a:pPr>
              <a:spcAft>
                <a:spcPts val="500"/>
              </a:spcAft>
              <a:buNone/>
            </a:pPr>
            <a:r>
              <a:rPr lang="fr-FR" sz="1600" b="1" dirty="0">
                <a:solidFill>
                  <a:srgbClr val="002060"/>
                </a:solidFill>
              </a:rPr>
              <a:t>Hyperparamètres principaux</a:t>
            </a:r>
          </a:p>
          <a:p>
            <a:pPr marL="228600" indent="-228600">
              <a:spcAft>
                <a:spcPts val="400"/>
              </a:spcAft>
              <a:buFont typeface="Arial"/>
              <a:buChar char="•"/>
            </a:pPr>
            <a:r>
              <a:rPr lang="fr-FR" sz="1400" b="1" dirty="0">
                <a:solidFill>
                  <a:srgbClr val="0B66AE"/>
                </a:solidFill>
              </a:rPr>
              <a:t>n_estimators</a:t>
            </a:r>
            <a:r>
              <a:rPr lang="fr-FR" sz="1400" dirty="0">
                <a:solidFill>
                  <a:srgbClr val="002060"/>
                </a:solidFill>
              </a:rPr>
              <a:t> : nombre d'arbres.</a:t>
            </a:r>
          </a:p>
          <a:p>
            <a:pPr marL="228600" indent="-228600">
              <a:spcAft>
                <a:spcPts val="400"/>
              </a:spcAft>
              <a:buFont typeface="Arial"/>
              <a:buChar char="•"/>
            </a:pPr>
            <a:r>
              <a:rPr lang="fr-FR" sz="1400" b="1" dirty="0">
                <a:solidFill>
                  <a:srgbClr val="0B66AE"/>
                </a:solidFill>
              </a:rPr>
              <a:t>max_depth</a:t>
            </a:r>
            <a:r>
              <a:rPr lang="fr-FR" sz="1400" dirty="0">
                <a:solidFill>
                  <a:srgbClr val="002060"/>
                </a:solidFill>
              </a:rPr>
              <a:t> : profondeur maximale des arbres.</a:t>
            </a:r>
          </a:p>
          <a:p>
            <a:pPr marL="228600" indent="-228600">
              <a:spcAft>
                <a:spcPts val="400"/>
              </a:spcAft>
              <a:buFont typeface="Arial"/>
              <a:buChar char="•"/>
            </a:pPr>
            <a:r>
              <a:rPr lang="fr-FR" sz="1400" b="1" dirty="0" err="1">
                <a:solidFill>
                  <a:srgbClr val="0B66AE"/>
                </a:solidFill>
              </a:rPr>
              <a:t>learning_rate</a:t>
            </a:r>
            <a:r>
              <a:rPr lang="fr-FR" sz="1400" dirty="0">
                <a:solidFill>
                  <a:srgbClr val="002060"/>
                </a:solidFill>
              </a:rPr>
              <a:t>: vitesse d'apprentissage.</a:t>
            </a:r>
          </a:p>
        </p:txBody>
      </p:sp>
    </p:spTree>
    <p:extLst>
      <p:ext uri="{BB962C8B-B14F-4D97-AF65-F5344CB8AC3E}">
        <p14:creationId xmlns:p14="http://schemas.microsoft.com/office/powerpoint/2010/main" val="41626624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C771C2-0EA6-35BE-04CF-AC81C266A3CA}"/>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D4D29161-724C-2233-72F5-7B44068C8B17}"/>
              </a:ext>
            </a:extLst>
          </p:cNvPr>
          <p:cNvSpPr txBox="1">
            <a:spLocks/>
          </p:cNvSpPr>
          <p:nvPr/>
        </p:nvSpPr>
        <p:spPr>
          <a:xfrm>
            <a:off x="1847426" y="679170"/>
            <a:ext cx="8000324" cy="729114"/>
          </a:xfrm>
          <a:prstGeom prst="rect">
            <a:avLst/>
          </a:prstGeom>
          <a:ln w="19050">
            <a:noFill/>
          </a:ln>
          <a:effectLst>
            <a:reflection blurRad="6350" stA="52000" endA="300" endPos="35000" dir="5400000" sy="-100000" algn="bl" rotWithShape="0"/>
          </a:effectLst>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n-lt"/>
                <a:ea typeface="+mj-ea"/>
                <a:cs typeface="+mj-cs"/>
              </a:defRPr>
            </a:lvl1pPr>
          </a:lstStyle>
          <a:p>
            <a:r>
              <a:rPr lang="fr-FR" sz="3600" b="1" dirty="0">
                <a:solidFill>
                  <a:srgbClr val="002060"/>
                </a:solidFill>
                <a:latin typeface="+mn-lt" panose="02020603050405020304" pitchFamily="18" charset="0"/>
                <a:cs typeface="+mn-cs" panose="02020603050405020304" pitchFamily="18" charset="0"/>
              </a:rPr>
              <a:t>Métriques d’évaluation</a:t>
            </a:r>
          </a:p>
        </p:txBody>
      </p:sp>
      <p:grpSp>
        <p:nvGrpSpPr>
          <p:cNvPr id="14" name="Groupe 13">
            <a:extLst>
              <a:ext uri="{FF2B5EF4-FFF2-40B4-BE49-F238E27FC236}">
                <a16:creationId xmlns:a16="http://schemas.microsoft.com/office/drawing/2014/main" id="{B9C6A817-6EBB-7E13-E867-6AA71D4C2BF0}"/>
              </a:ext>
            </a:extLst>
          </p:cNvPr>
          <p:cNvGrpSpPr/>
          <p:nvPr/>
        </p:nvGrpSpPr>
        <p:grpSpPr>
          <a:xfrm>
            <a:off x="11081151" y="124008"/>
            <a:ext cx="1002497" cy="997548"/>
            <a:chOff x="11081151" y="124008"/>
            <a:chExt cx="1002497" cy="997548"/>
          </a:xfrm>
        </p:grpSpPr>
        <p:grpSp>
          <p:nvGrpSpPr>
            <p:cNvPr id="15" name="Groupe 14">
              <a:extLst>
                <a:ext uri="{FF2B5EF4-FFF2-40B4-BE49-F238E27FC236}">
                  <a16:creationId xmlns:a16="http://schemas.microsoft.com/office/drawing/2014/main" id="{194C1B1F-B61F-89AD-7244-857969B71DAD}"/>
                </a:ext>
              </a:extLst>
            </p:cNvPr>
            <p:cNvGrpSpPr/>
            <p:nvPr/>
          </p:nvGrpSpPr>
          <p:grpSpPr>
            <a:xfrm>
              <a:off x="11081151" y="124008"/>
              <a:ext cx="1002497" cy="997548"/>
              <a:chOff x="6263169" y="2855357"/>
              <a:chExt cx="600075" cy="612815"/>
            </a:xfrm>
          </p:grpSpPr>
          <p:sp>
            <p:nvSpPr>
              <p:cNvPr id="17" name="Organigramme : Connecteur 16">
                <a:extLst>
                  <a:ext uri="{FF2B5EF4-FFF2-40B4-BE49-F238E27FC236}">
                    <a16:creationId xmlns:a16="http://schemas.microsoft.com/office/drawing/2014/main" id="{B1A78BEC-2F95-A63D-FBE2-B7EA3C130617}"/>
                  </a:ext>
                </a:extLst>
              </p:cNvPr>
              <p:cNvSpPr/>
              <p:nvPr/>
            </p:nvSpPr>
            <p:spPr>
              <a:xfrm>
                <a:off x="6263169" y="2855357"/>
                <a:ext cx="600075" cy="612815"/>
              </a:xfrm>
              <a:prstGeom prst="flowChartConnector">
                <a:avLst/>
              </a:prstGeom>
              <a:solidFill>
                <a:schemeClr val="bg1"/>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I"/>
              </a:p>
            </p:txBody>
          </p:sp>
          <p:sp>
            <p:nvSpPr>
              <p:cNvPr id="18" name="Organigramme : Connecteur 17">
                <a:extLst>
                  <a:ext uri="{FF2B5EF4-FFF2-40B4-BE49-F238E27FC236}">
                    <a16:creationId xmlns:a16="http://schemas.microsoft.com/office/drawing/2014/main" id="{09899453-F6C0-8684-65B2-266832267D6E}"/>
                  </a:ext>
                </a:extLst>
              </p:cNvPr>
              <p:cNvSpPr/>
              <p:nvPr/>
            </p:nvSpPr>
            <p:spPr>
              <a:xfrm>
                <a:off x="6370324" y="2964924"/>
                <a:ext cx="385763" cy="393680"/>
              </a:xfrm>
              <a:prstGeom prst="flowChartConnector">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I" dirty="0"/>
              </a:p>
            </p:txBody>
          </p:sp>
        </p:grpSp>
        <p:pic>
          <p:nvPicPr>
            <p:cNvPr id="16" name="Graphic 1031">
              <a:extLst>
                <a:ext uri="{FF2B5EF4-FFF2-40B4-BE49-F238E27FC236}">
                  <a16:creationId xmlns:a16="http://schemas.microsoft.com/office/drawing/2014/main" id="{440D82FF-8764-E4A5-FE86-9B00FD13383B}"/>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1353797" y="394182"/>
              <a:ext cx="457200" cy="457200"/>
            </a:xfrm>
            <a:prstGeom prst="rect">
              <a:avLst/>
            </a:prstGeom>
          </p:spPr>
        </p:pic>
      </p:grpSp>
      <p:sp>
        <p:nvSpPr>
          <p:cNvPr id="19" name="ZoneTexte 18">
            <a:extLst>
              <a:ext uri="{FF2B5EF4-FFF2-40B4-BE49-F238E27FC236}">
                <a16:creationId xmlns:a16="http://schemas.microsoft.com/office/drawing/2014/main" id="{DD6E9096-89CB-E251-4924-BF129A8540A6}"/>
              </a:ext>
            </a:extLst>
          </p:cNvPr>
          <p:cNvSpPr txBox="1"/>
          <p:nvPr/>
        </p:nvSpPr>
        <p:spPr>
          <a:xfrm>
            <a:off x="80035" y="40933"/>
            <a:ext cx="5767553" cy="369332"/>
          </a:xfrm>
          <a:prstGeom prst="rect">
            <a:avLst/>
          </a:prstGeom>
          <a:noFill/>
          <a:effectLst>
            <a:reflection stA="63000" endPos="11000" dist="50800" dir="5400000" sy="-100000" algn="bl" rotWithShape="0"/>
          </a:effectLst>
        </p:spPr>
        <p:txBody>
          <a:bodyPr wrap="square" rtlCol="0">
            <a:spAutoFit/>
          </a:bodyPr>
          <a:lstStyle/>
          <a:p>
            <a:r>
              <a:rPr lang="fr-CI" b="1" dirty="0">
                <a:solidFill>
                  <a:schemeClr val="accent1">
                    <a:lumMod val="50000"/>
                  </a:schemeClr>
                </a:solidFill>
                <a:latin typeface="+mn-lt" panose="020E0705020206020404" pitchFamily="34" charset="0"/>
              </a:rPr>
              <a:t>Partie 4 : Modélisation &amp; Résultats</a:t>
            </a:r>
          </a:p>
        </p:txBody>
      </p:sp>
      <p:sp>
        <p:nvSpPr>
          <p:cNvPr id="8" name="Text 2">
            <a:extLst>
              <a:ext uri="{FF2B5EF4-FFF2-40B4-BE49-F238E27FC236}">
                <a16:creationId xmlns:a16="http://schemas.microsoft.com/office/drawing/2014/main" id="{535CED61-BCF7-079A-9395-368E4677E4A1}"/>
              </a:ext>
            </a:extLst>
          </p:cNvPr>
          <p:cNvSpPr/>
          <p:nvPr/>
        </p:nvSpPr>
        <p:spPr>
          <a:xfrm>
            <a:off x="350517" y="1486113"/>
            <a:ext cx="5364480" cy="426720"/>
          </a:xfrm>
          <a:prstGeom prst="rect">
            <a:avLst/>
          </a:prstGeom>
          <a:noFill/>
          <a:ln/>
        </p:spPr>
        <p:txBody>
          <a:bodyPr wrap="square" rtlCol="0" anchor="ctr"/>
          <a:lstStyle/>
          <a:p>
            <a:pPr defTabSz="1219170"/>
            <a:r>
              <a:rPr lang="en-US" sz="1733" b="1" dirty="0">
                <a:solidFill>
                  <a:srgbClr val="1E2761"/>
                </a:solidFill>
                <a:latin typeface="Calibri" panose="020F0502020204030204"/>
              </a:rPr>
              <a:t>Matrice de confusion</a:t>
            </a:r>
            <a:endParaRPr lang="en-US" sz="1733" dirty="0">
              <a:solidFill>
                <a:prstClr val="black"/>
              </a:solidFill>
              <a:latin typeface="Calibri" panose="020F0502020204030204"/>
            </a:endParaRPr>
          </a:p>
        </p:txBody>
      </p:sp>
      <p:graphicFrame>
        <p:nvGraphicFramePr>
          <p:cNvPr id="10" name="Table 0">
            <a:extLst>
              <a:ext uri="{FF2B5EF4-FFF2-40B4-BE49-F238E27FC236}">
                <a16:creationId xmlns:a16="http://schemas.microsoft.com/office/drawing/2014/main" id="{35546CE5-D6E1-BA94-50DE-1A4624FF5CD6}"/>
              </a:ext>
            </a:extLst>
          </p:cNvPr>
          <p:cNvGraphicFramePr>
            <a:graphicFrameLocks noGrp="1"/>
          </p:cNvGraphicFramePr>
          <p:nvPr/>
        </p:nvGraphicFramePr>
        <p:xfrm>
          <a:off x="350517" y="1973793"/>
          <a:ext cx="5364480" cy="1950720"/>
        </p:xfrm>
        <a:graphic>
          <a:graphicData uri="http://schemas.openxmlformats.org/drawingml/2006/table">
            <a:tbl>
              <a:tblPr/>
              <a:tblGrid>
                <a:gridCol w="1463040">
                  <a:extLst>
                    <a:ext uri="{9D8B030D-6E8A-4147-A177-3AD203B41FA5}">
                      <a16:colId xmlns:a16="http://schemas.microsoft.com/office/drawing/2014/main" val="20000"/>
                    </a:ext>
                  </a:extLst>
                </a:gridCol>
                <a:gridCol w="1950720">
                  <a:extLst>
                    <a:ext uri="{9D8B030D-6E8A-4147-A177-3AD203B41FA5}">
                      <a16:colId xmlns:a16="http://schemas.microsoft.com/office/drawing/2014/main" val="20001"/>
                    </a:ext>
                  </a:extLst>
                </a:gridCol>
                <a:gridCol w="1950720">
                  <a:extLst>
                    <a:ext uri="{9D8B030D-6E8A-4147-A177-3AD203B41FA5}">
                      <a16:colId xmlns:a16="http://schemas.microsoft.com/office/drawing/2014/main" val="20002"/>
                    </a:ext>
                  </a:extLst>
                </a:gridCol>
              </a:tblGrid>
              <a:tr h="650240">
                <a:tc>
                  <a:txBody>
                    <a:bodyPr/>
                    <a:lstStyle/>
                    <a:p>
                      <a:pPr marL="0" indent="0" algn="ctr">
                        <a:buNone/>
                      </a:pPr>
                      <a:endParaRPr lang="en-US" sz="17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6FB"/>
                    </a:solidFill>
                  </a:tcPr>
                </a:tc>
                <a:tc>
                  <a:txBody>
                    <a:bodyPr/>
                    <a:lstStyle/>
                    <a:p>
                      <a:pPr marL="0" indent="0" algn="ctr">
                        <a:buNone/>
                      </a:pPr>
                      <a:r>
                        <a:rPr lang="en-US" sz="1700" b="1" dirty="0" err="1">
                          <a:solidFill>
                            <a:srgbClr val="FFFFFF"/>
                          </a:solidFill>
                        </a:rPr>
                        <a:t>Prédit</a:t>
                      </a:r>
                      <a:r>
                        <a:rPr lang="en-US" sz="1700" b="1" dirty="0">
                          <a:solidFill>
                            <a:srgbClr val="FFFFFF"/>
                          </a:solidFill>
                        </a:rPr>
                        <a:t> 1</a:t>
                      </a:r>
                      <a:endParaRPr lang="en-US" sz="17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marL="0" indent="0" algn="ctr">
                        <a:buNone/>
                      </a:pPr>
                      <a:r>
                        <a:rPr lang="en-US" sz="1700" b="1" dirty="0" err="1">
                          <a:solidFill>
                            <a:srgbClr val="FFFFFF"/>
                          </a:solidFill>
                        </a:rPr>
                        <a:t>Prédit</a:t>
                      </a:r>
                      <a:r>
                        <a:rPr lang="en-US" sz="1700" b="1" dirty="0">
                          <a:solidFill>
                            <a:srgbClr val="FFFFFF"/>
                          </a:solidFill>
                        </a:rPr>
                        <a:t> 0</a:t>
                      </a:r>
                      <a:endParaRPr lang="en-US" sz="17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650240">
                <a:tc>
                  <a:txBody>
                    <a:bodyPr/>
                    <a:lstStyle/>
                    <a:p>
                      <a:pPr marL="0" indent="0" algn="ctr">
                        <a:buNone/>
                      </a:pPr>
                      <a:r>
                        <a:rPr lang="en-US" sz="1700" b="1" dirty="0" err="1">
                          <a:solidFill>
                            <a:srgbClr val="FFFFFF"/>
                          </a:solidFill>
                        </a:rPr>
                        <a:t>Réel</a:t>
                      </a:r>
                      <a:r>
                        <a:rPr lang="en-US" sz="1700" b="1" dirty="0">
                          <a:solidFill>
                            <a:srgbClr val="FFFFFF"/>
                          </a:solidFill>
                        </a:rPr>
                        <a:t> 1</a:t>
                      </a:r>
                      <a:endParaRPr lang="en-US" sz="17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marL="0" indent="0" algn="ctr">
                        <a:buNone/>
                      </a:pPr>
                      <a:r>
                        <a:rPr lang="en-US" sz="1700" dirty="0">
                          <a:solidFill>
                            <a:srgbClr val="000000"/>
                          </a:solidFill>
                        </a:rPr>
                        <a:t>VP</a:t>
                      </a:r>
                      <a:endParaRPr lang="en-US" sz="17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6F0D6"/>
                    </a:solidFill>
                  </a:tcPr>
                </a:tc>
                <a:tc>
                  <a:txBody>
                    <a:bodyPr/>
                    <a:lstStyle/>
                    <a:p>
                      <a:pPr marL="0" indent="0" algn="ctr">
                        <a:buNone/>
                      </a:pPr>
                      <a:r>
                        <a:rPr lang="en-US" sz="1700" dirty="0">
                          <a:solidFill>
                            <a:srgbClr val="000000"/>
                          </a:solidFill>
                        </a:rPr>
                        <a:t>FN</a:t>
                      </a:r>
                      <a:endParaRPr lang="en-US" sz="17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AD6D6"/>
                    </a:solidFill>
                  </a:tcPr>
                </a:tc>
                <a:extLst>
                  <a:ext uri="{0D108BD9-81ED-4DB2-BD59-A6C34878D82A}">
                    <a16:rowId xmlns:a16="http://schemas.microsoft.com/office/drawing/2014/main" val="10001"/>
                  </a:ext>
                </a:extLst>
              </a:tr>
              <a:tr h="650240">
                <a:tc>
                  <a:txBody>
                    <a:bodyPr/>
                    <a:lstStyle/>
                    <a:p>
                      <a:pPr marL="0" indent="0" algn="ctr">
                        <a:buNone/>
                      </a:pPr>
                      <a:r>
                        <a:rPr lang="en-US" sz="1700" b="1" dirty="0">
                          <a:solidFill>
                            <a:srgbClr val="FFFFFF"/>
                          </a:solidFill>
                        </a:rPr>
                        <a:t>Réel 0</a:t>
                      </a:r>
                      <a:endParaRPr lang="en-US" sz="17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marL="0" indent="0" algn="ctr">
                        <a:buNone/>
                      </a:pPr>
                      <a:r>
                        <a:rPr lang="en-US" sz="1700" dirty="0">
                          <a:solidFill>
                            <a:srgbClr val="000000"/>
                          </a:solidFill>
                        </a:rPr>
                        <a:t>FP</a:t>
                      </a:r>
                      <a:endParaRPr lang="en-US" sz="17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AD6D6"/>
                    </a:solidFill>
                  </a:tcPr>
                </a:tc>
                <a:tc>
                  <a:txBody>
                    <a:bodyPr/>
                    <a:lstStyle/>
                    <a:p>
                      <a:pPr marL="0" indent="0" algn="ctr">
                        <a:buNone/>
                      </a:pPr>
                      <a:r>
                        <a:rPr lang="en-US" sz="1700" dirty="0">
                          <a:solidFill>
                            <a:srgbClr val="000000"/>
                          </a:solidFill>
                        </a:rPr>
                        <a:t>VN</a:t>
                      </a:r>
                      <a:endParaRPr lang="en-US" sz="17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6F0D6"/>
                    </a:solidFill>
                  </a:tcPr>
                </a:tc>
                <a:extLst>
                  <a:ext uri="{0D108BD9-81ED-4DB2-BD59-A6C34878D82A}">
                    <a16:rowId xmlns:a16="http://schemas.microsoft.com/office/drawing/2014/main" val="10002"/>
                  </a:ext>
                </a:extLst>
              </a:tr>
            </a:tbl>
          </a:graphicData>
        </a:graphic>
      </p:graphicFrame>
      <p:sp>
        <p:nvSpPr>
          <p:cNvPr id="12" name="Shape 3">
            <a:extLst>
              <a:ext uri="{FF2B5EF4-FFF2-40B4-BE49-F238E27FC236}">
                <a16:creationId xmlns:a16="http://schemas.microsoft.com/office/drawing/2014/main" id="{7F90DF29-23AA-281A-7D5D-DE17B1FD45C8}"/>
              </a:ext>
            </a:extLst>
          </p:cNvPr>
          <p:cNvSpPr/>
          <p:nvPr/>
        </p:nvSpPr>
        <p:spPr>
          <a:xfrm>
            <a:off x="6080757" y="1486113"/>
            <a:ext cx="5730240" cy="1158240"/>
          </a:xfrm>
          <a:prstGeom prst="roundRect">
            <a:avLst>
              <a:gd name="adj" fmla="val 8421"/>
            </a:avLst>
          </a:prstGeom>
          <a:solidFill>
            <a:srgbClr val="FFFFFF"/>
          </a:solidFill>
          <a:ln w="6350">
            <a:solidFill>
              <a:srgbClr val="E2E8F0"/>
            </a:solidFill>
            <a:prstDash val="solid"/>
          </a:ln>
          <a:effectLst>
            <a:outerShdw blurRad="101600" dist="25400" dir="2700000" algn="bl" rotWithShape="0">
              <a:srgbClr val="000000">
                <a:alpha val="12000"/>
              </a:srgbClr>
            </a:outerShdw>
          </a:effectLst>
        </p:spPr>
        <p:txBody>
          <a:bodyPr/>
          <a:lstStyle/>
          <a:p>
            <a:endParaRPr lang="fr-FR"/>
          </a:p>
        </p:txBody>
      </p:sp>
      <p:sp>
        <p:nvSpPr>
          <p:cNvPr id="20" name="Text 4">
            <a:extLst>
              <a:ext uri="{FF2B5EF4-FFF2-40B4-BE49-F238E27FC236}">
                <a16:creationId xmlns:a16="http://schemas.microsoft.com/office/drawing/2014/main" id="{E662002A-6675-B19D-74EF-B4E6D2880B75}"/>
              </a:ext>
            </a:extLst>
          </p:cNvPr>
          <p:cNvSpPr/>
          <p:nvPr/>
        </p:nvSpPr>
        <p:spPr>
          <a:xfrm>
            <a:off x="6263637" y="1583649"/>
            <a:ext cx="5364480" cy="390144"/>
          </a:xfrm>
          <a:prstGeom prst="rect">
            <a:avLst/>
          </a:prstGeom>
          <a:noFill/>
          <a:ln/>
        </p:spPr>
        <p:txBody>
          <a:bodyPr wrap="square" rtlCol="0" anchor="ctr"/>
          <a:lstStyle/>
          <a:p>
            <a:pPr defTabSz="1219170"/>
            <a:r>
              <a:rPr lang="en-US" sz="1600" b="1" dirty="0">
                <a:solidFill>
                  <a:srgbClr val="1E2761"/>
                </a:solidFill>
                <a:latin typeface="Calibri" panose="020F0502020204030204"/>
              </a:rPr>
              <a:t>Précision</a:t>
            </a:r>
            <a:endParaRPr lang="en-US" sz="1600" dirty="0">
              <a:solidFill>
                <a:prstClr val="black"/>
              </a:solidFill>
              <a:latin typeface="Calibri" panose="020F0502020204030204"/>
            </a:endParaRPr>
          </a:p>
        </p:txBody>
      </p:sp>
      <mc:AlternateContent xmlns:mc="http://schemas.openxmlformats.org/markup-compatibility/2006" xmlns:a14="http://schemas.microsoft.com/office/drawing/2010/main">
        <mc:Choice Requires="a14">
          <p:sp>
            <p:nvSpPr>
              <p:cNvPr id="22" name="Text 5">
                <a:extLst>
                  <a:ext uri="{FF2B5EF4-FFF2-40B4-BE49-F238E27FC236}">
                    <a16:creationId xmlns:a16="http://schemas.microsoft.com/office/drawing/2014/main" id="{DA9DBCDC-4383-ED37-D89B-6D4DBCAA1D9A}"/>
                  </a:ext>
                </a:extLst>
              </p:cNvPr>
              <p:cNvSpPr/>
              <p:nvPr/>
            </p:nvSpPr>
            <p:spPr>
              <a:xfrm>
                <a:off x="6263637" y="1998177"/>
                <a:ext cx="2438400" cy="609600"/>
              </a:xfrm>
              <a:prstGeom prst="rect">
                <a:avLst/>
              </a:prstGeom>
              <a:noFill/>
              <a:ln/>
            </p:spPr>
            <p:txBody>
              <a:bodyPr wrap="square" rtlCol="0" anchor="ctr"/>
              <a:lstStyle/>
              <a:p>
                <a:pPr defTabSz="1219170">
                  <a:buNone/>
                </a:pPr>
                <a14:m>
                  <m:oMathPara xmlns:m="http://schemas.openxmlformats.org/officeDocument/2006/math">
                    <m:oMathParaPr>
                      <m:jc m:val="left"/>
                    </m:oMathParaPr>
                    <m:oMath xmlns:m="http://schemas.openxmlformats.org/officeDocument/2006/math">
                      <m:f>
                        <m:fPr>
                          <m:ctrlPr>
                            <a:rPr lang="en-US" sz="1333" i="1" dirty="0">
                              <a:solidFill>
                                <a:srgbClr val="2D3E8F"/>
                              </a:solidFill>
                              <a:latin typeface="Cambria Math" panose="02040503050406030204" pitchFamily="18" charset="0"/>
                            </a:rPr>
                          </m:ctrlPr>
                        </m:fPr>
                        <m:num>
                          <m:r>
                            <a:rPr lang="en-US" sz="1333" dirty="0">
                              <a:solidFill>
                                <a:srgbClr val="2D3E8F"/>
                              </a:solidFill>
                              <a:latin typeface="Cambria Math" panose="02040503050406030204" pitchFamily="18" charset="0"/>
                            </a:rPr>
                            <m:t>𝑉𝑃</m:t>
                          </m:r>
                        </m:num>
                        <m:den>
                          <m:r>
                            <a:rPr lang="en-US" sz="1333" dirty="0">
                              <a:solidFill>
                                <a:srgbClr val="2D3E8F"/>
                              </a:solidFill>
                              <a:latin typeface="Cambria Math" panose="02040503050406030204" pitchFamily="18" charset="0"/>
                            </a:rPr>
                            <m:t>𝑉𝑃</m:t>
                          </m:r>
                          <m:r>
                            <a:rPr lang="en-US" sz="1333" dirty="0">
                              <a:solidFill>
                                <a:srgbClr val="2D3E8F"/>
                              </a:solidFill>
                              <a:latin typeface="Cambria Math" panose="02040503050406030204" pitchFamily="18" charset="0"/>
                            </a:rPr>
                            <m:t> + </m:t>
                          </m:r>
                          <m:r>
                            <a:rPr lang="en-US" sz="1333" dirty="0">
                              <a:solidFill>
                                <a:srgbClr val="2D3E8F"/>
                              </a:solidFill>
                              <a:latin typeface="Cambria Math" panose="02040503050406030204" pitchFamily="18" charset="0"/>
                            </a:rPr>
                            <m:t>𝐹𝑃</m:t>
                          </m:r>
                        </m:den>
                      </m:f>
                    </m:oMath>
                  </m:oMathPara>
                </a14:m>
                <a:endParaRPr/>
              </a:p>
            </p:txBody>
          </p:sp>
        </mc:Choice>
        <mc:Fallback xmlns="">
          <p:sp>
            <p:nvSpPr>
              <p:cNvPr id="22" name="Text 5">
                <a:extLst>
                  <a:ext uri="{FF2B5EF4-FFF2-40B4-BE49-F238E27FC236}">
                    <a16:creationId xmlns:a16="http://schemas.microsoft.com/office/drawing/2014/main" id="{DA9DBCDC-4383-ED37-D89B-6D4DBCAA1D9A}"/>
                  </a:ext>
                </a:extLst>
              </p:cNvPr>
              <p:cNvSpPr>
                <a:spLocks noRot="1" noChangeAspect="1" noMove="1" noResize="1" noEditPoints="1" noAdjustHandles="1" noChangeArrowheads="1" noChangeShapeType="1" noTextEdit="1"/>
              </p:cNvSpPr>
              <p:nvPr/>
            </p:nvSpPr>
            <p:spPr>
              <a:xfrm>
                <a:off x="6263637" y="1998177"/>
                <a:ext cx="2438400" cy="609600"/>
              </a:xfrm>
              <a:prstGeom prst="rect">
                <a:avLst/>
              </a:prstGeom>
              <a:blipFill>
                <a:blip r:embed="rId3"/>
                <a:stretch>
                  <a:fillRect/>
                </a:stretch>
              </a:blipFill>
              <a:ln/>
            </p:spPr>
            <p:txBody>
              <a:bodyPr/>
              <a:lstStyle/>
              <a:p>
                <a:r>
                  <a:rPr lang="fr-FR">
                    <a:noFill/>
                  </a:rPr>
                  <a:t> </a:t>
                </a:r>
              </a:p>
            </p:txBody>
          </p:sp>
        </mc:Fallback>
      </mc:AlternateContent>
      <p:sp>
        <p:nvSpPr>
          <p:cNvPr id="24" name="Text 6">
            <a:extLst>
              <a:ext uri="{FF2B5EF4-FFF2-40B4-BE49-F238E27FC236}">
                <a16:creationId xmlns:a16="http://schemas.microsoft.com/office/drawing/2014/main" id="{C90CAAC0-FD23-194F-D2BA-570E4038759D}"/>
              </a:ext>
            </a:extLst>
          </p:cNvPr>
          <p:cNvSpPr/>
          <p:nvPr/>
        </p:nvSpPr>
        <p:spPr>
          <a:xfrm>
            <a:off x="8762997" y="1998177"/>
            <a:ext cx="2987040" cy="609600"/>
          </a:xfrm>
          <a:prstGeom prst="rect">
            <a:avLst/>
          </a:prstGeom>
          <a:noFill/>
          <a:ln/>
        </p:spPr>
        <p:txBody>
          <a:bodyPr wrap="square" rtlCol="0" anchor="ctr"/>
          <a:lstStyle/>
          <a:p>
            <a:pPr defTabSz="1219170"/>
            <a:r>
              <a:rPr lang="en-US" sz="1267" dirty="0">
                <a:solidFill>
                  <a:srgbClr val="64748B"/>
                </a:solidFill>
                <a:latin typeface="Calibri" panose="020F0502020204030204"/>
              </a:rPr>
              <a:t>Parmi les prédits en retard, quelle proportion l'est réellement ?</a:t>
            </a:r>
            <a:endParaRPr lang="en-US" sz="1267" dirty="0">
              <a:solidFill>
                <a:prstClr val="black"/>
              </a:solidFill>
              <a:latin typeface="Calibri" panose="020F0502020204030204"/>
            </a:endParaRPr>
          </a:p>
        </p:txBody>
      </p:sp>
      <p:sp>
        <p:nvSpPr>
          <p:cNvPr id="26" name="Shape 7">
            <a:extLst>
              <a:ext uri="{FF2B5EF4-FFF2-40B4-BE49-F238E27FC236}">
                <a16:creationId xmlns:a16="http://schemas.microsoft.com/office/drawing/2014/main" id="{3D7D6E08-A353-88FD-EFCC-EDB19BF15773}"/>
              </a:ext>
            </a:extLst>
          </p:cNvPr>
          <p:cNvSpPr/>
          <p:nvPr/>
        </p:nvSpPr>
        <p:spPr>
          <a:xfrm>
            <a:off x="6080757" y="2766273"/>
            <a:ext cx="5730240" cy="1158240"/>
          </a:xfrm>
          <a:prstGeom prst="roundRect">
            <a:avLst>
              <a:gd name="adj" fmla="val 8421"/>
            </a:avLst>
          </a:prstGeom>
          <a:solidFill>
            <a:srgbClr val="FFFFFF"/>
          </a:solidFill>
          <a:ln w="6350">
            <a:solidFill>
              <a:srgbClr val="E2E8F0"/>
            </a:solidFill>
            <a:prstDash val="solid"/>
          </a:ln>
          <a:effectLst>
            <a:outerShdw blurRad="101600" dist="25400" dir="2700000" algn="bl" rotWithShape="0">
              <a:srgbClr val="000000">
                <a:alpha val="12000"/>
              </a:srgbClr>
            </a:outerShdw>
          </a:effectLst>
        </p:spPr>
        <p:txBody>
          <a:bodyPr/>
          <a:lstStyle/>
          <a:p>
            <a:endParaRPr lang="fr-FR"/>
          </a:p>
        </p:txBody>
      </p:sp>
      <p:sp>
        <p:nvSpPr>
          <p:cNvPr id="28" name="Text 8">
            <a:extLst>
              <a:ext uri="{FF2B5EF4-FFF2-40B4-BE49-F238E27FC236}">
                <a16:creationId xmlns:a16="http://schemas.microsoft.com/office/drawing/2014/main" id="{6D5D798A-4FC7-06B5-29DC-71F286EC0EF5}"/>
              </a:ext>
            </a:extLst>
          </p:cNvPr>
          <p:cNvSpPr/>
          <p:nvPr/>
        </p:nvSpPr>
        <p:spPr>
          <a:xfrm>
            <a:off x="6263637" y="2863809"/>
            <a:ext cx="5364480" cy="390144"/>
          </a:xfrm>
          <a:prstGeom prst="rect">
            <a:avLst/>
          </a:prstGeom>
          <a:noFill/>
          <a:ln/>
        </p:spPr>
        <p:txBody>
          <a:bodyPr wrap="square" rtlCol="0" anchor="ctr"/>
          <a:lstStyle/>
          <a:p>
            <a:pPr defTabSz="1219170"/>
            <a:r>
              <a:rPr lang="en-US" sz="1600" b="1" dirty="0">
                <a:solidFill>
                  <a:srgbClr val="1E2761"/>
                </a:solidFill>
                <a:latin typeface="Calibri" panose="020F0502020204030204"/>
              </a:rPr>
              <a:t>Rappel (Recall)</a:t>
            </a:r>
            <a:endParaRPr lang="en-US" sz="1600" dirty="0">
              <a:solidFill>
                <a:prstClr val="black"/>
              </a:solidFill>
              <a:latin typeface="Calibri" panose="020F0502020204030204"/>
            </a:endParaRPr>
          </a:p>
        </p:txBody>
      </p:sp>
      <mc:AlternateContent xmlns:mc="http://schemas.openxmlformats.org/markup-compatibility/2006" xmlns:a14="http://schemas.microsoft.com/office/drawing/2010/main">
        <mc:Choice Requires="a14">
          <p:sp>
            <p:nvSpPr>
              <p:cNvPr id="30" name="Text 9">
                <a:extLst>
                  <a:ext uri="{FF2B5EF4-FFF2-40B4-BE49-F238E27FC236}">
                    <a16:creationId xmlns:a16="http://schemas.microsoft.com/office/drawing/2014/main" id="{39056AC8-6CE1-5FCE-824F-1C4BADC5915C}"/>
                  </a:ext>
                </a:extLst>
              </p:cNvPr>
              <p:cNvSpPr/>
              <p:nvPr/>
            </p:nvSpPr>
            <p:spPr>
              <a:xfrm>
                <a:off x="6263637" y="3278337"/>
                <a:ext cx="2438400" cy="609600"/>
              </a:xfrm>
              <a:prstGeom prst="rect">
                <a:avLst/>
              </a:prstGeom>
              <a:noFill/>
              <a:ln/>
            </p:spPr>
            <p:txBody>
              <a:bodyPr wrap="square" rtlCol="0" anchor="ctr"/>
              <a:lstStyle/>
              <a:p>
                <a:pPr defTabSz="1219170">
                  <a:buNone/>
                </a:pPr>
                <a14:m>
                  <m:oMathPara xmlns:m="http://schemas.openxmlformats.org/officeDocument/2006/math">
                    <m:oMathParaPr>
                      <m:jc m:val="left"/>
                    </m:oMathParaPr>
                    <m:oMath xmlns:m="http://schemas.openxmlformats.org/officeDocument/2006/math">
                      <m:f>
                        <m:fPr>
                          <m:ctrlPr>
                            <a:rPr lang="en-US" sz="1333" i="1" dirty="0">
                              <a:solidFill>
                                <a:srgbClr val="2D3E8F"/>
                              </a:solidFill>
                              <a:latin typeface="Cambria Math" panose="02040503050406030204" pitchFamily="18" charset="0"/>
                            </a:rPr>
                          </m:ctrlPr>
                        </m:fPr>
                        <m:num>
                          <m:r>
                            <a:rPr lang="en-US" sz="1333" dirty="0">
                              <a:solidFill>
                                <a:srgbClr val="2D3E8F"/>
                              </a:solidFill>
                              <a:latin typeface="Cambria Math" panose="02040503050406030204" pitchFamily="18" charset="0"/>
                            </a:rPr>
                            <m:t>𝑉𝑃</m:t>
                          </m:r>
                        </m:num>
                        <m:den>
                          <m:r>
                            <a:rPr lang="en-US" sz="1333" dirty="0">
                              <a:solidFill>
                                <a:srgbClr val="2D3E8F"/>
                              </a:solidFill>
                              <a:latin typeface="Cambria Math" panose="02040503050406030204" pitchFamily="18" charset="0"/>
                            </a:rPr>
                            <m:t>𝑉𝑃</m:t>
                          </m:r>
                          <m:r>
                            <a:rPr lang="en-US" sz="1333" dirty="0">
                              <a:solidFill>
                                <a:srgbClr val="2D3E8F"/>
                              </a:solidFill>
                              <a:latin typeface="Cambria Math" panose="02040503050406030204" pitchFamily="18" charset="0"/>
                            </a:rPr>
                            <m:t> + </m:t>
                          </m:r>
                          <m:r>
                            <a:rPr lang="en-US" sz="1333" dirty="0">
                              <a:solidFill>
                                <a:srgbClr val="2D3E8F"/>
                              </a:solidFill>
                              <a:latin typeface="Cambria Math" panose="02040503050406030204" pitchFamily="18" charset="0"/>
                            </a:rPr>
                            <m:t>𝐹𝑁</m:t>
                          </m:r>
                        </m:den>
                      </m:f>
                    </m:oMath>
                  </m:oMathPara>
                </a14:m>
                <a:endParaRPr/>
              </a:p>
            </p:txBody>
          </p:sp>
        </mc:Choice>
        <mc:Fallback xmlns="">
          <p:sp>
            <p:nvSpPr>
              <p:cNvPr id="30" name="Text 9">
                <a:extLst>
                  <a:ext uri="{FF2B5EF4-FFF2-40B4-BE49-F238E27FC236}">
                    <a16:creationId xmlns:a16="http://schemas.microsoft.com/office/drawing/2014/main" id="{39056AC8-6CE1-5FCE-824F-1C4BADC5915C}"/>
                  </a:ext>
                </a:extLst>
              </p:cNvPr>
              <p:cNvSpPr>
                <a:spLocks noRot="1" noChangeAspect="1" noMove="1" noResize="1" noEditPoints="1" noAdjustHandles="1" noChangeArrowheads="1" noChangeShapeType="1" noTextEdit="1"/>
              </p:cNvSpPr>
              <p:nvPr/>
            </p:nvSpPr>
            <p:spPr>
              <a:xfrm>
                <a:off x="6263637" y="3278337"/>
                <a:ext cx="2438400" cy="609600"/>
              </a:xfrm>
              <a:prstGeom prst="rect">
                <a:avLst/>
              </a:prstGeom>
              <a:blipFill>
                <a:blip r:embed="rId4"/>
                <a:stretch>
                  <a:fillRect/>
                </a:stretch>
              </a:blipFill>
              <a:ln/>
            </p:spPr>
            <p:txBody>
              <a:bodyPr/>
              <a:lstStyle/>
              <a:p>
                <a:r>
                  <a:rPr lang="fr-FR">
                    <a:noFill/>
                  </a:rPr>
                  <a:t> </a:t>
                </a:r>
              </a:p>
            </p:txBody>
          </p:sp>
        </mc:Fallback>
      </mc:AlternateContent>
      <p:sp>
        <p:nvSpPr>
          <p:cNvPr id="32" name="Text 10">
            <a:extLst>
              <a:ext uri="{FF2B5EF4-FFF2-40B4-BE49-F238E27FC236}">
                <a16:creationId xmlns:a16="http://schemas.microsoft.com/office/drawing/2014/main" id="{0B3DD9D0-D4FD-78BB-BC8B-5B57942DFE39}"/>
              </a:ext>
            </a:extLst>
          </p:cNvPr>
          <p:cNvSpPr/>
          <p:nvPr/>
        </p:nvSpPr>
        <p:spPr>
          <a:xfrm>
            <a:off x="8762997" y="3278337"/>
            <a:ext cx="2987040" cy="609600"/>
          </a:xfrm>
          <a:prstGeom prst="rect">
            <a:avLst/>
          </a:prstGeom>
          <a:noFill/>
          <a:ln/>
        </p:spPr>
        <p:txBody>
          <a:bodyPr wrap="square" rtlCol="0" anchor="ctr"/>
          <a:lstStyle/>
          <a:p>
            <a:pPr defTabSz="1219170"/>
            <a:r>
              <a:rPr lang="en-US" sz="1267" dirty="0">
                <a:solidFill>
                  <a:srgbClr val="64748B"/>
                </a:solidFill>
                <a:latin typeface="Calibri" panose="020F0502020204030204"/>
              </a:rPr>
              <a:t>Parmi les clients réellement en retard, combien sont détectés ?</a:t>
            </a:r>
            <a:endParaRPr lang="en-US" sz="1267" dirty="0">
              <a:solidFill>
                <a:prstClr val="black"/>
              </a:solidFill>
              <a:latin typeface="Calibri" panose="020F0502020204030204"/>
            </a:endParaRPr>
          </a:p>
        </p:txBody>
      </p:sp>
      <p:sp>
        <p:nvSpPr>
          <p:cNvPr id="34" name="Shape 11">
            <a:extLst>
              <a:ext uri="{FF2B5EF4-FFF2-40B4-BE49-F238E27FC236}">
                <a16:creationId xmlns:a16="http://schemas.microsoft.com/office/drawing/2014/main" id="{5990D21A-2102-BDBC-E7DB-D709F1B6DA65}"/>
              </a:ext>
            </a:extLst>
          </p:cNvPr>
          <p:cNvSpPr/>
          <p:nvPr/>
        </p:nvSpPr>
        <p:spPr>
          <a:xfrm>
            <a:off x="6080757" y="4046433"/>
            <a:ext cx="5730240" cy="1158240"/>
          </a:xfrm>
          <a:prstGeom prst="roundRect">
            <a:avLst>
              <a:gd name="adj" fmla="val 8421"/>
            </a:avLst>
          </a:prstGeom>
          <a:solidFill>
            <a:srgbClr val="FFFFFF"/>
          </a:solidFill>
          <a:ln w="6350">
            <a:solidFill>
              <a:srgbClr val="E2E8F0"/>
            </a:solidFill>
            <a:prstDash val="solid"/>
          </a:ln>
          <a:effectLst>
            <a:outerShdw blurRad="101600" dist="25400" dir="2700000" algn="bl" rotWithShape="0">
              <a:srgbClr val="000000">
                <a:alpha val="12000"/>
              </a:srgbClr>
            </a:outerShdw>
          </a:effectLst>
        </p:spPr>
        <p:txBody>
          <a:bodyPr/>
          <a:lstStyle/>
          <a:p>
            <a:endParaRPr lang="fr-FR"/>
          </a:p>
        </p:txBody>
      </p:sp>
      <p:sp>
        <p:nvSpPr>
          <p:cNvPr id="36" name="Text 12">
            <a:extLst>
              <a:ext uri="{FF2B5EF4-FFF2-40B4-BE49-F238E27FC236}">
                <a16:creationId xmlns:a16="http://schemas.microsoft.com/office/drawing/2014/main" id="{19536B64-4A2D-2875-F656-40E8609B9A16}"/>
              </a:ext>
            </a:extLst>
          </p:cNvPr>
          <p:cNvSpPr/>
          <p:nvPr/>
        </p:nvSpPr>
        <p:spPr>
          <a:xfrm>
            <a:off x="6263637" y="4143969"/>
            <a:ext cx="5364480" cy="390144"/>
          </a:xfrm>
          <a:prstGeom prst="rect">
            <a:avLst/>
          </a:prstGeom>
          <a:noFill/>
          <a:ln/>
        </p:spPr>
        <p:txBody>
          <a:bodyPr wrap="square" rtlCol="0" anchor="ctr"/>
          <a:lstStyle/>
          <a:p>
            <a:pPr defTabSz="1219170"/>
            <a:r>
              <a:rPr lang="en-US" sz="1600" b="1" dirty="0">
                <a:solidFill>
                  <a:srgbClr val="1E2761"/>
                </a:solidFill>
                <a:latin typeface="Calibri" panose="020F0502020204030204"/>
              </a:rPr>
              <a:t>F1-Score</a:t>
            </a:r>
            <a:endParaRPr lang="en-US" sz="1600" dirty="0">
              <a:solidFill>
                <a:prstClr val="black"/>
              </a:solidFill>
              <a:latin typeface="Calibri" panose="020F0502020204030204"/>
            </a:endParaRPr>
          </a:p>
        </p:txBody>
      </p:sp>
      <mc:AlternateContent xmlns:mc="http://schemas.openxmlformats.org/markup-compatibility/2006" xmlns:a14="http://schemas.microsoft.com/office/drawing/2010/main">
        <mc:Choice Requires="a14">
          <p:sp>
            <p:nvSpPr>
              <p:cNvPr id="38" name="Text 13">
                <a:extLst>
                  <a:ext uri="{FF2B5EF4-FFF2-40B4-BE49-F238E27FC236}">
                    <a16:creationId xmlns:a16="http://schemas.microsoft.com/office/drawing/2014/main" id="{9CCE8E8B-BF2B-70FB-88DB-8138EF95C054}"/>
                  </a:ext>
                </a:extLst>
              </p:cNvPr>
              <p:cNvSpPr/>
              <p:nvPr/>
            </p:nvSpPr>
            <p:spPr>
              <a:xfrm>
                <a:off x="6263637" y="4558497"/>
                <a:ext cx="2438400" cy="609600"/>
              </a:xfrm>
              <a:prstGeom prst="rect">
                <a:avLst/>
              </a:prstGeom>
              <a:noFill/>
              <a:ln/>
            </p:spPr>
            <p:txBody>
              <a:bodyPr wrap="square" rtlCol="0" anchor="ctr"/>
              <a:lstStyle/>
              <a:p>
                <a:pPr defTabSz="1219170">
                  <a:buNone/>
                </a:pPr>
                <a14:m>
                  <m:oMathPara xmlns:m="http://schemas.openxmlformats.org/officeDocument/2006/math">
                    <m:oMathParaPr>
                      <m:jc m:val="left"/>
                    </m:oMathParaPr>
                    <m:oMath xmlns:m="http://schemas.openxmlformats.org/officeDocument/2006/math">
                      <m:r>
                        <a:rPr lang="en-US" sz="1333" dirty="0">
                          <a:solidFill>
                            <a:srgbClr val="2D3E8F"/>
                          </a:solidFill>
                          <a:latin typeface="Cambria Math" panose="02040503050406030204" pitchFamily="18" charset="0"/>
                        </a:rPr>
                        <m:t>2 × </m:t>
                      </m:r>
                      <m:f>
                        <m:fPr>
                          <m:ctrlPr>
                            <a:rPr lang="en-US" sz="1333" i="1" dirty="0">
                              <a:solidFill>
                                <a:srgbClr val="2D3E8F"/>
                              </a:solidFill>
                              <a:latin typeface="Cambria Math" panose="02040503050406030204" pitchFamily="18" charset="0"/>
                            </a:rPr>
                          </m:ctrlPr>
                        </m:fPr>
                        <m:num>
                          <m:r>
                            <a:rPr lang="en-US" sz="1333" dirty="0">
                              <a:solidFill>
                                <a:srgbClr val="2D3E8F"/>
                              </a:solidFill>
                              <a:latin typeface="Cambria Math" panose="02040503050406030204" pitchFamily="18" charset="0"/>
                            </a:rPr>
                            <m:t>𝑃𝑟</m:t>
                          </m:r>
                          <m:r>
                            <a:rPr lang="en-US" sz="1333" dirty="0">
                              <a:solidFill>
                                <a:srgbClr val="2D3E8F"/>
                              </a:solidFill>
                              <a:latin typeface="Cambria Math" panose="02040503050406030204" pitchFamily="18" charset="0"/>
                            </a:rPr>
                            <m:t>é</m:t>
                          </m:r>
                          <m:r>
                            <a:rPr lang="en-US" sz="1333" dirty="0">
                              <a:solidFill>
                                <a:srgbClr val="2D3E8F"/>
                              </a:solidFill>
                              <a:latin typeface="Cambria Math" panose="02040503050406030204" pitchFamily="18" charset="0"/>
                            </a:rPr>
                            <m:t>𝑐</m:t>
                          </m:r>
                          <m:r>
                            <a:rPr lang="en-US" sz="1333" dirty="0">
                              <a:solidFill>
                                <a:srgbClr val="2D3E8F"/>
                              </a:solidFill>
                              <a:latin typeface="Cambria Math" panose="02040503050406030204" pitchFamily="18" charset="0"/>
                            </a:rPr>
                            <m:t>. × </m:t>
                          </m:r>
                          <m:r>
                            <a:rPr lang="en-US" sz="1333" dirty="0">
                              <a:solidFill>
                                <a:srgbClr val="2D3E8F"/>
                              </a:solidFill>
                              <a:latin typeface="Cambria Math" panose="02040503050406030204" pitchFamily="18" charset="0"/>
                            </a:rPr>
                            <m:t>𝑅𝑎𝑝𝑝𝑒𝑙</m:t>
                          </m:r>
                        </m:num>
                        <m:den>
                          <m:r>
                            <a:rPr lang="en-US" sz="1333" dirty="0">
                              <a:solidFill>
                                <a:srgbClr val="2D3E8F"/>
                              </a:solidFill>
                              <a:latin typeface="Cambria Math" panose="02040503050406030204" pitchFamily="18" charset="0"/>
                            </a:rPr>
                            <m:t>𝑃𝑟</m:t>
                          </m:r>
                          <m:r>
                            <a:rPr lang="en-US" sz="1333" dirty="0">
                              <a:solidFill>
                                <a:srgbClr val="2D3E8F"/>
                              </a:solidFill>
                              <a:latin typeface="Cambria Math" panose="02040503050406030204" pitchFamily="18" charset="0"/>
                            </a:rPr>
                            <m:t>é</m:t>
                          </m:r>
                          <m:r>
                            <a:rPr lang="en-US" sz="1333" dirty="0">
                              <a:solidFill>
                                <a:srgbClr val="2D3E8F"/>
                              </a:solidFill>
                              <a:latin typeface="Cambria Math" panose="02040503050406030204" pitchFamily="18" charset="0"/>
                            </a:rPr>
                            <m:t>𝑐</m:t>
                          </m:r>
                          <m:r>
                            <a:rPr lang="en-US" sz="1333" dirty="0">
                              <a:solidFill>
                                <a:srgbClr val="2D3E8F"/>
                              </a:solidFill>
                              <a:latin typeface="Cambria Math" panose="02040503050406030204" pitchFamily="18" charset="0"/>
                            </a:rPr>
                            <m:t>. + </m:t>
                          </m:r>
                          <m:r>
                            <a:rPr lang="en-US" sz="1333" dirty="0">
                              <a:solidFill>
                                <a:srgbClr val="2D3E8F"/>
                              </a:solidFill>
                              <a:latin typeface="Cambria Math" panose="02040503050406030204" pitchFamily="18" charset="0"/>
                            </a:rPr>
                            <m:t>𝑅𝑎𝑝𝑝𝑒𝑙</m:t>
                          </m:r>
                        </m:den>
                      </m:f>
                    </m:oMath>
                  </m:oMathPara>
                </a14:m>
                <a:endParaRPr/>
              </a:p>
            </p:txBody>
          </p:sp>
        </mc:Choice>
        <mc:Fallback xmlns="">
          <p:sp>
            <p:nvSpPr>
              <p:cNvPr id="38" name="Text 13">
                <a:extLst>
                  <a:ext uri="{FF2B5EF4-FFF2-40B4-BE49-F238E27FC236}">
                    <a16:creationId xmlns:a16="http://schemas.microsoft.com/office/drawing/2014/main" id="{9CCE8E8B-BF2B-70FB-88DB-8138EF95C054}"/>
                  </a:ext>
                </a:extLst>
              </p:cNvPr>
              <p:cNvSpPr>
                <a:spLocks noRot="1" noChangeAspect="1" noMove="1" noResize="1" noEditPoints="1" noAdjustHandles="1" noChangeArrowheads="1" noChangeShapeType="1" noTextEdit="1"/>
              </p:cNvSpPr>
              <p:nvPr/>
            </p:nvSpPr>
            <p:spPr>
              <a:xfrm>
                <a:off x="6263637" y="4558497"/>
                <a:ext cx="2438400" cy="609600"/>
              </a:xfrm>
              <a:prstGeom prst="rect">
                <a:avLst/>
              </a:prstGeom>
              <a:blipFill>
                <a:blip r:embed="rId5"/>
                <a:stretch>
                  <a:fillRect/>
                </a:stretch>
              </a:blipFill>
              <a:ln/>
            </p:spPr>
            <p:txBody>
              <a:bodyPr/>
              <a:lstStyle/>
              <a:p>
                <a:r>
                  <a:rPr lang="fr-FR">
                    <a:noFill/>
                  </a:rPr>
                  <a:t> </a:t>
                </a:r>
              </a:p>
            </p:txBody>
          </p:sp>
        </mc:Fallback>
      </mc:AlternateContent>
      <p:sp>
        <p:nvSpPr>
          <p:cNvPr id="40" name="Text 14">
            <a:extLst>
              <a:ext uri="{FF2B5EF4-FFF2-40B4-BE49-F238E27FC236}">
                <a16:creationId xmlns:a16="http://schemas.microsoft.com/office/drawing/2014/main" id="{172D79C1-AA56-F38B-0228-19FD1FC4855E}"/>
              </a:ext>
            </a:extLst>
          </p:cNvPr>
          <p:cNvSpPr/>
          <p:nvPr/>
        </p:nvSpPr>
        <p:spPr>
          <a:xfrm>
            <a:off x="8762997" y="4558497"/>
            <a:ext cx="2987040" cy="609600"/>
          </a:xfrm>
          <a:prstGeom prst="rect">
            <a:avLst/>
          </a:prstGeom>
          <a:noFill/>
          <a:ln/>
        </p:spPr>
        <p:txBody>
          <a:bodyPr wrap="square" rtlCol="0" anchor="ctr"/>
          <a:lstStyle/>
          <a:p>
            <a:pPr defTabSz="1219170"/>
            <a:r>
              <a:rPr lang="en-US" sz="1267" dirty="0">
                <a:solidFill>
                  <a:srgbClr val="64748B"/>
                </a:solidFill>
                <a:latin typeface="Calibri" panose="020F0502020204030204"/>
              </a:rPr>
              <a:t>Moyenne harmonique : équilibre précision et rappel.</a:t>
            </a:r>
            <a:endParaRPr lang="en-US" sz="1267" dirty="0">
              <a:solidFill>
                <a:prstClr val="black"/>
              </a:solidFill>
              <a:latin typeface="Calibri" panose="020F0502020204030204"/>
            </a:endParaRPr>
          </a:p>
        </p:txBody>
      </p:sp>
      <p:sp>
        <p:nvSpPr>
          <p:cNvPr id="42" name="Shape 15">
            <a:extLst>
              <a:ext uri="{FF2B5EF4-FFF2-40B4-BE49-F238E27FC236}">
                <a16:creationId xmlns:a16="http://schemas.microsoft.com/office/drawing/2014/main" id="{DB57EDB2-004C-4F1E-0EEF-DA7CADC7D42C}"/>
              </a:ext>
            </a:extLst>
          </p:cNvPr>
          <p:cNvSpPr/>
          <p:nvPr/>
        </p:nvSpPr>
        <p:spPr>
          <a:xfrm>
            <a:off x="6080757" y="5326593"/>
            <a:ext cx="5730240" cy="1158240"/>
          </a:xfrm>
          <a:prstGeom prst="roundRect">
            <a:avLst>
              <a:gd name="adj" fmla="val 8421"/>
            </a:avLst>
          </a:prstGeom>
          <a:solidFill>
            <a:srgbClr val="FFFFFF"/>
          </a:solidFill>
          <a:ln w="6350">
            <a:solidFill>
              <a:srgbClr val="E2E8F0"/>
            </a:solidFill>
            <a:prstDash val="solid"/>
          </a:ln>
          <a:effectLst>
            <a:outerShdw blurRad="101600" dist="25400" dir="2700000" algn="bl" rotWithShape="0">
              <a:srgbClr val="000000">
                <a:alpha val="12000"/>
              </a:srgbClr>
            </a:outerShdw>
          </a:effectLst>
        </p:spPr>
        <p:txBody>
          <a:bodyPr/>
          <a:lstStyle/>
          <a:p>
            <a:endParaRPr lang="fr-FR"/>
          </a:p>
        </p:txBody>
      </p:sp>
      <p:sp>
        <p:nvSpPr>
          <p:cNvPr id="44" name="Text 16">
            <a:extLst>
              <a:ext uri="{FF2B5EF4-FFF2-40B4-BE49-F238E27FC236}">
                <a16:creationId xmlns:a16="http://schemas.microsoft.com/office/drawing/2014/main" id="{B29579E2-4ACF-751D-BA67-368E35A3A9DE}"/>
              </a:ext>
            </a:extLst>
          </p:cNvPr>
          <p:cNvSpPr/>
          <p:nvPr/>
        </p:nvSpPr>
        <p:spPr>
          <a:xfrm>
            <a:off x="6263637" y="5424129"/>
            <a:ext cx="5364480" cy="390144"/>
          </a:xfrm>
          <a:prstGeom prst="rect">
            <a:avLst/>
          </a:prstGeom>
          <a:noFill/>
          <a:ln/>
        </p:spPr>
        <p:txBody>
          <a:bodyPr wrap="square" rtlCol="0" anchor="ctr"/>
          <a:lstStyle/>
          <a:p>
            <a:pPr defTabSz="1219170"/>
            <a:r>
              <a:rPr lang="en-US" sz="1600" b="1" dirty="0">
                <a:solidFill>
                  <a:srgbClr val="1E2761"/>
                </a:solidFill>
                <a:latin typeface="Calibri" panose="020F0502020204030204"/>
              </a:rPr>
              <a:t>Accuracy</a:t>
            </a:r>
            <a:endParaRPr lang="en-US" sz="1600" dirty="0">
              <a:solidFill>
                <a:prstClr val="black"/>
              </a:solidFill>
              <a:latin typeface="Calibri" panose="020F0502020204030204"/>
            </a:endParaRPr>
          </a:p>
        </p:txBody>
      </p:sp>
      <mc:AlternateContent xmlns:mc="http://schemas.openxmlformats.org/markup-compatibility/2006" xmlns:a14="http://schemas.microsoft.com/office/drawing/2010/main">
        <mc:Choice Requires="a14">
          <p:sp>
            <p:nvSpPr>
              <p:cNvPr id="46" name="Text 17">
                <a:extLst>
                  <a:ext uri="{FF2B5EF4-FFF2-40B4-BE49-F238E27FC236}">
                    <a16:creationId xmlns:a16="http://schemas.microsoft.com/office/drawing/2014/main" id="{9F7C5EFF-3A84-1615-C161-958A8C445459}"/>
                  </a:ext>
                </a:extLst>
              </p:cNvPr>
              <p:cNvSpPr/>
              <p:nvPr/>
            </p:nvSpPr>
            <p:spPr>
              <a:xfrm>
                <a:off x="6263637" y="5838657"/>
                <a:ext cx="2438400" cy="609600"/>
              </a:xfrm>
              <a:prstGeom prst="rect">
                <a:avLst/>
              </a:prstGeom>
              <a:noFill/>
              <a:ln/>
            </p:spPr>
            <p:txBody>
              <a:bodyPr wrap="square" rtlCol="0" anchor="ctr"/>
              <a:lstStyle/>
              <a:p>
                <a:pPr defTabSz="1219170">
                  <a:buNone/>
                </a:pPr>
                <a14:m>
                  <m:oMathPara xmlns:m="http://schemas.openxmlformats.org/officeDocument/2006/math">
                    <m:oMathParaPr>
                      <m:jc m:val="left"/>
                    </m:oMathParaPr>
                    <m:oMath xmlns:m="http://schemas.openxmlformats.org/officeDocument/2006/math">
                      <m:f>
                        <m:fPr>
                          <m:ctrlPr>
                            <a:rPr lang="en-US" sz="1333" i="1" dirty="0">
                              <a:solidFill>
                                <a:srgbClr val="2D3E8F"/>
                              </a:solidFill>
                              <a:latin typeface="Cambria Math" panose="02040503050406030204" pitchFamily="18" charset="0"/>
                            </a:rPr>
                          </m:ctrlPr>
                        </m:fPr>
                        <m:num>
                          <m:r>
                            <a:rPr lang="en-US" sz="1333" dirty="0">
                              <a:solidFill>
                                <a:srgbClr val="2D3E8F"/>
                              </a:solidFill>
                              <a:latin typeface="Cambria Math" panose="02040503050406030204" pitchFamily="18" charset="0"/>
                            </a:rPr>
                            <m:t>𝑉𝑃</m:t>
                          </m:r>
                          <m:r>
                            <a:rPr lang="en-US" sz="1333" dirty="0">
                              <a:solidFill>
                                <a:srgbClr val="2D3E8F"/>
                              </a:solidFill>
                              <a:latin typeface="Cambria Math" panose="02040503050406030204" pitchFamily="18" charset="0"/>
                            </a:rPr>
                            <m:t> + </m:t>
                          </m:r>
                          <m:r>
                            <a:rPr lang="en-US" sz="1333" dirty="0">
                              <a:solidFill>
                                <a:srgbClr val="2D3E8F"/>
                              </a:solidFill>
                              <a:latin typeface="Cambria Math" panose="02040503050406030204" pitchFamily="18" charset="0"/>
                            </a:rPr>
                            <m:t>𝑉𝑁</m:t>
                          </m:r>
                        </m:num>
                        <m:den>
                          <m:r>
                            <a:rPr lang="en-US" sz="1333" dirty="0">
                              <a:solidFill>
                                <a:srgbClr val="2D3E8F"/>
                              </a:solidFill>
                              <a:latin typeface="Cambria Math" panose="02040503050406030204" pitchFamily="18" charset="0"/>
                            </a:rPr>
                            <m:t>𝑉𝑃</m:t>
                          </m:r>
                          <m:r>
                            <a:rPr lang="en-US" sz="1333" dirty="0">
                              <a:solidFill>
                                <a:srgbClr val="2D3E8F"/>
                              </a:solidFill>
                              <a:latin typeface="Cambria Math" panose="02040503050406030204" pitchFamily="18" charset="0"/>
                            </a:rPr>
                            <m:t> + </m:t>
                          </m:r>
                          <m:r>
                            <a:rPr lang="en-US" sz="1333" dirty="0">
                              <a:solidFill>
                                <a:srgbClr val="2D3E8F"/>
                              </a:solidFill>
                              <a:latin typeface="Cambria Math" panose="02040503050406030204" pitchFamily="18" charset="0"/>
                            </a:rPr>
                            <m:t>𝑉𝑁</m:t>
                          </m:r>
                          <m:r>
                            <a:rPr lang="en-US" sz="1333" dirty="0">
                              <a:solidFill>
                                <a:srgbClr val="2D3E8F"/>
                              </a:solidFill>
                              <a:latin typeface="Cambria Math" panose="02040503050406030204" pitchFamily="18" charset="0"/>
                            </a:rPr>
                            <m:t> + </m:t>
                          </m:r>
                          <m:r>
                            <a:rPr lang="en-US" sz="1333" dirty="0">
                              <a:solidFill>
                                <a:srgbClr val="2D3E8F"/>
                              </a:solidFill>
                              <a:latin typeface="Cambria Math" panose="02040503050406030204" pitchFamily="18" charset="0"/>
                            </a:rPr>
                            <m:t>𝐹𝑃</m:t>
                          </m:r>
                          <m:r>
                            <a:rPr lang="en-US" sz="1333" dirty="0">
                              <a:solidFill>
                                <a:srgbClr val="2D3E8F"/>
                              </a:solidFill>
                              <a:latin typeface="Cambria Math" panose="02040503050406030204" pitchFamily="18" charset="0"/>
                            </a:rPr>
                            <m:t> + </m:t>
                          </m:r>
                          <m:r>
                            <a:rPr lang="en-US" sz="1333" dirty="0">
                              <a:solidFill>
                                <a:srgbClr val="2D3E8F"/>
                              </a:solidFill>
                              <a:latin typeface="Cambria Math" panose="02040503050406030204" pitchFamily="18" charset="0"/>
                            </a:rPr>
                            <m:t>𝐹𝑁</m:t>
                          </m:r>
                        </m:den>
                      </m:f>
                    </m:oMath>
                  </m:oMathPara>
                </a14:m>
                <a:endParaRPr/>
              </a:p>
            </p:txBody>
          </p:sp>
        </mc:Choice>
        <mc:Fallback xmlns="">
          <p:sp>
            <p:nvSpPr>
              <p:cNvPr id="46" name="Text 17">
                <a:extLst>
                  <a:ext uri="{FF2B5EF4-FFF2-40B4-BE49-F238E27FC236}">
                    <a16:creationId xmlns:a16="http://schemas.microsoft.com/office/drawing/2014/main" id="{9F7C5EFF-3A84-1615-C161-958A8C445459}"/>
                  </a:ext>
                </a:extLst>
              </p:cNvPr>
              <p:cNvSpPr>
                <a:spLocks noRot="1" noChangeAspect="1" noMove="1" noResize="1" noEditPoints="1" noAdjustHandles="1" noChangeArrowheads="1" noChangeShapeType="1" noTextEdit="1"/>
              </p:cNvSpPr>
              <p:nvPr/>
            </p:nvSpPr>
            <p:spPr>
              <a:xfrm>
                <a:off x="6263637" y="5838657"/>
                <a:ext cx="2438400" cy="609600"/>
              </a:xfrm>
              <a:prstGeom prst="rect">
                <a:avLst/>
              </a:prstGeom>
              <a:blipFill>
                <a:blip r:embed="rId6"/>
                <a:stretch>
                  <a:fillRect/>
                </a:stretch>
              </a:blipFill>
              <a:ln/>
            </p:spPr>
            <p:txBody>
              <a:bodyPr/>
              <a:lstStyle/>
              <a:p>
                <a:r>
                  <a:rPr lang="fr-FR">
                    <a:noFill/>
                  </a:rPr>
                  <a:t> </a:t>
                </a:r>
              </a:p>
            </p:txBody>
          </p:sp>
        </mc:Fallback>
      </mc:AlternateContent>
      <p:sp>
        <p:nvSpPr>
          <p:cNvPr id="3" name="Text 14">
            <a:extLst>
              <a:ext uri="{FF2B5EF4-FFF2-40B4-BE49-F238E27FC236}">
                <a16:creationId xmlns:a16="http://schemas.microsoft.com/office/drawing/2014/main" id="{B674743E-038F-458D-3D33-CA8A15EF2D66}"/>
              </a:ext>
            </a:extLst>
          </p:cNvPr>
          <p:cNvSpPr/>
          <p:nvPr/>
        </p:nvSpPr>
        <p:spPr>
          <a:xfrm>
            <a:off x="8850745" y="5468275"/>
            <a:ext cx="2987040" cy="609600"/>
          </a:xfrm>
          <a:prstGeom prst="rect">
            <a:avLst/>
          </a:prstGeom>
          <a:noFill/>
          <a:ln/>
        </p:spPr>
        <p:txBody>
          <a:bodyPr wrap="square" rtlCol="0" anchor="ctr"/>
          <a:lstStyle/>
          <a:p>
            <a:pPr defTabSz="1219170"/>
            <a:r>
              <a:rPr lang="fr-FR" sz="1267" dirty="0">
                <a:solidFill>
                  <a:srgbClr val="64748B"/>
                </a:solidFill>
                <a:latin typeface="Calibri" panose="020F0502020204030204"/>
              </a:rPr>
              <a:t>La capacité de notre modèle à séparer les classes.</a:t>
            </a:r>
            <a:endParaRPr lang="fr-FR" sz="1267" dirty="0">
              <a:solidFill>
                <a:prstClr val="black"/>
              </a:solidFill>
              <a:latin typeface="Calibri" panose="020F0502020204030204"/>
            </a:endParaRPr>
          </a:p>
        </p:txBody>
      </p:sp>
    </p:spTree>
    <p:extLst>
      <p:ext uri="{BB962C8B-B14F-4D97-AF65-F5344CB8AC3E}">
        <p14:creationId xmlns:p14="http://schemas.microsoft.com/office/powerpoint/2010/main" val="8799180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9AD5A4-F82F-0ACE-878A-BABB9F098F87}"/>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5A3A0528-D5B1-E320-CFC8-8A283386647B}"/>
              </a:ext>
            </a:extLst>
          </p:cNvPr>
          <p:cNvSpPr txBox="1">
            <a:spLocks/>
          </p:cNvSpPr>
          <p:nvPr/>
        </p:nvSpPr>
        <p:spPr>
          <a:xfrm>
            <a:off x="1847426" y="680907"/>
            <a:ext cx="8000324" cy="729114"/>
          </a:xfrm>
          <a:prstGeom prst="rect">
            <a:avLst/>
          </a:prstGeom>
          <a:ln w="19050">
            <a:noFill/>
          </a:ln>
          <a:effectLst>
            <a:reflection blurRad="6350" stA="52000" endA="300" endPos="35000" dir="5400000" sy="-100000" algn="bl" rotWithShape="0"/>
          </a:effectLst>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n-lt"/>
                <a:ea typeface="+mj-ea"/>
                <a:cs typeface="+mj-cs"/>
              </a:defRPr>
            </a:lvl1pPr>
          </a:lstStyle>
          <a:p>
            <a:r>
              <a:rPr lang="fr-FR" sz="3600" b="1" dirty="0">
                <a:solidFill>
                  <a:srgbClr val="002060"/>
                </a:solidFill>
                <a:latin typeface="+mn-lt" panose="02020603050405020304" pitchFamily="18" charset="0"/>
                <a:cs typeface="+mn-cs" panose="02020603050405020304" pitchFamily="18" charset="0"/>
              </a:rPr>
              <a:t>Processus de Machine Learning</a:t>
            </a:r>
          </a:p>
        </p:txBody>
      </p:sp>
      <p:grpSp>
        <p:nvGrpSpPr>
          <p:cNvPr id="14" name="Groupe 13">
            <a:extLst>
              <a:ext uri="{FF2B5EF4-FFF2-40B4-BE49-F238E27FC236}">
                <a16:creationId xmlns:a16="http://schemas.microsoft.com/office/drawing/2014/main" id="{2AF135BA-FBCB-1DB3-ED20-3DA37C62051C}"/>
              </a:ext>
            </a:extLst>
          </p:cNvPr>
          <p:cNvGrpSpPr/>
          <p:nvPr/>
        </p:nvGrpSpPr>
        <p:grpSpPr>
          <a:xfrm>
            <a:off x="11081151" y="124008"/>
            <a:ext cx="1002497" cy="997548"/>
            <a:chOff x="11081151" y="124008"/>
            <a:chExt cx="1002497" cy="997548"/>
          </a:xfrm>
        </p:grpSpPr>
        <p:grpSp>
          <p:nvGrpSpPr>
            <p:cNvPr id="15" name="Groupe 14">
              <a:extLst>
                <a:ext uri="{FF2B5EF4-FFF2-40B4-BE49-F238E27FC236}">
                  <a16:creationId xmlns:a16="http://schemas.microsoft.com/office/drawing/2014/main" id="{23F08515-8374-3A9B-2350-0E6616F23EAF}"/>
                </a:ext>
              </a:extLst>
            </p:cNvPr>
            <p:cNvGrpSpPr/>
            <p:nvPr/>
          </p:nvGrpSpPr>
          <p:grpSpPr>
            <a:xfrm>
              <a:off x="11081151" y="124008"/>
              <a:ext cx="1002497" cy="997548"/>
              <a:chOff x="6263169" y="2855357"/>
              <a:chExt cx="600075" cy="612815"/>
            </a:xfrm>
          </p:grpSpPr>
          <p:sp>
            <p:nvSpPr>
              <p:cNvPr id="17" name="Organigramme : Connecteur 16">
                <a:extLst>
                  <a:ext uri="{FF2B5EF4-FFF2-40B4-BE49-F238E27FC236}">
                    <a16:creationId xmlns:a16="http://schemas.microsoft.com/office/drawing/2014/main" id="{CBA9C254-ED11-E92C-8CC5-AE35F12A9752}"/>
                  </a:ext>
                </a:extLst>
              </p:cNvPr>
              <p:cNvSpPr/>
              <p:nvPr/>
            </p:nvSpPr>
            <p:spPr>
              <a:xfrm>
                <a:off x="6263169" y="2855357"/>
                <a:ext cx="600075" cy="612815"/>
              </a:xfrm>
              <a:prstGeom prst="flowChartConnector">
                <a:avLst/>
              </a:prstGeom>
              <a:solidFill>
                <a:schemeClr val="bg1"/>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I"/>
              </a:p>
            </p:txBody>
          </p:sp>
          <p:sp>
            <p:nvSpPr>
              <p:cNvPr id="18" name="Organigramme : Connecteur 17">
                <a:extLst>
                  <a:ext uri="{FF2B5EF4-FFF2-40B4-BE49-F238E27FC236}">
                    <a16:creationId xmlns:a16="http://schemas.microsoft.com/office/drawing/2014/main" id="{A792C533-C34E-DD25-4A51-00373AF4C400}"/>
                  </a:ext>
                </a:extLst>
              </p:cNvPr>
              <p:cNvSpPr/>
              <p:nvPr/>
            </p:nvSpPr>
            <p:spPr>
              <a:xfrm>
                <a:off x="6370324" y="2964924"/>
                <a:ext cx="385763" cy="393680"/>
              </a:xfrm>
              <a:prstGeom prst="flowChartConnector">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I" dirty="0"/>
              </a:p>
            </p:txBody>
          </p:sp>
        </p:grpSp>
        <p:pic>
          <p:nvPicPr>
            <p:cNvPr id="16" name="Graphic 1031">
              <a:extLst>
                <a:ext uri="{FF2B5EF4-FFF2-40B4-BE49-F238E27FC236}">
                  <a16:creationId xmlns:a16="http://schemas.microsoft.com/office/drawing/2014/main" id="{3A9359E4-CA0A-31FA-78EA-6E6DD10B3F9A}"/>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1353797" y="394182"/>
              <a:ext cx="457200" cy="457200"/>
            </a:xfrm>
            <a:prstGeom prst="rect">
              <a:avLst/>
            </a:prstGeom>
          </p:spPr>
        </p:pic>
      </p:grpSp>
      <p:sp>
        <p:nvSpPr>
          <p:cNvPr id="19" name="ZoneTexte 18">
            <a:extLst>
              <a:ext uri="{FF2B5EF4-FFF2-40B4-BE49-F238E27FC236}">
                <a16:creationId xmlns:a16="http://schemas.microsoft.com/office/drawing/2014/main" id="{8770711D-5F7B-640A-BDE2-6CE16FEB4C24}"/>
              </a:ext>
            </a:extLst>
          </p:cNvPr>
          <p:cNvSpPr txBox="1"/>
          <p:nvPr/>
        </p:nvSpPr>
        <p:spPr>
          <a:xfrm>
            <a:off x="80035" y="40933"/>
            <a:ext cx="5767553" cy="369332"/>
          </a:xfrm>
          <a:prstGeom prst="rect">
            <a:avLst/>
          </a:prstGeom>
          <a:noFill/>
          <a:effectLst>
            <a:reflection stA="63000" endPos="11000" dist="50800" dir="5400000" sy="-100000" algn="bl" rotWithShape="0"/>
          </a:effectLst>
        </p:spPr>
        <p:txBody>
          <a:bodyPr wrap="square" rtlCol="0">
            <a:spAutoFit/>
          </a:bodyPr>
          <a:lstStyle/>
          <a:p>
            <a:r>
              <a:rPr lang="fr-CI" b="1" dirty="0">
                <a:solidFill>
                  <a:schemeClr val="accent1">
                    <a:lumMod val="50000"/>
                  </a:schemeClr>
                </a:solidFill>
                <a:latin typeface="+mn-lt" panose="020E0705020206020404" pitchFamily="34" charset="0"/>
              </a:rPr>
              <a:t>Partie 4 : Modélisation &amp; Résultats</a:t>
            </a:r>
          </a:p>
        </p:txBody>
      </p:sp>
      <p:sp>
        <p:nvSpPr>
          <p:cNvPr id="300" name="Étape 1"/>
          <p:cNvSpPr/>
          <p:nvPr/>
        </p:nvSpPr>
        <p:spPr>
          <a:xfrm>
            <a:off x="3556000" y="1778000"/>
            <a:ext cx="5080000" cy="558800"/>
          </a:xfrm>
          <a:prstGeom prst="roundRect">
            <a:avLst>
              <a:gd name="adj" fmla="val 18000"/>
            </a:avLst>
          </a:prstGeom>
          <a:solidFill>
            <a:srgbClr val="FFFFFF"/>
          </a:solidFill>
          <a:ln w="12700">
            <a:solidFill>
              <a:srgbClr val="0B66AE"/>
            </a:solidFill>
          </a:ln>
        </p:spPr>
        <p:txBody>
          <a:bodyPr lIns="45720" tIns="0" rIns="45720" bIns="0" anchor="ctr"/>
          <a:lstStyle/>
          <a:p>
            <a:pPr algn="ctr">
              <a:buNone/>
            </a:pPr>
            <a:r>
              <a:rPr lang="fr-FR" sz="1500" b="1" dirty="0">
                <a:solidFill>
                  <a:srgbClr val="002060"/>
                </a:solidFill>
              </a:rPr>
              <a:t>Collecte des données</a:t>
            </a:r>
          </a:p>
        </p:txBody>
      </p:sp>
      <p:sp>
        <p:nvSpPr>
          <p:cNvPr id="301" name="Numéro 1"/>
          <p:cNvSpPr/>
          <p:nvPr/>
        </p:nvSpPr>
        <p:spPr>
          <a:xfrm>
            <a:off x="3327400" y="1854200"/>
            <a:ext cx="406400" cy="406400"/>
          </a:xfrm>
          <a:prstGeom prst="ellipse">
            <a:avLst/>
          </a:prstGeom>
          <a:solidFill>
            <a:srgbClr val="232055"/>
          </a:solidFill>
          <a:ln>
            <a:noFill/>
          </a:ln>
        </p:spPr>
        <p:txBody>
          <a:bodyPr wrap="none" lIns="0" tIns="0" rIns="0" bIns="0" anchor="ctr"/>
          <a:lstStyle/>
          <a:p>
            <a:pPr algn="ctr">
              <a:buNone/>
            </a:pPr>
            <a:r>
              <a:rPr lang="fr-FR" sz="1400" b="1" dirty="0">
                <a:solidFill>
                  <a:srgbClr val="FFFFFF"/>
                </a:solidFill>
              </a:rPr>
              <a:t>1</a:t>
            </a:r>
          </a:p>
        </p:txBody>
      </p:sp>
      <p:sp>
        <p:nvSpPr>
          <p:cNvPr id="302" name="Flèche 1"/>
          <p:cNvSpPr/>
          <p:nvPr/>
        </p:nvSpPr>
        <p:spPr>
          <a:xfrm>
            <a:off x="5943600" y="2336800"/>
            <a:ext cx="304800" cy="152400"/>
          </a:xfrm>
          <a:prstGeom prst="downArrow">
            <a:avLst>
              <a:gd name="adj1" fmla="val 40000"/>
              <a:gd name="adj2" fmla="val 50000"/>
            </a:avLst>
          </a:prstGeom>
          <a:solidFill>
            <a:srgbClr val="7CC688"/>
          </a:solidFill>
          <a:ln>
            <a:noFill/>
          </a:ln>
        </p:spPr>
        <p:txBody>
          <a:bodyPr/>
          <a:lstStyle/>
          <a:p>
            <a:endParaRPr lang="fr-FR"/>
          </a:p>
        </p:txBody>
      </p:sp>
      <p:sp>
        <p:nvSpPr>
          <p:cNvPr id="303" name="Étape 2"/>
          <p:cNvSpPr/>
          <p:nvPr/>
        </p:nvSpPr>
        <p:spPr>
          <a:xfrm>
            <a:off x="3556000" y="2489200"/>
            <a:ext cx="5080000" cy="558800"/>
          </a:xfrm>
          <a:prstGeom prst="roundRect">
            <a:avLst>
              <a:gd name="adj" fmla="val 18000"/>
            </a:avLst>
          </a:prstGeom>
          <a:solidFill>
            <a:srgbClr val="FFFFFF"/>
          </a:solidFill>
          <a:ln w="12700">
            <a:solidFill>
              <a:srgbClr val="0B66AE"/>
            </a:solidFill>
          </a:ln>
        </p:spPr>
        <p:txBody>
          <a:bodyPr lIns="45720" tIns="0" rIns="45720" bIns="0" anchor="ctr"/>
          <a:lstStyle/>
          <a:p>
            <a:pPr algn="ctr">
              <a:buNone/>
            </a:pPr>
            <a:r>
              <a:rPr lang="fr-FR" sz="1500" b="1" dirty="0">
                <a:solidFill>
                  <a:srgbClr val="002060"/>
                </a:solidFill>
              </a:rPr>
              <a:t>Prétraitement des données</a:t>
            </a:r>
          </a:p>
        </p:txBody>
      </p:sp>
      <p:sp>
        <p:nvSpPr>
          <p:cNvPr id="304" name="Numéro 2"/>
          <p:cNvSpPr/>
          <p:nvPr/>
        </p:nvSpPr>
        <p:spPr>
          <a:xfrm>
            <a:off x="3327400" y="2565400"/>
            <a:ext cx="406400" cy="406400"/>
          </a:xfrm>
          <a:prstGeom prst="ellipse">
            <a:avLst/>
          </a:prstGeom>
          <a:solidFill>
            <a:srgbClr val="232055"/>
          </a:solidFill>
          <a:ln>
            <a:noFill/>
          </a:ln>
        </p:spPr>
        <p:txBody>
          <a:bodyPr wrap="none" lIns="0" tIns="0" rIns="0" bIns="0" anchor="ctr"/>
          <a:lstStyle/>
          <a:p>
            <a:pPr algn="ctr">
              <a:buNone/>
            </a:pPr>
            <a:r>
              <a:rPr lang="fr-FR" sz="1400" b="1" dirty="0">
                <a:solidFill>
                  <a:srgbClr val="FFFFFF"/>
                </a:solidFill>
              </a:rPr>
              <a:t>2</a:t>
            </a:r>
          </a:p>
        </p:txBody>
      </p:sp>
      <p:sp>
        <p:nvSpPr>
          <p:cNvPr id="305" name="Flèche 2"/>
          <p:cNvSpPr/>
          <p:nvPr/>
        </p:nvSpPr>
        <p:spPr>
          <a:xfrm>
            <a:off x="5943600" y="3048000"/>
            <a:ext cx="304800" cy="152400"/>
          </a:xfrm>
          <a:prstGeom prst="downArrow">
            <a:avLst>
              <a:gd name="adj1" fmla="val 40000"/>
              <a:gd name="adj2" fmla="val 50000"/>
            </a:avLst>
          </a:prstGeom>
          <a:solidFill>
            <a:srgbClr val="7CC688"/>
          </a:solidFill>
          <a:ln>
            <a:noFill/>
          </a:ln>
        </p:spPr>
        <p:txBody>
          <a:bodyPr/>
          <a:lstStyle/>
          <a:p>
            <a:endParaRPr lang="fr-FR"/>
          </a:p>
        </p:txBody>
      </p:sp>
      <p:sp>
        <p:nvSpPr>
          <p:cNvPr id="306" name="Étape 3"/>
          <p:cNvSpPr/>
          <p:nvPr/>
        </p:nvSpPr>
        <p:spPr>
          <a:xfrm>
            <a:off x="3556000" y="3200400"/>
            <a:ext cx="5080000" cy="558800"/>
          </a:xfrm>
          <a:prstGeom prst="roundRect">
            <a:avLst>
              <a:gd name="adj" fmla="val 18000"/>
            </a:avLst>
          </a:prstGeom>
          <a:solidFill>
            <a:srgbClr val="FFFFFF"/>
          </a:solidFill>
          <a:ln w="12700">
            <a:solidFill>
              <a:srgbClr val="0B66AE"/>
            </a:solidFill>
          </a:ln>
        </p:spPr>
        <p:txBody>
          <a:bodyPr lIns="45720" tIns="0" rIns="45720" bIns="0" anchor="ctr"/>
          <a:lstStyle/>
          <a:p>
            <a:pPr algn="ctr">
              <a:buNone/>
            </a:pPr>
            <a:r>
              <a:rPr lang="fr-FR" sz="1500" b="1" dirty="0">
                <a:solidFill>
                  <a:srgbClr val="002060"/>
                </a:solidFill>
              </a:rPr>
              <a:t>Sélection des meilleures </a:t>
            </a:r>
            <a:r>
              <a:rPr lang="fr-FR" sz="1500" b="1" dirty="0" err="1">
                <a:solidFill>
                  <a:srgbClr val="002060"/>
                </a:solidFill>
              </a:rPr>
              <a:t>varaiables</a:t>
            </a:r>
            <a:endParaRPr lang="fr-FR" sz="1500" b="1" dirty="0">
              <a:solidFill>
                <a:srgbClr val="002060"/>
              </a:solidFill>
            </a:endParaRPr>
          </a:p>
        </p:txBody>
      </p:sp>
      <p:sp>
        <p:nvSpPr>
          <p:cNvPr id="307" name="Numéro 3"/>
          <p:cNvSpPr/>
          <p:nvPr/>
        </p:nvSpPr>
        <p:spPr>
          <a:xfrm>
            <a:off x="3327400" y="3276600"/>
            <a:ext cx="406400" cy="406400"/>
          </a:xfrm>
          <a:prstGeom prst="ellipse">
            <a:avLst/>
          </a:prstGeom>
          <a:solidFill>
            <a:srgbClr val="232055"/>
          </a:solidFill>
          <a:ln>
            <a:noFill/>
          </a:ln>
        </p:spPr>
        <p:txBody>
          <a:bodyPr wrap="none" lIns="0" tIns="0" rIns="0" bIns="0" anchor="ctr"/>
          <a:lstStyle/>
          <a:p>
            <a:pPr algn="ctr">
              <a:buNone/>
            </a:pPr>
            <a:r>
              <a:rPr lang="fr-FR" sz="1400" b="1" dirty="0">
                <a:solidFill>
                  <a:srgbClr val="FFFFFF"/>
                </a:solidFill>
              </a:rPr>
              <a:t>3</a:t>
            </a:r>
          </a:p>
        </p:txBody>
      </p:sp>
      <p:sp>
        <p:nvSpPr>
          <p:cNvPr id="308" name="Flèche 3"/>
          <p:cNvSpPr/>
          <p:nvPr/>
        </p:nvSpPr>
        <p:spPr>
          <a:xfrm>
            <a:off x="5943600" y="3759200"/>
            <a:ext cx="304800" cy="152400"/>
          </a:xfrm>
          <a:prstGeom prst="downArrow">
            <a:avLst>
              <a:gd name="adj1" fmla="val 40000"/>
              <a:gd name="adj2" fmla="val 50000"/>
            </a:avLst>
          </a:prstGeom>
          <a:solidFill>
            <a:srgbClr val="7CC688"/>
          </a:solidFill>
          <a:ln>
            <a:noFill/>
          </a:ln>
        </p:spPr>
        <p:txBody>
          <a:bodyPr/>
          <a:lstStyle/>
          <a:p>
            <a:endParaRPr lang="fr-FR"/>
          </a:p>
        </p:txBody>
      </p:sp>
      <p:sp>
        <p:nvSpPr>
          <p:cNvPr id="309" name="Étape 4"/>
          <p:cNvSpPr/>
          <p:nvPr/>
        </p:nvSpPr>
        <p:spPr>
          <a:xfrm>
            <a:off x="3556000" y="3911600"/>
            <a:ext cx="5080000" cy="558800"/>
          </a:xfrm>
          <a:prstGeom prst="roundRect">
            <a:avLst>
              <a:gd name="adj" fmla="val 18000"/>
            </a:avLst>
          </a:prstGeom>
          <a:solidFill>
            <a:srgbClr val="FFFFFF"/>
          </a:solidFill>
          <a:ln w="12700">
            <a:solidFill>
              <a:srgbClr val="0B66AE"/>
            </a:solidFill>
          </a:ln>
        </p:spPr>
        <p:txBody>
          <a:bodyPr lIns="45720" tIns="0" rIns="45720" bIns="0" anchor="ctr"/>
          <a:lstStyle/>
          <a:p>
            <a:pPr algn="ctr"/>
            <a:r>
              <a:rPr lang="fr-FR" sz="1500" b="1" dirty="0">
                <a:solidFill>
                  <a:srgbClr val="002060"/>
                </a:solidFill>
              </a:rPr>
              <a:t>Séparation Train / Test</a:t>
            </a:r>
          </a:p>
        </p:txBody>
      </p:sp>
      <p:sp>
        <p:nvSpPr>
          <p:cNvPr id="310" name="Numéro 4"/>
          <p:cNvSpPr/>
          <p:nvPr/>
        </p:nvSpPr>
        <p:spPr>
          <a:xfrm>
            <a:off x="3327400" y="3987800"/>
            <a:ext cx="406400" cy="406400"/>
          </a:xfrm>
          <a:prstGeom prst="ellipse">
            <a:avLst/>
          </a:prstGeom>
          <a:solidFill>
            <a:srgbClr val="232055"/>
          </a:solidFill>
          <a:ln>
            <a:noFill/>
          </a:ln>
        </p:spPr>
        <p:txBody>
          <a:bodyPr wrap="none" lIns="0" tIns="0" rIns="0" bIns="0" anchor="ctr"/>
          <a:lstStyle/>
          <a:p>
            <a:pPr algn="ctr">
              <a:buNone/>
            </a:pPr>
            <a:r>
              <a:rPr lang="fr-FR" sz="1400" b="1" dirty="0">
                <a:solidFill>
                  <a:srgbClr val="FFFFFF"/>
                </a:solidFill>
              </a:rPr>
              <a:t>4</a:t>
            </a:r>
          </a:p>
        </p:txBody>
      </p:sp>
      <p:sp>
        <p:nvSpPr>
          <p:cNvPr id="311" name="Flèche 4"/>
          <p:cNvSpPr/>
          <p:nvPr/>
        </p:nvSpPr>
        <p:spPr>
          <a:xfrm>
            <a:off x="5943600" y="4470400"/>
            <a:ext cx="304800" cy="152400"/>
          </a:xfrm>
          <a:prstGeom prst="downArrow">
            <a:avLst>
              <a:gd name="adj1" fmla="val 40000"/>
              <a:gd name="adj2" fmla="val 50000"/>
            </a:avLst>
          </a:prstGeom>
          <a:solidFill>
            <a:srgbClr val="7CC688"/>
          </a:solidFill>
          <a:ln>
            <a:noFill/>
          </a:ln>
        </p:spPr>
        <p:txBody>
          <a:bodyPr/>
          <a:lstStyle/>
          <a:p>
            <a:endParaRPr lang="fr-FR"/>
          </a:p>
        </p:txBody>
      </p:sp>
      <p:sp>
        <p:nvSpPr>
          <p:cNvPr id="312" name="Étape 5"/>
          <p:cNvSpPr/>
          <p:nvPr/>
        </p:nvSpPr>
        <p:spPr>
          <a:xfrm>
            <a:off x="3556000" y="4622800"/>
            <a:ext cx="5080000" cy="558800"/>
          </a:xfrm>
          <a:prstGeom prst="roundRect">
            <a:avLst>
              <a:gd name="adj" fmla="val 18000"/>
            </a:avLst>
          </a:prstGeom>
          <a:solidFill>
            <a:srgbClr val="FFFFFF"/>
          </a:solidFill>
          <a:ln w="12700">
            <a:solidFill>
              <a:srgbClr val="0B66AE"/>
            </a:solidFill>
          </a:ln>
        </p:spPr>
        <p:txBody>
          <a:bodyPr lIns="45720" tIns="0" rIns="45720" bIns="0" anchor="ctr"/>
          <a:lstStyle/>
          <a:p>
            <a:pPr algn="ctr">
              <a:buNone/>
            </a:pPr>
            <a:r>
              <a:rPr lang="fr-FR" sz="1500" b="1" dirty="0">
                <a:solidFill>
                  <a:srgbClr val="002060"/>
                </a:solidFill>
              </a:rPr>
              <a:t>Entraînement du modèle</a:t>
            </a:r>
          </a:p>
        </p:txBody>
      </p:sp>
      <p:sp>
        <p:nvSpPr>
          <p:cNvPr id="313" name="Numéro 5"/>
          <p:cNvSpPr/>
          <p:nvPr/>
        </p:nvSpPr>
        <p:spPr>
          <a:xfrm>
            <a:off x="3327400" y="4699000"/>
            <a:ext cx="406400" cy="406400"/>
          </a:xfrm>
          <a:prstGeom prst="ellipse">
            <a:avLst/>
          </a:prstGeom>
          <a:solidFill>
            <a:srgbClr val="232055"/>
          </a:solidFill>
          <a:ln>
            <a:noFill/>
          </a:ln>
        </p:spPr>
        <p:txBody>
          <a:bodyPr wrap="none" lIns="0" tIns="0" rIns="0" bIns="0" anchor="ctr"/>
          <a:lstStyle/>
          <a:p>
            <a:pPr algn="ctr">
              <a:buNone/>
            </a:pPr>
            <a:r>
              <a:rPr lang="fr-FR" sz="1400" b="1" dirty="0">
                <a:solidFill>
                  <a:srgbClr val="FFFFFF"/>
                </a:solidFill>
              </a:rPr>
              <a:t>5</a:t>
            </a:r>
          </a:p>
        </p:txBody>
      </p:sp>
      <p:sp>
        <p:nvSpPr>
          <p:cNvPr id="314" name="Flèche 5"/>
          <p:cNvSpPr/>
          <p:nvPr/>
        </p:nvSpPr>
        <p:spPr>
          <a:xfrm>
            <a:off x="5943600" y="5181600"/>
            <a:ext cx="304800" cy="152400"/>
          </a:xfrm>
          <a:prstGeom prst="downArrow">
            <a:avLst>
              <a:gd name="adj1" fmla="val 40000"/>
              <a:gd name="adj2" fmla="val 50000"/>
            </a:avLst>
          </a:prstGeom>
          <a:solidFill>
            <a:srgbClr val="7CC688"/>
          </a:solidFill>
          <a:ln>
            <a:noFill/>
          </a:ln>
        </p:spPr>
        <p:txBody>
          <a:bodyPr/>
          <a:lstStyle/>
          <a:p>
            <a:endParaRPr lang="fr-FR"/>
          </a:p>
        </p:txBody>
      </p:sp>
      <p:sp>
        <p:nvSpPr>
          <p:cNvPr id="315" name="Étape 6"/>
          <p:cNvSpPr/>
          <p:nvPr/>
        </p:nvSpPr>
        <p:spPr>
          <a:xfrm>
            <a:off x="3556000" y="5334000"/>
            <a:ext cx="5080000" cy="558800"/>
          </a:xfrm>
          <a:prstGeom prst="roundRect">
            <a:avLst>
              <a:gd name="adj" fmla="val 18000"/>
            </a:avLst>
          </a:prstGeom>
          <a:solidFill>
            <a:srgbClr val="FFFFFF"/>
          </a:solidFill>
          <a:ln w="12700">
            <a:solidFill>
              <a:srgbClr val="0B66AE"/>
            </a:solidFill>
          </a:ln>
        </p:spPr>
        <p:txBody>
          <a:bodyPr lIns="45720" tIns="0" rIns="45720" bIns="0" anchor="ctr"/>
          <a:lstStyle/>
          <a:p>
            <a:pPr algn="ctr">
              <a:buNone/>
            </a:pPr>
            <a:r>
              <a:rPr lang="fr-FR" sz="1500" b="1" dirty="0">
                <a:solidFill>
                  <a:srgbClr val="002060"/>
                </a:solidFill>
              </a:rPr>
              <a:t>Évaluation des performances</a:t>
            </a:r>
          </a:p>
        </p:txBody>
      </p:sp>
      <p:sp>
        <p:nvSpPr>
          <p:cNvPr id="316" name="Numéro 6"/>
          <p:cNvSpPr/>
          <p:nvPr/>
        </p:nvSpPr>
        <p:spPr>
          <a:xfrm>
            <a:off x="3327400" y="5410200"/>
            <a:ext cx="406400" cy="406400"/>
          </a:xfrm>
          <a:prstGeom prst="ellipse">
            <a:avLst/>
          </a:prstGeom>
          <a:solidFill>
            <a:srgbClr val="232055"/>
          </a:solidFill>
          <a:ln>
            <a:noFill/>
          </a:ln>
        </p:spPr>
        <p:txBody>
          <a:bodyPr wrap="none" lIns="0" tIns="0" rIns="0" bIns="0" anchor="ctr"/>
          <a:lstStyle/>
          <a:p>
            <a:pPr algn="ctr">
              <a:buNone/>
            </a:pPr>
            <a:r>
              <a:rPr lang="fr-FR" sz="1400" b="1" dirty="0">
                <a:solidFill>
                  <a:srgbClr val="FFFFFF"/>
                </a:solidFill>
              </a:rPr>
              <a:t>6</a:t>
            </a:r>
          </a:p>
        </p:txBody>
      </p:sp>
      <p:sp>
        <p:nvSpPr>
          <p:cNvPr id="317" name="Flèche 6"/>
          <p:cNvSpPr/>
          <p:nvPr/>
        </p:nvSpPr>
        <p:spPr>
          <a:xfrm>
            <a:off x="5943600" y="5892800"/>
            <a:ext cx="304800" cy="152400"/>
          </a:xfrm>
          <a:prstGeom prst="downArrow">
            <a:avLst>
              <a:gd name="adj1" fmla="val 40000"/>
              <a:gd name="adj2" fmla="val 50000"/>
            </a:avLst>
          </a:prstGeom>
          <a:solidFill>
            <a:srgbClr val="7CC688"/>
          </a:solidFill>
          <a:ln>
            <a:noFill/>
          </a:ln>
        </p:spPr>
        <p:txBody>
          <a:bodyPr/>
          <a:lstStyle/>
          <a:p>
            <a:endParaRPr lang="fr-FR"/>
          </a:p>
        </p:txBody>
      </p:sp>
      <p:sp>
        <p:nvSpPr>
          <p:cNvPr id="318" name="Étape 7"/>
          <p:cNvSpPr/>
          <p:nvPr/>
        </p:nvSpPr>
        <p:spPr>
          <a:xfrm>
            <a:off x="3556000" y="6045200"/>
            <a:ext cx="5080000" cy="558800"/>
          </a:xfrm>
          <a:prstGeom prst="roundRect">
            <a:avLst>
              <a:gd name="adj" fmla="val 18000"/>
            </a:avLst>
          </a:prstGeom>
          <a:solidFill>
            <a:srgbClr val="FFFFFF"/>
          </a:solidFill>
          <a:ln w="12700">
            <a:solidFill>
              <a:srgbClr val="0B66AE"/>
            </a:solidFill>
          </a:ln>
        </p:spPr>
        <p:txBody>
          <a:bodyPr lIns="45720" tIns="0" rIns="45720" bIns="0" anchor="ctr"/>
          <a:lstStyle/>
          <a:p>
            <a:pPr algn="ctr">
              <a:buNone/>
            </a:pPr>
            <a:r>
              <a:rPr lang="fr-FR" sz="1500" b="1" dirty="0">
                <a:solidFill>
                  <a:srgbClr val="002060"/>
                </a:solidFill>
              </a:rPr>
              <a:t>Prédiction sur de nouvelles données</a:t>
            </a:r>
          </a:p>
        </p:txBody>
      </p:sp>
      <p:sp>
        <p:nvSpPr>
          <p:cNvPr id="319" name="Numéro 7"/>
          <p:cNvSpPr/>
          <p:nvPr/>
        </p:nvSpPr>
        <p:spPr>
          <a:xfrm>
            <a:off x="3327400" y="6121400"/>
            <a:ext cx="406400" cy="406400"/>
          </a:xfrm>
          <a:prstGeom prst="ellipse">
            <a:avLst/>
          </a:prstGeom>
          <a:solidFill>
            <a:srgbClr val="232055"/>
          </a:solidFill>
          <a:ln>
            <a:noFill/>
          </a:ln>
        </p:spPr>
        <p:txBody>
          <a:bodyPr wrap="none" lIns="0" tIns="0" rIns="0" bIns="0" anchor="ctr"/>
          <a:lstStyle/>
          <a:p>
            <a:pPr algn="ctr">
              <a:buNone/>
            </a:pPr>
            <a:r>
              <a:rPr lang="fr-FR" sz="1400" b="1" dirty="0">
                <a:solidFill>
                  <a:srgbClr val="FFFFFF"/>
                </a:solidFill>
              </a:rPr>
              <a:t>7</a:t>
            </a:r>
          </a:p>
        </p:txBody>
      </p:sp>
    </p:spTree>
    <p:extLst>
      <p:ext uri="{BB962C8B-B14F-4D97-AF65-F5344CB8AC3E}">
        <p14:creationId xmlns:p14="http://schemas.microsoft.com/office/powerpoint/2010/main" val="18290426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5AB009-3970-62B7-B8F1-C7D69353E12F}"/>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58C67ED2-FC1D-13BE-7D7C-A52013B685A6}"/>
              </a:ext>
            </a:extLst>
          </p:cNvPr>
          <p:cNvSpPr txBox="1">
            <a:spLocks/>
          </p:cNvSpPr>
          <p:nvPr/>
        </p:nvSpPr>
        <p:spPr>
          <a:xfrm>
            <a:off x="1325880" y="680907"/>
            <a:ext cx="9043416" cy="729114"/>
          </a:xfrm>
          <a:prstGeom prst="rect">
            <a:avLst/>
          </a:prstGeom>
          <a:ln w="19050">
            <a:noFill/>
          </a:ln>
          <a:effectLst>
            <a:reflection blurRad="6350" stA="52000" endA="300" endPos="35000" dir="5400000" sy="-100000" algn="bl" rotWithShape="0"/>
          </a:effectLst>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n-lt"/>
                <a:ea typeface="+mj-ea"/>
                <a:cs typeface="+mj-cs"/>
              </a:defRPr>
            </a:lvl1pPr>
          </a:lstStyle>
          <a:p>
            <a:r>
              <a:rPr lang="fr-FR" sz="3600" b="1" dirty="0">
                <a:solidFill>
                  <a:srgbClr val="002060"/>
                </a:solidFill>
                <a:latin typeface="+mn-lt" panose="02020603050405020304" pitchFamily="18" charset="0"/>
                <a:cs typeface="+mn-cs" panose="02020603050405020304" pitchFamily="18" charset="0"/>
              </a:rPr>
              <a:t>Comparaison et sélection du modèle optimal</a:t>
            </a:r>
          </a:p>
        </p:txBody>
      </p:sp>
      <p:grpSp>
        <p:nvGrpSpPr>
          <p:cNvPr id="14" name="Groupe 13">
            <a:extLst>
              <a:ext uri="{FF2B5EF4-FFF2-40B4-BE49-F238E27FC236}">
                <a16:creationId xmlns:a16="http://schemas.microsoft.com/office/drawing/2014/main" id="{24FDAB3E-7E7C-1379-B1B3-816BABE519DD}"/>
              </a:ext>
            </a:extLst>
          </p:cNvPr>
          <p:cNvGrpSpPr/>
          <p:nvPr/>
        </p:nvGrpSpPr>
        <p:grpSpPr>
          <a:xfrm>
            <a:off x="11081151" y="124008"/>
            <a:ext cx="1002497" cy="997548"/>
            <a:chOff x="11081151" y="124008"/>
            <a:chExt cx="1002497" cy="997548"/>
          </a:xfrm>
        </p:grpSpPr>
        <p:grpSp>
          <p:nvGrpSpPr>
            <p:cNvPr id="15" name="Groupe 14">
              <a:extLst>
                <a:ext uri="{FF2B5EF4-FFF2-40B4-BE49-F238E27FC236}">
                  <a16:creationId xmlns:a16="http://schemas.microsoft.com/office/drawing/2014/main" id="{7AEEA829-F2C9-95ED-6B2A-72D6FA86C42D}"/>
                </a:ext>
              </a:extLst>
            </p:cNvPr>
            <p:cNvGrpSpPr/>
            <p:nvPr/>
          </p:nvGrpSpPr>
          <p:grpSpPr>
            <a:xfrm>
              <a:off x="11081151" y="124008"/>
              <a:ext cx="1002497" cy="997548"/>
              <a:chOff x="6263169" y="2855357"/>
              <a:chExt cx="600075" cy="612815"/>
            </a:xfrm>
          </p:grpSpPr>
          <p:sp>
            <p:nvSpPr>
              <p:cNvPr id="17" name="Organigramme : Connecteur 16">
                <a:extLst>
                  <a:ext uri="{FF2B5EF4-FFF2-40B4-BE49-F238E27FC236}">
                    <a16:creationId xmlns:a16="http://schemas.microsoft.com/office/drawing/2014/main" id="{91B13DC3-863A-8C88-6BD3-D3581EE42E1F}"/>
                  </a:ext>
                </a:extLst>
              </p:cNvPr>
              <p:cNvSpPr/>
              <p:nvPr/>
            </p:nvSpPr>
            <p:spPr>
              <a:xfrm>
                <a:off x="6263169" y="2855357"/>
                <a:ext cx="600075" cy="612815"/>
              </a:xfrm>
              <a:prstGeom prst="flowChartConnector">
                <a:avLst/>
              </a:prstGeom>
              <a:solidFill>
                <a:schemeClr val="bg1"/>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I"/>
              </a:p>
            </p:txBody>
          </p:sp>
          <p:sp>
            <p:nvSpPr>
              <p:cNvPr id="18" name="Organigramme : Connecteur 17">
                <a:extLst>
                  <a:ext uri="{FF2B5EF4-FFF2-40B4-BE49-F238E27FC236}">
                    <a16:creationId xmlns:a16="http://schemas.microsoft.com/office/drawing/2014/main" id="{90505581-1F05-6BF1-9308-52CC449ADA11}"/>
                  </a:ext>
                </a:extLst>
              </p:cNvPr>
              <p:cNvSpPr/>
              <p:nvPr/>
            </p:nvSpPr>
            <p:spPr>
              <a:xfrm>
                <a:off x="6370324" y="2964924"/>
                <a:ext cx="385763" cy="393680"/>
              </a:xfrm>
              <a:prstGeom prst="flowChartConnector">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I" dirty="0"/>
              </a:p>
            </p:txBody>
          </p:sp>
        </p:grpSp>
        <p:pic>
          <p:nvPicPr>
            <p:cNvPr id="16" name="Graphic 1031">
              <a:extLst>
                <a:ext uri="{FF2B5EF4-FFF2-40B4-BE49-F238E27FC236}">
                  <a16:creationId xmlns:a16="http://schemas.microsoft.com/office/drawing/2014/main" id="{B7E1B5BF-5A1A-BC96-6C84-3F5D5D940F7A}"/>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1353797" y="394182"/>
              <a:ext cx="457200" cy="457200"/>
            </a:xfrm>
            <a:prstGeom prst="rect">
              <a:avLst/>
            </a:prstGeom>
          </p:spPr>
        </p:pic>
      </p:grpSp>
      <p:sp>
        <p:nvSpPr>
          <p:cNvPr id="19" name="ZoneTexte 18">
            <a:extLst>
              <a:ext uri="{FF2B5EF4-FFF2-40B4-BE49-F238E27FC236}">
                <a16:creationId xmlns:a16="http://schemas.microsoft.com/office/drawing/2014/main" id="{EF996D0A-B941-493A-9322-3B8CBDFA8D63}"/>
              </a:ext>
            </a:extLst>
          </p:cNvPr>
          <p:cNvSpPr txBox="1"/>
          <p:nvPr/>
        </p:nvSpPr>
        <p:spPr>
          <a:xfrm>
            <a:off x="80035" y="40933"/>
            <a:ext cx="5767553" cy="369332"/>
          </a:xfrm>
          <a:prstGeom prst="rect">
            <a:avLst/>
          </a:prstGeom>
          <a:noFill/>
          <a:effectLst>
            <a:reflection stA="63000" endPos="11000" dist="50800" dir="5400000" sy="-100000" algn="bl" rotWithShape="0"/>
          </a:effectLst>
        </p:spPr>
        <p:txBody>
          <a:bodyPr wrap="square" rtlCol="0">
            <a:spAutoFit/>
          </a:bodyPr>
          <a:lstStyle/>
          <a:p>
            <a:r>
              <a:rPr lang="fr-CI" b="1" dirty="0">
                <a:solidFill>
                  <a:schemeClr val="accent1">
                    <a:lumMod val="50000"/>
                  </a:schemeClr>
                </a:solidFill>
                <a:latin typeface="+mn-lt" panose="020E0705020206020404" pitchFamily="34" charset="0"/>
              </a:rPr>
              <a:t>Partie 4 : Modélisation &amp; Résultats</a:t>
            </a:r>
          </a:p>
        </p:txBody>
      </p:sp>
      <p:graphicFrame>
        <p:nvGraphicFramePr>
          <p:cNvPr id="5" name="Table 0">
            <a:extLst>
              <a:ext uri="{FF2B5EF4-FFF2-40B4-BE49-F238E27FC236}">
                <a16:creationId xmlns:a16="http://schemas.microsoft.com/office/drawing/2014/main" id="{06E14482-FCFE-351B-864F-1FCE766EEC5F}"/>
              </a:ext>
            </a:extLst>
          </p:cNvPr>
          <p:cNvGraphicFramePr>
            <a:graphicFrameLocks noGrp="1"/>
          </p:cNvGraphicFramePr>
          <p:nvPr>
            <p:extLst>
              <p:ext uri="{D42A27DB-BD31-4B8C-83A1-F6EECF244321}">
                <p14:modId xmlns:p14="http://schemas.microsoft.com/office/powerpoint/2010/main" val="1365200898"/>
              </p:ext>
            </p:extLst>
          </p:nvPr>
        </p:nvGraphicFramePr>
        <p:xfrm>
          <a:off x="350517" y="1762959"/>
          <a:ext cx="11460480" cy="3901440"/>
        </p:xfrm>
        <a:graphic>
          <a:graphicData uri="http://schemas.openxmlformats.org/drawingml/2006/table">
            <a:tbl>
              <a:tblPr/>
              <a:tblGrid>
                <a:gridCol w="2926080">
                  <a:extLst>
                    <a:ext uri="{9D8B030D-6E8A-4147-A177-3AD203B41FA5}">
                      <a16:colId xmlns:a16="http://schemas.microsoft.com/office/drawing/2014/main" val="20000"/>
                    </a:ext>
                  </a:extLst>
                </a:gridCol>
                <a:gridCol w="2840736">
                  <a:extLst>
                    <a:ext uri="{9D8B030D-6E8A-4147-A177-3AD203B41FA5}">
                      <a16:colId xmlns:a16="http://schemas.microsoft.com/office/drawing/2014/main" val="20001"/>
                    </a:ext>
                  </a:extLst>
                </a:gridCol>
                <a:gridCol w="2840736">
                  <a:extLst>
                    <a:ext uri="{9D8B030D-6E8A-4147-A177-3AD203B41FA5}">
                      <a16:colId xmlns:a16="http://schemas.microsoft.com/office/drawing/2014/main" val="20002"/>
                    </a:ext>
                  </a:extLst>
                </a:gridCol>
                <a:gridCol w="2852928">
                  <a:extLst>
                    <a:ext uri="{9D8B030D-6E8A-4147-A177-3AD203B41FA5}">
                      <a16:colId xmlns:a16="http://schemas.microsoft.com/office/drawing/2014/main" val="20003"/>
                    </a:ext>
                  </a:extLst>
                </a:gridCol>
              </a:tblGrid>
              <a:tr h="487680">
                <a:tc>
                  <a:txBody>
                    <a:bodyPr/>
                    <a:lstStyle/>
                    <a:p>
                      <a:pPr marL="0" indent="0" algn="ctr">
                        <a:buNone/>
                      </a:pPr>
                      <a:r>
                        <a:rPr lang="en-US" sz="1700" b="1" dirty="0">
                          <a:solidFill>
                            <a:srgbClr val="FFFFFF"/>
                          </a:solidFill>
                        </a:rPr>
                        <a:t>Métrique</a:t>
                      </a:r>
                      <a:endParaRPr lang="en-US" sz="17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marL="0" indent="0" algn="ctr">
                        <a:buNone/>
                      </a:pPr>
                      <a:r>
                        <a:rPr lang="en-US" sz="1700" b="1" dirty="0">
                          <a:solidFill>
                            <a:srgbClr val="FFFFFF"/>
                          </a:solidFill>
                        </a:rPr>
                        <a:t>Régression Logistique</a:t>
                      </a:r>
                      <a:endParaRPr lang="en-US" sz="17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marL="0" indent="0" algn="ctr">
                        <a:buNone/>
                      </a:pPr>
                      <a:r>
                        <a:rPr lang="en-US" sz="1700" b="1" dirty="0">
                          <a:solidFill>
                            <a:srgbClr val="FFFFFF"/>
                          </a:solidFill>
                        </a:rPr>
                        <a:t>Random Forest</a:t>
                      </a:r>
                      <a:endParaRPr lang="en-US" sz="17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marL="0" indent="0" algn="ctr">
                        <a:buNone/>
                      </a:pPr>
                      <a:r>
                        <a:rPr lang="en-US" sz="1700" b="1" dirty="0">
                          <a:solidFill>
                            <a:srgbClr val="FFFFFF"/>
                          </a:solidFill>
                        </a:rPr>
                        <a:t>XGBoost</a:t>
                      </a:r>
                      <a:endParaRPr lang="en-US" sz="17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487680">
                <a:tc>
                  <a:txBody>
                    <a:bodyPr/>
                    <a:lstStyle/>
                    <a:p>
                      <a:pPr marL="0" indent="0" algn="ctr">
                        <a:buNone/>
                      </a:pPr>
                      <a:r>
                        <a:rPr lang="en-US" sz="1700" dirty="0">
                          <a:solidFill>
                            <a:srgbClr val="000000"/>
                          </a:solidFill>
                        </a:rPr>
                        <a:t>Accuracy</a:t>
                      </a:r>
                      <a:endParaRPr lang="en-US" sz="1700" dirty="0"/>
                    </a:p>
                  </a:txBody>
                  <a:tcPr marL="121920" marR="121920" marT="60960" marB="6096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c>
                  <a:txBody>
                    <a:bodyPr/>
                    <a:lstStyle/>
                    <a:p>
                      <a:pPr marL="0" indent="0" algn="ctr">
                        <a:buNone/>
                      </a:pPr>
                      <a:r>
                        <a:rPr lang="en-US" sz="1700" dirty="0">
                          <a:solidFill>
                            <a:srgbClr val="000000"/>
                          </a:solidFill>
                        </a:rPr>
                        <a:t>0,821</a:t>
                      </a:r>
                      <a:endParaRPr lang="en-US" sz="1700" dirty="0"/>
                    </a:p>
                  </a:txBody>
                  <a:tcPr marL="121920" marR="121920" marT="60960" marB="6096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c>
                  <a:txBody>
                    <a:bodyPr/>
                    <a:lstStyle/>
                    <a:p>
                      <a:pPr marL="0" indent="0" algn="ctr">
                        <a:buNone/>
                      </a:pPr>
                      <a:r>
                        <a:rPr lang="en-US" sz="1700" dirty="0">
                          <a:solidFill>
                            <a:srgbClr val="000000"/>
                          </a:solidFill>
                        </a:rPr>
                        <a:t>0,822</a:t>
                      </a:r>
                      <a:endParaRPr lang="en-US" sz="1700" dirty="0"/>
                    </a:p>
                  </a:txBody>
                  <a:tcPr marL="121920" marR="121920" marT="60960" marB="6096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c>
                  <a:txBody>
                    <a:bodyPr/>
                    <a:lstStyle/>
                    <a:p>
                      <a:pPr marL="0" indent="0" algn="ctr">
                        <a:buNone/>
                      </a:pPr>
                      <a:r>
                        <a:rPr lang="en-US" sz="1700" b="1" dirty="0">
                          <a:solidFill>
                            <a:srgbClr val="10B981"/>
                          </a:solidFill>
                        </a:rPr>
                        <a:t>0,83</a:t>
                      </a:r>
                      <a:endParaRPr lang="en-US" sz="1700" dirty="0"/>
                    </a:p>
                  </a:txBody>
                  <a:tcPr marL="121920" marR="121920" marT="60960" marB="6096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87680">
                <a:tc>
                  <a:txBody>
                    <a:bodyPr/>
                    <a:lstStyle/>
                    <a:p>
                      <a:pPr marL="0" indent="0" algn="ctr">
                        <a:buNone/>
                      </a:pPr>
                      <a:r>
                        <a:rPr lang="en-US" sz="1700" dirty="0">
                          <a:solidFill>
                            <a:srgbClr val="000000"/>
                          </a:solidFill>
                        </a:rPr>
                        <a:t>Recall</a:t>
                      </a:r>
                      <a:endParaRPr lang="en-US" sz="1700" dirty="0"/>
                    </a:p>
                  </a:txBody>
                  <a:tcPr marL="121920" marR="121920" marT="60960" marB="6096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c>
                  <a:txBody>
                    <a:bodyPr/>
                    <a:lstStyle/>
                    <a:p>
                      <a:pPr marL="0" indent="0" algn="ctr">
                        <a:buNone/>
                      </a:pPr>
                      <a:r>
                        <a:rPr lang="en-US" sz="1700" dirty="0">
                          <a:solidFill>
                            <a:srgbClr val="000000"/>
                          </a:solidFill>
                        </a:rPr>
                        <a:t>0,780</a:t>
                      </a:r>
                      <a:endParaRPr lang="en-US" sz="1700" dirty="0"/>
                    </a:p>
                  </a:txBody>
                  <a:tcPr marL="121920" marR="121920" marT="60960" marB="6096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c>
                  <a:txBody>
                    <a:bodyPr/>
                    <a:lstStyle/>
                    <a:p>
                      <a:pPr marL="0" indent="0" algn="ctr">
                        <a:buNone/>
                      </a:pPr>
                      <a:r>
                        <a:rPr lang="en-US" sz="1700" dirty="0">
                          <a:solidFill>
                            <a:srgbClr val="000000"/>
                          </a:solidFill>
                        </a:rPr>
                        <a:t>0,812</a:t>
                      </a:r>
                      <a:endParaRPr lang="en-US" sz="1700" dirty="0"/>
                    </a:p>
                  </a:txBody>
                  <a:tcPr marL="121920" marR="121920" marT="60960" marB="6096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c>
                  <a:txBody>
                    <a:bodyPr/>
                    <a:lstStyle/>
                    <a:p>
                      <a:pPr marL="0" indent="0" algn="ctr">
                        <a:buNone/>
                      </a:pPr>
                      <a:r>
                        <a:rPr lang="en-US" sz="1700" b="1" dirty="0">
                          <a:solidFill>
                            <a:srgbClr val="10B981"/>
                          </a:solidFill>
                        </a:rPr>
                        <a:t>0,819</a:t>
                      </a:r>
                      <a:endParaRPr lang="en-US" sz="1700" dirty="0"/>
                    </a:p>
                  </a:txBody>
                  <a:tcPr marL="121920" marR="121920" marT="60960" marB="6096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87680">
                <a:tc>
                  <a:txBody>
                    <a:bodyPr/>
                    <a:lstStyle/>
                    <a:p>
                      <a:pPr marL="0" indent="0" algn="ctr">
                        <a:buNone/>
                      </a:pPr>
                      <a:r>
                        <a:rPr lang="en-US" sz="1700" dirty="0">
                          <a:solidFill>
                            <a:srgbClr val="000000"/>
                          </a:solidFill>
                        </a:rPr>
                        <a:t>Precision</a:t>
                      </a:r>
                      <a:endParaRPr lang="en-US" sz="1700" dirty="0"/>
                    </a:p>
                  </a:txBody>
                  <a:tcPr marL="121920" marR="121920" marT="60960" marB="6096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c>
                  <a:txBody>
                    <a:bodyPr/>
                    <a:lstStyle/>
                    <a:p>
                      <a:pPr marL="0" indent="0" algn="ctr">
                        <a:buNone/>
                      </a:pPr>
                      <a:r>
                        <a:rPr lang="en-US" sz="1700" b="1" dirty="0">
                          <a:solidFill>
                            <a:srgbClr val="10B981"/>
                          </a:solidFill>
                        </a:rPr>
                        <a:t>0,781</a:t>
                      </a:r>
                      <a:endParaRPr lang="en-US" sz="1700" dirty="0"/>
                    </a:p>
                  </a:txBody>
                  <a:tcPr marL="121920" marR="121920" marT="60960" marB="6096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c>
                  <a:txBody>
                    <a:bodyPr/>
                    <a:lstStyle/>
                    <a:p>
                      <a:pPr marL="0" indent="0" algn="ctr">
                        <a:buNone/>
                      </a:pPr>
                      <a:r>
                        <a:rPr lang="en-US" sz="1700" dirty="0">
                          <a:solidFill>
                            <a:srgbClr val="000000"/>
                          </a:solidFill>
                        </a:rPr>
                        <a:t>0,765</a:t>
                      </a:r>
                      <a:endParaRPr lang="en-US" sz="1700" dirty="0"/>
                    </a:p>
                  </a:txBody>
                  <a:tcPr marL="121920" marR="121920" marT="60960" marB="6096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c>
                  <a:txBody>
                    <a:bodyPr/>
                    <a:lstStyle/>
                    <a:p>
                      <a:pPr marL="0" indent="0" algn="ctr">
                        <a:buNone/>
                      </a:pPr>
                      <a:r>
                        <a:rPr lang="en-US" sz="1700" dirty="0">
                          <a:solidFill>
                            <a:srgbClr val="000000"/>
                          </a:solidFill>
                        </a:rPr>
                        <a:t>0,772</a:t>
                      </a:r>
                      <a:endParaRPr lang="en-US" sz="1700" dirty="0"/>
                    </a:p>
                  </a:txBody>
                  <a:tcPr marL="121920" marR="121920" marT="60960" marB="6096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87680">
                <a:tc>
                  <a:txBody>
                    <a:bodyPr/>
                    <a:lstStyle/>
                    <a:p>
                      <a:pPr marL="0" indent="0" algn="ctr">
                        <a:buNone/>
                      </a:pPr>
                      <a:r>
                        <a:rPr lang="en-US" sz="1700" dirty="0">
                          <a:solidFill>
                            <a:srgbClr val="000000"/>
                          </a:solidFill>
                        </a:rPr>
                        <a:t>F1-score</a:t>
                      </a:r>
                      <a:endParaRPr lang="en-US" sz="1700" dirty="0"/>
                    </a:p>
                  </a:txBody>
                  <a:tcPr marL="121920" marR="121920" marT="60960" marB="6096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c>
                  <a:txBody>
                    <a:bodyPr/>
                    <a:lstStyle/>
                    <a:p>
                      <a:pPr marL="0" indent="0" algn="ctr">
                        <a:buNone/>
                      </a:pPr>
                      <a:r>
                        <a:rPr lang="en-US" sz="1700" dirty="0">
                          <a:solidFill>
                            <a:srgbClr val="000000"/>
                          </a:solidFill>
                        </a:rPr>
                        <a:t>0,780</a:t>
                      </a:r>
                      <a:endParaRPr lang="en-US" sz="1700" dirty="0"/>
                    </a:p>
                  </a:txBody>
                  <a:tcPr marL="121920" marR="121920" marT="60960" marB="6096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c>
                  <a:txBody>
                    <a:bodyPr/>
                    <a:lstStyle/>
                    <a:p>
                      <a:pPr marL="0" indent="0" algn="ctr">
                        <a:buNone/>
                      </a:pPr>
                      <a:r>
                        <a:rPr lang="en-US" sz="1700" dirty="0">
                          <a:solidFill>
                            <a:srgbClr val="000000"/>
                          </a:solidFill>
                        </a:rPr>
                        <a:t>0,788</a:t>
                      </a:r>
                      <a:endParaRPr lang="en-US" sz="1700" dirty="0"/>
                    </a:p>
                  </a:txBody>
                  <a:tcPr marL="121920" marR="121920" marT="60960" marB="6096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c>
                  <a:txBody>
                    <a:bodyPr/>
                    <a:lstStyle/>
                    <a:p>
                      <a:pPr marL="0" indent="0" algn="ctr">
                        <a:buNone/>
                      </a:pPr>
                      <a:r>
                        <a:rPr lang="en-US" sz="1700" b="1" dirty="0">
                          <a:solidFill>
                            <a:srgbClr val="10B981"/>
                          </a:solidFill>
                        </a:rPr>
                        <a:t>0,795</a:t>
                      </a:r>
                      <a:endParaRPr lang="en-US" sz="1700" dirty="0"/>
                    </a:p>
                  </a:txBody>
                  <a:tcPr marL="121920" marR="121920" marT="60960" marB="6096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87680">
                <a:tc>
                  <a:txBody>
                    <a:bodyPr/>
                    <a:lstStyle/>
                    <a:p>
                      <a:pPr marL="0" indent="0" algn="ctr">
                        <a:buNone/>
                      </a:pPr>
                      <a:r>
                        <a:rPr lang="en-US" sz="1700" dirty="0">
                          <a:solidFill>
                            <a:srgbClr val="000000"/>
                          </a:solidFill>
                        </a:rPr>
                        <a:t>AUC-ROC</a:t>
                      </a:r>
                      <a:endParaRPr lang="en-US" sz="1700" dirty="0"/>
                    </a:p>
                  </a:txBody>
                  <a:tcPr marL="121920" marR="121920" marT="60960" marB="6096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c>
                  <a:txBody>
                    <a:bodyPr/>
                    <a:lstStyle/>
                    <a:p>
                      <a:pPr marL="0" indent="0" algn="ctr">
                        <a:buNone/>
                      </a:pPr>
                      <a:r>
                        <a:rPr lang="en-US" sz="1700" dirty="0">
                          <a:solidFill>
                            <a:srgbClr val="000000"/>
                          </a:solidFill>
                        </a:rPr>
                        <a:t>0,892</a:t>
                      </a:r>
                      <a:endParaRPr lang="en-US" sz="1700" dirty="0"/>
                    </a:p>
                  </a:txBody>
                  <a:tcPr marL="121920" marR="121920" marT="60960" marB="6096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c>
                  <a:txBody>
                    <a:bodyPr/>
                    <a:lstStyle/>
                    <a:p>
                      <a:pPr marL="0" indent="0" algn="ctr">
                        <a:buNone/>
                      </a:pPr>
                      <a:r>
                        <a:rPr lang="en-US" sz="1700" dirty="0">
                          <a:solidFill>
                            <a:srgbClr val="000000"/>
                          </a:solidFill>
                        </a:rPr>
                        <a:t>0,898</a:t>
                      </a:r>
                      <a:endParaRPr lang="en-US" sz="1700" dirty="0"/>
                    </a:p>
                  </a:txBody>
                  <a:tcPr marL="121920" marR="121920" marT="60960" marB="6096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c>
                  <a:txBody>
                    <a:bodyPr/>
                    <a:lstStyle/>
                    <a:p>
                      <a:pPr marL="0" indent="0" algn="ctr">
                        <a:buNone/>
                      </a:pPr>
                      <a:r>
                        <a:rPr lang="en-US" sz="1700" b="1" dirty="0">
                          <a:solidFill>
                            <a:srgbClr val="10B981"/>
                          </a:solidFill>
                        </a:rPr>
                        <a:t>0,905</a:t>
                      </a:r>
                      <a:endParaRPr lang="en-US" sz="1700" dirty="0"/>
                    </a:p>
                  </a:txBody>
                  <a:tcPr marL="121920" marR="121920" marT="60960" marB="6096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487680">
                <a:tc>
                  <a:txBody>
                    <a:bodyPr/>
                    <a:lstStyle/>
                    <a:p>
                      <a:pPr marL="0" indent="0" algn="ctr">
                        <a:buNone/>
                      </a:pPr>
                      <a:r>
                        <a:rPr lang="en-US" sz="1700" dirty="0">
                          <a:solidFill>
                            <a:srgbClr val="000000"/>
                          </a:solidFill>
                        </a:rPr>
                        <a:t>Cohen Kappa</a:t>
                      </a:r>
                      <a:endParaRPr lang="en-US" sz="1700" dirty="0"/>
                    </a:p>
                  </a:txBody>
                  <a:tcPr marL="121920" marR="121920" marT="60960" marB="6096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c>
                  <a:txBody>
                    <a:bodyPr/>
                    <a:lstStyle/>
                    <a:p>
                      <a:pPr marL="0" indent="0" algn="ctr">
                        <a:buNone/>
                      </a:pPr>
                      <a:r>
                        <a:rPr lang="en-US" sz="1700" dirty="0">
                          <a:solidFill>
                            <a:srgbClr val="000000"/>
                          </a:solidFill>
                        </a:rPr>
                        <a:t>0,629</a:t>
                      </a:r>
                      <a:endParaRPr lang="en-US" sz="1700" dirty="0"/>
                    </a:p>
                  </a:txBody>
                  <a:tcPr marL="121920" marR="121920" marT="60960" marB="6096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c>
                  <a:txBody>
                    <a:bodyPr/>
                    <a:lstStyle/>
                    <a:p>
                      <a:pPr marL="0" indent="0" algn="ctr">
                        <a:buNone/>
                      </a:pPr>
                      <a:r>
                        <a:rPr lang="en-US" sz="1700" dirty="0">
                          <a:solidFill>
                            <a:srgbClr val="000000"/>
                          </a:solidFill>
                        </a:rPr>
                        <a:t>0,634</a:t>
                      </a:r>
                      <a:endParaRPr lang="en-US" sz="1700" dirty="0"/>
                    </a:p>
                  </a:txBody>
                  <a:tcPr marL="121920" marR="121920" marT="60960" marB="6096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c>
                  <a:txBody>
                    <a:bodyPr/>
                    <a:lstStyle/>
                    <a:p>
                      <a:pPr marL="0" indent="0" algn="ctr">
                        <a:buNone/>
                      </a:pPr>
                      <a:r>
                        <a:rPr lang="en-US" sz="1700" b="1" dirty="0">
                          <a:solidFill>
                            <a:srgbClr val="10B981"/>
                          </a:solidFill>
                        </a:rPr>
                        <a:t>0,646</a:t>
                      </a:r>
                      <a:endParaRPr lang="en-US" sz="1700" dirty="0"/>
                    </a:p>
                  </a:txBody>
                  <a:tcPr marL="121920" marR="121920" marT="60960" marB="6096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487680">
                <a:tc>
                  <a:txBody>
                    <a:bodyPr/>
                    <a:lstStyle/>
                    <a:p>
                      <a:pPr marL="0" indent="0" algn="ctr">
                        <a:buNone/>
                      </a:pPr>
                      <a:r>
                        <a:rPr lang="en-US" sz="1700" dirty="0">
                          <a:solidFill>
                            <a:srgbClr val="000000"/>
                          </a:solidFill>
                        </a:rPr>
                        <a:t>Cross-entropie</a:t>
                      </a:r>
                      <a:endParaRPr lang="en-US" sz="1700" dirty="0"/>
                    </a:p>
                  </a:txBody>
                  <a:tcPr marL="121920" marR="121920" marT="60960" marB="6096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indent="0" algn="ctr">
                        <a:buNone/>
                      </a:pPr>
                      <a:r>
                        <a:rPr lang="en-US" sz="1700" dirty="0">
                          <a:solidFill>
                            <a:srgbClr val="000000"/>
                          </a:solidFill>
                        </a:rPr>
                        <a:t>0,425</a:t>
                      </a:r>
                      <a:endParaRPr lang="en-US" sz="1700" dirty="0"/>
                    </a:p>
                  </a:txBody>
                  <a:tcPr marL="121920" marR="121920" marT="60960" marB="6096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indent="0" algn="ctr">
                        <a:buNone/>
                      </a:pPr>
                      <a:r>
                        <a:rPr lang="en-US" sz="1700" dirty="0">
                          <a:solidFill>
                            <a:srgbClr val="000000"/>
                          </a:solidFill>
                        </a:rPr>
                        <a:t>0,404</a:t>
                      </a:r>
                      <a:endParaRPr lang="en-US" sz="1700" dirty="0"/>
                    </a:p>
                  </a:txBody>
                  <a:tcPr marL="121920" marR="121920" marT="60960" marB="6096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indent="0" algn="ctr">
                        <a:buNone/>
                      </a:pPr>
                      <a:r>
                        <a:rPr lang="en-US" sz="1700" b="1" dirty="0">
                          <a:solidFill>
                            <a:srgbClr val="10B981"/>
                          </a:solidFill>
                        </a:rPr>
                        <a:t>0,389</a:t>
                      </a:r>
                      <a:endParaRPr lang="en-US" sz="1700" dirty="0"/>
                    </a:p>
                  </a:txBody>
                  <a:tcPr marL="121920" marR="121920" marT="60960" marB="6096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1552027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6B090F-A8B7-6C63-CA69-251EB5590F31}"/>
            </a:ext>
          </a:extLst>
        </p:cNvPr>
        <p:cNvGrpSpPr/>
        <p:nvPr/>
      </p:nvGrpSpPr>
      <p:grpSpPr>
        <a:xfrm>
          <a:off x="0" y="0"/>
          <a:ext cx="0" cy="0"/>
          <a:chOff x="0" y="0"/>
          <a:chExt cx="0" cy="0"/>
        </a:xfrm>
      </p:grpSpPr>
      <p:sp>
        <p:nvSpPr>
          <p:cNvPr id="18" name="Larme 17">
            <a:extLst>
              <a:ext uri="{FF2B5EF4-FFF2-40B4-BE49-F238E27FC236}">
                <a16:creationId xmlns:a16="http://schemas.microsoft.com/office/drawing/2014/main" id="{AF133832-B22D-CCD9-1ACA-759B62E014D9}"/>
              </a:ext>
            </a:extLst>
          </p:cNvPr>
          <p:cNvSpPr/>
          <p:nvPr/>
        </p:nvSpPr>
        <p:spPr>
          <a:xfrm>
            <a:off x="7010400" y="0"/>
            <a:ext cx="5181600" cy="5478308"/>
          </a:xfrm>
          <a:prstGeom prst="teardrop">
            <a:avLst/>
          </a:prstGeom>
          <a:solidFill>
            <a:srgbClr val="E5EA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Text 1">
            <a:extLst>
              <a:ext uri="{FF2B5EF4-FFF2-40B4-BE49-F238E27FC236}">
                <a16:creationId xmlns:a16="http://schemas.microsoft.com/office/drawing/2014/main" id="{96CCA7B1-AFD2-EA08-1713-26EE2E1F7553}"/>
              </a:ext>
            </a:extLst>
          </p:cNvPr>
          <p:cNvSpPr/>
          <p:nvPr/>
        </p:nvSpPr>
        <p:spPr>
          <a:xfrm>
            <a:off x="609600" y="2438400"/>
            <a:ext cx="10972800" cy="609600"/>
          </a:xfrm>
          <a:prstGeom prst="rect">
            <a:avLst/>
          </a:prstGeom>
          <a:noFill/>
          <a:ln/>
        </p:spPr>
        <p:txBody>
          <a:bodyPr wrap="square" rtlCol="0" anchor="ctr"/>
          <a:lstStyle/>
          <a:p>
            <a:pPr algn="ctr" defTabSz="1219170"/>
            <a:r>
              <a:rPr lang="en-US" sz="1867" b="1" kern="0" spc="533" dirty="0">
                <a:solidFill>
                  <a:srgbClr val="7C8BA8"/>
                </a:solidFill>
                <a:latin typeface="Calibri" panose="020F0502020204030204"/>
              </a:rPr>
              <a:t>PARTIE 05</a:t>
            </a:r>
            <a:endParaRPr lang="en-US" sz="1867" b="1" dirty="0">
              <a:solidFill>
                <a:prstClr val="black"/>
              </a:solidFill>
              <a:latin typeface="Calibri" panose="020F0502020204030204"/>
            </a:endParaRPr>
          </a:p>
        </p:txBody>
      </p:sp>
      <p:sp>
        <p:nvSpPr>
          <p:cNvPr id="4" name="Text 2">
            <a:extLst>
              <a:ext uri="{FF2B5EF4-FFF2-40B4-BE49-F238E27FC236}">
                <a16:creationId xmlns:a16="http://schemas.microsoft.com/office/drawing/2014/main" id="{D077A455-6961-0E78-2F5A-5FC6F0202399}"/>
              </a:ext>
            </a:extLst>
          </p:cNvPr>
          <p:cNvSpPr/>
          <p:nvPr/>
        </p:nvSpPr>
        <p:spPr>
          <a:xfrm>
            <a:off x="609600" y="3048000"/>
            <a:ext cx="10972800" cy="1219200"/>
          </a:xfrm>
          <a:prstGeom prst="rect">
            <a:avLst/>
          </a:prstGeom>
          <a:noFill/>
          <a:ln/>
        </p:spPr>
        <p:txBody>
          <a:bodyPr wrap="square" rtlCol="0" anchor="ctr"/>
          <a:lstStyle/>
          <a:p>
            <a:pPr algn="ctr" defTabSz="1219170"/>
            <a:r>
              <a:rPr lang="en-US" sz="4267" b="1" dirty="0">
                <a:solidFill>
                  <a:srgbClr val="002060"/>
                </a:solidFill>
              </a:rPr>
              <a:t>PRÉDICTIONS &amp; PERSPECTIVES</a:t>
            </a:r>
          </a:p>
        </p:txBody>
      </p:sp>
      <p:sp>
        <p:nvSpPr>
          <p:cNvPr id="5" name="Shape 3">
            <a:extLst>
              <a:ext uri="{FF2B5EF4-FFF2-40B4-BE49-F238E27FC236}">
                <a16:creationId xmlns:a16="http://schemas.microsoft.com/office/drawing/2014/main" id="{BE87D6FD-3171-9023-3D56-7D29E068A53E}"/>
              </a:ext>
            </a:extLst>
          </p:cNvPr>
          <p:cNvSpPr/>
          <p:nvPr/>
        </p:nvSpPr>
        <p:spPr>
          <a:xfrm>
            <a:off x="5181600" y="4511040"/>
            <a:ext cx="1828800" cy="48768"/>
          </a:xfrm>
          <a:prstGeom prst="rect">
            <a:avLst/>
          </a:prstGeom>
          <a:solidFill>
            <a:srgbClr val="F59E0B"/>
          </a:solidFill>
          <a:ln w="12700">
            <a:solidFill>
              <a:srgbClr val="F59E0B"/>
            </a:solidFill>
            <a:prstDash val="solid"/>
          </a:ln>
        </p:spPr>
        <p:txBody>
          <a:bodyPr/>
          <a:lstStyle/>
          <a:p>
            <a:endParaRPr lang="fr-FR"/>
          </a:p>
        </p:txBody>
      </p:sp>
      <p:grpSp>
        <p:nvGrpSpPr>
          <p:cNvPr id="17" name="Groupe 16">
            <a:extLst>
              <a:ext uri="{FF2B5EF4-FFF2-40B4-BE49-F238E27FC236}">
                <a16:creationId xmlns:a16="http://schemas.microsoft.com/office/drawing/2014/main" id="{0C204086-F8F6-AB16-D4E2-A000A53A8BF8}"/>
              </a:ext>
            </a:extLst>
          </p:cNvPr>
          <p:cNvGrpSpPr/>
          <p:nvPr/>
        </p:nvGrpSpPr>
        <p:grpSpPr>
          <a:xfrm>
            <a:off x="5594752" y="1197012"/>
            <a:ext cx="1002497" cy="997548"/>
            <a:chOff x="5594751" y="1197012"/>
            <a:chExt cx="1002497" cy="997548"/>
          </a:xfrm>
        </p:grpSpPr>
        <p:grpSp>
          <p:nvGrpSpPr>
            <p:cNvPr id="13" name="Groupe 12">
              <a:extLst>
                <a:ext uri="{FF2B5EF4-FFF2-40B4-BE49-F238E27FC236}">
                  <a16:creationId xmlns:a16="http://schemas.microsoft.com/office/drawing/2014/main" id="{9840B631-8FD7-7577-80BC-0DEE6B8DE12F}"/>
                </a:ext>
              </a:extLst>
            </p:cNvPr>
            <p:cNvGrpSpPr/>
            <p:nvPr/>
          </p:nvGrpSpPr>
          <p:grpSpPr>
            <a:xfrm>
              <a:off x="5594751" y="1197012"/>
              <a:ext cx="1002497" cy="997548"/>
              <a:chOff x="6263169" y="2855357"/>
              <a:chExt cx="600075" cy="612815"/>
            </a:xfrm>
          </p:grpSpPr>
          <p:sp>
            <p:nvSpPr>
              <p:cNvPr id="14" name="Organigramme : Connecteur 13">
                <a:extLst>
                  <a:ext uri="{FF2B5EF4-FFF2-40B4-BE49-F238E27FC236}">
                    <a16:creationId xmlns:a16="http://schemas.microsoft.com/office/drawing/2014/main" id="{8DAA2C78-0D04-E705-8074-876AA2F7D4FC}"/>
                  </a:ext>
                </a:extLst>
              </p:cNvPr>
              <p:cNvSpPr/>
              <p:nvPr/>
            </p:nvSpPr>
            <p:spPr>
              <a:xfrm>
                <a:off x="6263169" y="2855357"/>
                <a:ext cx="600075" cy="612815"/>
              </a:xfrm>
              <a:prstGeom prst="flowChartConnector">
                <a:avLst/>
              </a:prstGeom>
              <a:solidFill>
                <a:schemeClr val="bg1"/>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I"/>
              </a:p>
            </p:txBody>
          </p:sp>
          <p:sp>
            <p:nvSpPr>
              <p:cNvPr id="15" name="Organigramme : Connecteur 14">
                <a:extLst>
                  <a:ext uri="{FF2B5EF4-FFF2-40B4-BE49-F238E27FC236}">
                    <a16:creationId xmlns:a16="http://schemas.microsoft.com/office/drawing/2014/main" id="{C5EE699E-2603-0A27-43CC-56EA4CBE8161}"/>
                  </a:ext>
                </a:extLst>
              </p:cNvPr>
              <p:cNvSpPr/>
              <p:nvPr/>
            </p:nvSpPr>
            <p:spPr>
              <a:xfrm>
                <a:off x="6370324" y="2964924"/>
                <a:ext cx="385763" cy="393680"/>
              </a:xfrm>
              <a:prstGeom prst="flowChartConnector">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I" dirty="0"/>
              </a:p>
            </p:txBody>
          </p:sp>
        </p:grpSp>
        <p:pic>
          <p:nvPicPr>
            <p:cNvPr id="16" name="Graphic 1031">
              <a:extLst>
                <a:ext uri="{FF2B5EF4-FFF2-40B4-BE49-F238E27FC236}">
                  <a16:creationId xmlns:a16="http://schemas.microsoft.com/office/drawing/2014/main" id="{FBAD2850-C5A5-2EFC-86D0-204D2A5591C7}"/>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867397" y="1467186"/>
              <a:ext cx="457200" cy="457200"/>
            </a:xfrm>
            <a:prstGeom prst="rect">
              <a:avLst/>
            </a:prstGeom>
          </p:spPr>
        </p:pic>
      </p:grpSp>
    </p:spTree>
    <p:extLst>
      <p:ext uri="{BB962C8B-B14F-4D97-AF65-F5344CB8AC3E}">
        <p14:creationId xmlns:p14="http://schemas.microsoft.com/office/powerpoint/2010/main" val="891027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E98E86-248F-2A93-E99B-D780816B2EAA}"/>
            </a:ext>
          </a:extLst>
        </p:cNvPr>
        <p:cNvGrpSpPr/>
        <p:nvPr/>
      </p:nvGrpSpPr>
      <p:grpSpPr>
        <a:xfrm>
          <a:off x="0" y="0"/>
          <a:ext cx="0" cy="0"/>
          <a:chOff x="0" y="0"/>
          <a:chExt cx="0" cy="0"/>
        </a:xfrm>
      </p:grpSpPr>
      <p:graphicFrame>
        <p:nvGraphicFramePr>
          <p:cNvPr id="3" name="Tableau 2">
            <a:extLst>
              <a:ext uri="{FF2B5EF4-FFF2-40B4-BE49-F238E27FC236}">
                <a16:creationId xmlns:a16="http://schemas.microsoft.com/office/drawing/2014/main" id="{70CFAC15-C6A5-CDEE-44DE-78CB8D663B9F}"/>
              </a:ext>
            </a:extLst>
          </p:cNvPr>
          <p:cNvGraphicFramePr>
            <a:graphicFrameLocks noGrp="1"/>
          </p:cNvGraphicFramePr>
          <p:nvPr>
            <p:extLst>
              <p:ext uri="{D42A27DB-BD31-4B8C-83A1-F6EECF244321}">
                <p14:modId xmlns:p14="http://schemas.microsoft.com/office/powerpoint/2010/main" val="1287780749"/>
              </p:ext>
            </p:extLst>
          </p:nvPr>
        </p:nvGraphicFramePr>
        <p:xfrm>
          <a:off x="702466" y="1766740"/>
          <a:ext cx="10879929" cy="3521704"/>
        </p:xfrm>
        <a:graphic>
          <a:graphicData uri="http://schemas.openxmlformats.org/drawingml/2006/table">
            <a:tbl>
              <a:tblPr firstRow="1" firstCol="1" bandRow="1">
                <a:tableStyleId>{7E9639D4-E3E2-4D34-9284-5A2195B3D0D7}</a:tableStyleId>
              </a:tblPr>
              <a:tblGrid>
                <a:gridCol w="2356760">
                  <a:extLst>
                    <a:ext uri="{9D8B030D-6E8A-4147-A177-3AD203B41FA5}">
                      <a16:colId xmlns:a16="http://schemas.microsoft.com/office/drawing/2014/main" val="1284490250"/>
                    </a:ext>
                  </a:extLst>
                </a:gridCol>
                <a:gridCol w="921087">
                  <a:extLst>
                    <a:ext uri="{9D8B030D-6E8A-4147-A177-3AD203B41FA5}">
                      <a16:colId xmlns:a16="http://schemas.microsoft.com/office/drawing/2014/main" val="116118418"/>
                    </a:ext>
                  </a:extLst>
                </a:gridCol>
                <a:gridCol w="1519339">
                  <a:extLst>
                    <a:ext uri="{9D8B030D-6E8A-4147-A177-3AD203B41FA5}">
                      <a16:colId xmlns:a16="http://schemas.microsoft.com/office/drawing/2014/main" val="492689470"/>
                    </a:ext>
                  </a:extLst>
                </a:gridCol>
                <a:gridCol w="1557131">
                  <a:extLst>
                    <a:ext uri="{9D8B030D-6E8A-4147-A177-3AD203B41FA5}">
                      <a16:colId xmlns:a16="http://schemas.microsoft.com/office/drawing/2014/main" val="3063475338"/>
                    </a:ext>
                  </a:extLst>
                </a:gridCol>
                <a:gridCol w="2598310">
                  <a:extLst>
                    <a:ext uri="{9D8B030D-6E8A-4147-A177-3AD203B41FA5}">
                      <a16:colId xmlns:a16="http://schemas.microsoft.com/office/drawing/2014/main" val="2908728103"/>
                    </a:ext>
                  </a:extLst>
                </a:gridCol>
                <a:gridCol w="1927302">
                  <a:extLst>
                    <a:ext uri="{9D8B030D-6E8A-4147-A177-3AD203B41FA5}">
                      <a16:colId xmlns:a16="http://schemas.microsoft.com/office/drawing/2014/main" val="4072720371"/>
                    </a:ext>
                  </a:extLst>
                </a:gridCol>
              </a:tblGrid>
              <a:tr h="440213">
                <a:tc>
                  <a:txBody>
                    <a:bodyPr/>
                    <a:lstStyle/>
                    <a:p>
                      <a:pPr>
                        <a:lnSpc>
                          <a:spcPct val="107000"/>
                        </a:lnSpc>
                        <a:spcAft>
                          <a:spcPts val="800"/>
                        </a:spcAft>
                        <a:buNone/>
                        <a:tabLst>
                          <a:tab pos="2053590" algn="l"/>
                        </a:tabLst>
                      </a:pPr>
                      <a:r>
                        <a:rPr lang="fr-FR" sz="1800" kern="100" dirty="0">
                          <a:effectLst/>
                        </a:rPr>
                        <a:t>Reference</a:t>
                      </a:r>
                      <a:endParaRPr lang="fr-FR"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50800" marB="50800"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solidFill>
                      <a:schemeClr val="accent1">
                        <a:lumMod val="50000"/>
                      </a:schemeClr>
                    </a:solidFill>
                  </a:tcPr>
                </a:tc>
                <a:tc>
                  <a:txBody>
                    <a:bodyPr/>
                    <a:lstStyle/>
                    <a:p>
                      <a:pPr>
                        <a:lnSpc>
                          <a:spcPct val="107000"/>
                        </a:lnSpc>
                        <a:spcAft>
                          <a:spcPts val="800"/>
                        </a:spcAft>
                        <a:buNone/>
                        <a:tabLst>
                          <a:tab pos="2053590" algn="l"/>
                        </a:tabLst>
                      </a:pPr>
                      <a:r>
                        <a:rPr lang="fr-FR" sz="1800" kern="100" dirty="0">
                          <a:effectLst/>
                        </a:rPr>
                        <a:t>Mois</a:t>
                      </a:r>
                      <a:endParaRPr lang="fr-FR"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50800" marB="50800" anchor="ct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solidFill>
                      <a:schemeClr val="accent1">
                        <a:lumMod val="50000"/>
                      </a:schemeClr>
                    </a:solidFill>
                  </a:tcPr>
                </a:tc>
                <a:tc>
                  <a:txBody>
                    <a:bodyPr/>
                    <a:lstStyle/>
                    <a:p>
                      <a:pPr>
                        <a:lnSpc>
                          <a:spcPct val="107000"/>
                        </a:lnSpc>
                        <a:spcAft>
                          <a:spcPts val="800"/>
                        </a:spcAft>
                        <a:buNone/>
                        <a:tabLst>
                          <a:tab pos="2053590" algn="l"/>
                        </a:tabLst>
                      </a:pPr>
                      <a:r>
                        <a:rPr lang="fr-FR" sz="1800" kern="100" dirty="0">
                          <a:effectLst/>
                        </a:rPr>
                        <a:t>P (Ajour)</a:t>
                      </a:r>
                      <a:endParaRPr lang="fr-FR"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50800" marB="50800" anchor="ct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solidFill>
                      <a:schemeClr val="accent1">
                        <a:lumMod val="50000"/>
                      </a:schemeClr>
                    </a:solidFill>
                  </a:tcPr>
                </a:tc>
                <a:tc>
                  <a:txBody>
                    <a:bodyPr/>
                    <a:lstStyle/>
                    <a:p>
                      <a:pPr>
                        <a:lnSpc>
                          <a:spcPct val="107000"/>
                        </a:lnSpc>
                        <a:spcAft>
                          <a:spcPts val="800"/>
                        </a:spcAft>
                        <a:buNone/>
                        <a:tabLst>
                          <a:tab pos="2053590" algn="l"/>
                        </a:tabLst>
                      </a:pPr>
                      <a:r>
                        <a:rPr lang="fr-FR" sz="1800" kern="100" dirty="0">
                          <a:effectLst/>
                        </a:rPr>
                        <a:t>P (En retard)</a:t>
                      </a:r>
                      <a:endParaRPr lang="fr-FR"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50800" marB="50800" anchor="ct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solidFill>
                      <a:schemeClr val="accent1">
                        <a:lumMod val="50000"/>
                      </a:schemeClr>
                    </a:solidFill>
                  </a:tcPr>
                </a:tc>
                <a:tc>
                  <a:txBody>
                    <a:bodyPr/>
                    <a:lstStyle/>
                    <a:p>
                      <a:pPr algn="ctr">
                        <a:lnSpc>
                          <a:spcPct val="107000"/>
                        </a:lnSpc>
                        <a:spcAft>
                          <a:spcPts val="800"/>
                        </a:spcAft>
                        <a:buNone/>
                        <a:tabLst>
                          <a:tab pos="2053590" algn="l"/>
                        </a:tabLst>
                      </a:pPr>
                      <a:r>
                        <a:rPr lang="fr-FR" sz="1800" kern="100" dirty="0">
                          <a:effectLst/>
                        </a:rPr>
                        <a:t>Prédiction par le modèle</a:t>
                      </a:r>
                      <a:endParaRPr lang="fr-FR"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50800" marB="50800"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solidFill>
                      <a:schemeClr val="accent1">
                        <a:lumMod val="50000"/>
                      </a:schemeClr>
                    </a:solidFill>
                  </a:tcPr>
                </a:tc>
                <a:tc>
                  <a:txBody>
                    <a:bodyPr/>
                    <a:lstStyle/>
                    <a:p>
                      <a:pPr algn="ctr">
                        <a:lnSpc>
                          <a:spcPct val="107000"/>
                        </a:lnSpc>
                        <a:spcAft>
                          <a:spcPts val="800"/>
                        </a:spcAft>
                        <a:buNone/>
                        <a:tabLst>
                          <a:tab pos="2053590" algn="l"/>
                        </a:tabLst>
                      </a:pPr>
                      <a:r>
                        <a:rPr lang="fr-FR" sz="1800" kern="100" dirty="0">
                          <a:effectLst/>
                          <a:latin typeface="Calibri" panose="020F0502020204030204" pitchFamily="34" charset="0"/>
                          <a:ea typeface="Calibri" panose="020F0502020204030204" pitchFamily="34" charset="0"/>
                          <a:cs typeface="Times New Roman" panose="02020603050405020304" pitchFamily="18" charset="0"/>
                        </a:rPr>
                        <a:t>Cas réel</a:t>
                      </a:r>
                      <a:endParaRPr lang="fr-FR"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50800" marB="50800"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solidFill>
                      <a:schemeClr val="accent1">
                        <a:lumMod val="50000"/>
                      </a:schemeClr>
                    </a:solidFill>
                  </a:tcPr>
                </a:tc>
                <a:extLst>
                  <a:ext uri="{0D108BD9-81ED-4DB2-BD59-A6C34878D82A}">
                    <a16:rowId xmlns:a16="http://schemas.microsoft.com/office/drawing/2014/main" val="2784442144"/>
                  </a:ext>
                </a:extLst>
              </a:tr>
              <a:tr h="440213">
                <a:tc>
                  <a:txBody>
                    <a:bodyPr/>
                    <a:lstStyle/>
                    <a:p>
                      <a:pPr>
                        <a:lnSpc>
                          <a:spcPct val="107000"/>
                        </a:lnSpc>
                        <a:spcAft>
                          <a:spcPts val="800"/>
                        </a:spcAft>
                        <a:buNone/>
                        <a:tabLst>
                          <a:tab pos="2053590" algn="l"/>
                        </a:tabLst>
                      </a:pPr>
                      <a:r>
                        <a:rPr lang="fr-FR" sz="1800" kern="100" dirty="0">
                          <a:effectLst/>
                        </a:rPr>
                        <a:t>210501005100xy</a:t>
                      </a:r>
                      <a:endParaRPr lang="fr-FR"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50800" marB="50800">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solidFill>
                      <a:schemeClr val="bg1"/>
                    </a:solidFill>
                  </a:tcPr>
                </a:tc>
                <a:tc>
                  <a:txBody>
                    <a:bodyPr/>
                    <a:lstStyle/>
                    <a:p>
                      <a:pPr>
                        <a:lnSpc>
                          <a:spcPct val="107000"/>
                        </a:lnSpc>
                        <a:spcAft>
                          <a:spcPts val="800"/>
                        </a:spcAft>
                        <a:buNone/>
                        <a:tabLst>
                          <a:tab pos="2053590" algn="l"/>
                        </a:tabLst>
                      </a:pPr>
                      <a:r>
                        <a:rPr lang="fr-FR" sz="1800" kern="100" dirty="0">
                          <a:effectLst/>
                        </a:rPr>
                        <a:t>1</a:t>
                      </a:r>
                      <a:endParaRPr lang="fr-FR"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50800" marB="50800">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solidFill>
                      <a:schemeClr val="bg1"/>
                    </a:solidFill>
                  </a:tcPr>
                </a:tc>
                <a:tc>
                  <a:txBody>
                    <a:bodyPr/>
                    <a:lstStyle/>
                    <a:p>
                      <a:pPr>
                        <a:lnSpc>
                          <a:spcPct val="107000"/>
                        </a:lnSpc>
                        <a:spcAft>
                          <a:spcPts val="800"/>
                        </a:spcAft>
                        <a:buNone/>
                        <a:tabLst>
                          <a:tab pos="2053590" algn="l"/>
                        </a:tabLst>
                      </a:pPr>
                      <a:r>
                        <a:rPr lang="fr-FR" sz="1800" kern="100" dirty="0">
                          <a:effectLst/>
                        </a:rPr>
                        <a:t>0,9091</a:t>
                      </a:r>
                      <a:endParaRPr lang="fr-FR"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50800" marB="50800">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solidFill>
                      <a:schemeClr val="bg1"/>
                    </a:solidFill>
                  </a:tcPr>
                </a:tc>
                <a:tc>
                  <a:txBody>
                    <a:bodyPr/>
                    <a:lstStyle/>
                    <a:p>
                      <a:pPr>
                        <a:lnSpc>
                          <a:spcPct val="107000"/>
                        </a:lnSpc>
                        <a:spcAft>
                          <a:spcPts val="800"/>
                        </a:spcAft>
                        <a:buNone/>
                        <a:tabLst>
                          <a:tab pos="2053590" algn="l"/>
                        </a:tabLst>
                      </a:pPr>
                      <a:r>
                        <a:rPr lang="fr-FR" sz="1800" kern="100">
                          <a:effectLst/>
                        </a:rPr>
                        <a:t>0,0909</a:t>
                      </a:r>
                      <a:endParaRPr lang="fr-FR"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50800" marB="50800">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tab pos="2053590" algn="l"/>
                        </a:tabLst>
                        <a:defRPr/>
                      </a:pPr>
                      <a:r>
                        <a:rPr kumimoji="0" lang="fr-FR" sz="1800" b="0" i="0" u="none" strike="noStrike" kern="100" cap="none" spc="0" normalizeH="0" baseline="0" noProof="0" dirty="0">
                          <a:ln>
                            <a:noFill/>
                          </a:ln>
                          <a:solidFill>
                            <a:prstClr val="black"/>
                          </a:solidFill>
                          <a:effectLst/>
                          <a:uLnTx/>
                          <a:uFillTx/>
                          <a:latin typeface="Calibri" panose="020F0502020204030204"/>
                          <a:ea typeface="+mn-ea"/>
                          <a:cs typeface="+mn-cs"/>
                        </a:rPr>
                        <a:t>Ajour</a:t>
                      </a:r>
                      <a:endParaRPr kumimoji="0" lang="fr-FR" sz="16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txBody>
                  <a:tcPr marL="76200" marR="76200" marT="50800" marB="50800">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tab pos="2053590" algn="l"/>
                        </a:tabLst>
                        <a:defRPr/>
                      </a:pPr>
                      <a:r>
                        <a:rPr kumimoji="0" lang="fr-FR" sz="1800" b="0" i="0" u="none" strike="noStrike" kern="100" cap="none" spc="0" normalizeH="0" baseline="0" noProof="0" dirty="0">
                          <a:ln>
                            <a:noFill/>
                          </a:ln>
                          <a:solidFill>
                            <a:prstClr val="black"/>
                          </a:solidFill>
                          <a:effectLst/>
                          <a:uLnTx/>
                          <a:uFillTx/>
                          <a:latin typeface="Calibri" panose="020F0502020204030204"/>
                          <a:ea typeface="+mn-ea"/>
                          <a:cs typeface="+mn-cs"/>
                        </a:rPr>
                        <a:t>Ajour</a:t>
                      </a:r>
                      <a:endParaRPr kumimoji="0" lang="fr-FR" sz="16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txBody>
                  <a:tcPr marL="76200" marR="76200" marT="50800" marB="50800">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40350094"/>
                  </a:ext>
                </a:extLst>
              </a:tr>
              <a:tr h="440213">
                <a:tc>
                  <a:txBody>
                    <a:bodyPr/>
                    <a:lstStyle/>
                    <a:p>
                      <a:pPr>
                        <a:lnSpc>
                          <a:spcPct val="107000"/>
                        </a:lnSpc>
                        <a:spcAft>
                          <a:spcPts val="800"/>
                        </a:spcAft>
                        <a:buNone/>
                        <a:tabLst>
                          <a:tab pos="2053590" algn="l"/>
                        </a:tabLst>
                      </a:pPr>
                      <a:r>
                        <a:rPr lang="fr-FR" sz="1800" kern="100" dirty="0">
                          <a:effectLst/>
                        </a:rPr>
                        <a:t>210501005101xy</a:t>
                      </a:r>
                      <a:endParaRPr lang="fr-FR"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50800" marB="50800">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solidFill>
                      <a:schemeClr val="bg1"/>
                    </a:solidFill>
                  </a:tcPr>
                </a:tc>
                <a:tc>
                  <a:txBody>
                    <a:bodyPr/>
                    <a:lstStyle/>
                    <a:p>
                      <a:pPr>
                        <a:lnSpc>
                          <a:spcPct val="107000"/>
                        </a:lnSpc>
                        <a:spcAft>
                          <a:spcPts val="800"/>
                        </a:spcAft>
                        <a:buNone/>
                        <a:tabLst>
                          <a:tab pos="2053590" algn="l"/>
                        </a:tabLst>
                      </a:pPr>
                      <a:r>
                        <a:rPr lang="fr-FR" sz="1800" kern="100" dirty="0">
                          <a:effectLst/>
                        </a:rPr>
                        <a:t>1</a:t>
                      </a:r>
                      <a:endParaRPr lang="fr-FR"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50800" marB="50800">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solidFill>
                      <a:schemeClr val="bg1"/>
                    </a:solidFill>
                  </a:tcPr>
                </a:tc>
                <a:tc>
                  <a:txBody>
                    <a:bodyPr/>
                    <a:lstStyle/>
                    <a:p>
                      <a:pPr>
                        <a:lnSpc>
                          <a:spcPct val="107000"/>
                        </a:lnSpc>
                        <a:spcAft>
                          <a:spcPts val="800"/>
                        </a:spcAft>
                        <a:buNone/>
                        <a:tabLst>
                          <a:tab pos="2053590" algn="l"/>
                        </a:tabLst>
                      </a:pPr>
                      <a:r>
                        <a:rPr lang="fr-FR" sz="1800" kern="100">
                          <a:effectLst/>
                        </a:rPr>
                        <a:t>0,9849</a:t>
                      </a:r>
                      <a:endParaRPr lang="fr-FR"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50800" marB="50800">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solidFill>
                      <a:schemeClr val="bg1"/>
                    </a:solidFill>
                  </a:tcPr>
                </a:tc>
                <a:tc>
                  <a:txBody>
                    <a:bodyPr/>
                    <a:lstStyle/>
                    <a:p>
                      <a:pPr>
                        <a:lnSpc>
                          <a:spcPct val="107000"/>
                        </a:lnSpc>
                        <a:spcAft>
                          <a:spcPts val="800"/>
                        </a:spcAft>
                        <a:buNone/>
                        <a:tabLst>
                          <a:tab pos="2053590" algn="l"/>
                        </a:tabLst>
                      </a:pPr>
                      <a:r>
                        <a:rPr lang="fr-FR" sz="1800" kern="100">
                          <a:effectLst/>
                        </a:rPr>
                        <a:t>0,0151</a:t>
                      </a:r>
                      <a:endParaRPr lang="fr-FR"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50800" marB="50800">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tab pos="2053590" algn="l"/>
                        </a:tabLst>
                        <a:defRPr/>
                      </a:pPr>
                      <a:r>
                        <a:rPr kumimoji="0" lang="fr-FR" sz="1800" b="0" i="0" u="none" strike="noStrike" kern="100" cap="none" spc="0" normalizeH="0" baseline="0" noProof="0" dirty="0">
                          <a:ln>
                            <a:noFill/>
                          </a:ln>
                          <a:solidFill>
                            <a:prstClr val="black"/>
                          </a:solidFill>
                          <a:effectLst/>
                          <a:uLnTx/>
                          <a:uFillTx/>
                          <a:latin typeface="Calibri" panose="020F0502020204030204"/>
                          <a:ea typeface="+mn-ea"/>
                          <a:cs typeface="+mn-cs"/>
                        </a:rPr>
                        <a:t>Ajour</a:t>
                      </a:r>
                      <a:endParaRPr kumimoji="0" lang="fr-FR" sz="16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txBody>
                  <a:tcPr marL="76200" marR="76200" marT="50800" marB="50800">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tab pos="2053590" algn="l"/>
                        </a:tabLst>
                        <a:defRPr/>
                      </a:pPr>
                      <a:r>
                        <a:rPr kumimoji="0" lang="fr-FR" sz="1800" b="0" i="0" u="none" strike="noStrike" kern="100" cap="none" spc="0" normalizeH="0" baseline="0" noProof="0" dirty="0">
                          <a:ln>
                            <a:noFill/>
                          </a:ln>
                          <a:solidFill>
                            <a:prstClr val="black"/>
                          </a:solidFill>
                          <a:effectLst/>
                          <a:uLnTx/>
                          <a:uFillTx/>
                          <a:latin typeface="Calibri" panose="020F0502020204030204"/>
                          <a:ea typeface="+mn-ea"/>
                          <a:cs typeface="+mn-cs"/>
                        </a:rPr>
                        <a:t>Ajour</a:t>
                      </a:r>
                      <a:endParaRPr kumimoji="0" lang="fr-FR" sz="16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txBody>
                  <a:tcPr marL="76200" marR="76200" marT="50800" marB="50800">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35131127"/>
                  </a:ext>
                </a:extLst>
              </a:tr>
              <a:tr h="440213">
                <a:tc>
                  <a:txBody>
                    <a:bodyPr/>
                    <a:lstStyle/>
                    <a:p>
                      <a:pPr>
                        <a:lnSpc>
                          <a:spcPct val="107000"/>
                        </a:lnSpc>
                        <a:spcAft>
                          <a:spcPts val="800"/>
                        </a:spcAft>
                        <a:buNone/>
                        <a:tabLst>
                          <a:tab pos="2053590" algn="l"/>
                        </a:tabLst>
                      </a:pPr>
                      <a:r>
                        <a:rPr lang="fr-FR" sz="1800" kern="100">
                          <a:effectLst/>
                        </a:rPr>
                        <a:t>210501005120xy</a:t>
                      </a:r>
                      <a:endParaRPr lang="fr-FR"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50800" marB="50800">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solidFill>
                      <a:schemeClr val="bg1"/>
                    </a:solidFill>
                  </a:tcPr>
                </a:tc>
                <a:tc>
                  <a:txBody>
                    <a:bodyPr/>
                    <a:lstStyle/>
                    <a:p>
                      <a:pPr>
                        <a:lnSpc>
                          <a:spcPct val="107000"/>
                        </a:lnSpc>
                        <a:spcAft>
                          <a:spcPts val="800"/>
                        </a:spcAft>
                        <a:buNone/>
                        <a:tabLst>
                          <a:tab pos="2053590" algn="l"/>
                        </a:tabLst>
                      </a:pPr>
                      <a:r>
                        <a:rPr lang="fr-FR" sz="1800" kern="100" dirty="0">
                          <a:effectLst/>
                        </a:rPr>
                        <a:t>1</a:t>
                      </a:r>
                      <a:endParaRPr lang="fr-FR"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50800" marB="50800">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solidFill>
                      <a:schemeClr val="bg1"/>
                    </a:solidFill>
                  </a:tcPr>
                </a:tc>
                <a:tc>
                  <a:txBody>
                    <a:bodyPr/>
                    <a:lstStyle/>
                    <a:p>
                      <a:pPr>
                        <a:lnSpc>
                          <a:spcPct val="107000"/>
                        </a:lnSpc>
                        <a:spcAft>
                          <a:spcPts val="800"/>
                        </a:spcAft>
                        <a:buNone/>
                        <a:tabLst>
                          <a:tab pos="2053590" algn="l"/>
                        </a:tabLst>
                      </a:pPr>
                      <a:r>
                        <a:rPr lang="fr-FR" sz="1800" kern="100" dirty="0">
                          <a:effectLst/>
                        </a:rPr>
                        <a:t>0,8470</a:t>
                      </a:r>
                      <a:endParaRPr lang="fr-FR"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50800" marB="50800">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solidFill>
                      <a:schemeClr val="bg1"/>
                    </a:solidFill>
                  </a:tcPr>
                </a:tc>
                <a:tc>
                  <a:txBody>
                    <a:bodyPr/>
                    <a:lstStyle/>
                    <a:p>
                      <a:pPr>
                        <a:lnSpc>
                          <a:spcPct val="107000"/>
                        </a:lnSpc>
                        <a:spcAft>
                          <a:spcPts val="800"/>
                        </a:spcAft>
                        <a:buNone/>
                        <a:tabLst>
                          <a:tab pos="2053590" algn="l"/>
                        </a:tabLst>
                      </a:pPr>
                      <a:r>
                        <a:rPr lang="fr-FR" sz="1800" kern="100">
                          <a:effectLst/>
                        </a:rPr>
                        <a:t>0,1530</a:t>
                      </a:r>
                      <a:endParaRPr lang="fr-FR"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50800" marB="50800">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tab pos="2053590" algn="l"/>
                        </a:tabLst>
                        <a:defRPr/>
                      </a:pPr>
                      <a:r>
                        <a:rPr kumimoji="0" lang="fr-FR" sz="1800" b="0" i="0" u="none" strike="noStrike" kern="100" cap="none" spc="0" normalizeH="0" baseline="0" noProof="0" dirty="0">
                          <a:ln>
                            <a:noFill/>
                          </a:ln>
                          <a:solidFill>
                            <a:prstClr val="black"/>
                          </a:solidFill>
                          <a:effectLst/>
                          <a:uLnTx/>
                          <a:uFillTx/>
                          <a:latin typeface="Calibri" panose="020F0502020204030204"/>
                          <a:ea typeface="+mn-ea"/>
                          <a:cs typeface="+mn-cs"/>
                        </a:rPr>
                        <a:t>Ajour</a:t>
                      </a:r>
                      <a:endParaRPr kumimoji="0" lang="fr-FR" sz="16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txBody>
                  <a:tcPr marL="76200" marR="76200" marT="50800" marB="50800">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tab pos="2053590" algn="l"/>
                        </a:tabLst>
                        <a:defRPr/>
                      </a:pPr>
                      <a:r>
                        <a:rPr kumimoji="0" lang="fr-FR" sz="1800" b="0" i="0" u="none" strike="noStrike" kern="100" cap="none" spc="0" normalizeH="0" baseline="0" noProof="0" dirty="0">
                          <a:ln>
                            <a:noFill/>
                          </a:ln>
                          <a:solidFill>
                            <a:prstClr val="black"/>
                          </a:solidFill>
                          <a:effectLst/>
                          <a:uLnTx/>
                          <a:uFillTx/>
                          <a:latin typeface="Calibri" panose="020F0502020204030204"/>
                          <a:ea typeface="+mn-ea"/>
                          <a:cs typeface="+mn-cs"/>
                        </a:rPr>
                        <a:t>Ajour</a:t>
                      </a:r>
                      <a:endParaRPr kumimoji="0" lang="fr-FR" sz="16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txBody>
                  <a:tcPr marL="76200" marR="76200" marT="50800" marB="50800">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93760790"/>
                  </a:ext>
                </a:extLst>
              </a:tr>
              <a:tr h="440213">
                <a:tc>
                  <a:txBody>
                    <a:bodyPr/>
                    <a:lstStyle/>
                    <a:p>
                      <a:pPr>
                        <a:lnSpc>
                          <a:spcPct val="107000"/>
                        </a:lnSpc>
                        <a:spcAft>
                          <a:spcPts val="800"/>
                        </a:spcAft>
                        <a:buNone/>
                        <a:tabLst>
                          <a:tab pos="2053590" algn="l"/>
                        </a:tabLst>
                      </a:pPr>
                      <a:r>
                        <a:rPr lang="fr-FR" sz="1800" kern="100">
                          <a:effectLst/>
                        </a:rPr>
                        <a:t>210501005140xy</a:t>
                      </a:r>
                      <a:endParaRPr lang="fr-FR"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50800" marB="50800">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solidFill>
                      <a:schemeClr val="bg1"/>
                    </a:solidFill>
                  </a:tcPr>
                </a:tc>
                <a:tc>
                  <a:txBody>
                    <a:bodyPr/>
                    <a:lstStyle/>
                    <a:p>
                      <a:pPr>
                        <a:lnSpc>
                          <a:spcPct val="107000"/>
                        </a:lnSpc>
                        <a:spcAft>
                          <a:spcPts val="800"/>
                        </a:spcAft>
                        <a:buNone/>
                        <a:tabLst>
                          <a:tab pos="2053590" algn="l"/>
                        </a:tabLst>
                      </a:pPr>
                      <a:r>
                        <a:rPr lang="fr-FR" sz="1800" kern="100" dirty="0">
                          <a:effectLst/>
                        </a:rPr>
                        <a:t>1</a:t>
                      </a:r>
                      <a:endParaRPr lang="fr-FR"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50800" marB="50800">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solidFill>
                      <a:schemeClr val="bg1"/>
                    </a:solidFill>
                  </a:tcPr>
                </a:tc>
                <a:tc>
                  <a:txBody>
                    <a:bodyPr/>
                    <a:lstStyle/>
                    <a:p>
                      <a:pPr>
                        <a:lnSpc>
                          <a:spcPct val="107000"/>
                        </a:lnSpc>
                        <a:spcAft>
                          <a:spcPts val="800"/>
                        </a:spcAft>
                        <a:buNone/>
                        <a:tabLst>
                          <a:tab pos="2053590" algn="l"/>
                        </a:tabLst>
                      </a:pPr>
                      <a:r>
                        <a:rPr lang="fr-FR" sz="1800" kern="100" dirty="0">
                          <a:effectLst/>
                        </a:rPr>
                        <a:t>0,8699</a:t>
                      </a:r>
                      <a:endParaRPr lang="fr-FR"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50800" marB="50800">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solidFill>
                      <a:schemeClr val="bg1"/>
                    </a:solidFill>
                  </a:tcPr>
                </a:tc>
                <a:tc>
                  <a:txBody>
                    <a:bodyPr/>
                    <a:lstStyle/>
                    <a:p>
                      <a:pPr>
                        <a:lnSpc>
                          <a:spcPct val="107000"/>
                        </a:lnSpc>
                        <a:spcAft>
                          <a:spcPts val="800"/>
                        </a:spcAft>
                        <a:buNone/>
                        <a:tabLst>
                          <a:tab pos="2053590" algn="l"/>
                        </a:tabLst>
                      </a:pPr>
                      <a:r>
                        <a:rPr lang="fr-FR" sz="1800" kern="100" dirty="0">
                          <a:effectLst/>
                        </a:rPr>
                        <a:t>0,1301</a:t>
                      </a:r>
                      <a:endParaRPr lang="fr-FR"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50800" marB="50800">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solidFill>
                      <a:schemeClr val="bg1"/>
                    </a:solidFill>
                  </a:tcPr>
                </a:tc>
                <a:tc>
                  <a:txBody>
                    <a:bodyPr/>
                    <a:lstStyle/>
                    <a:p>
                      <a:pPr algn="ctr">
                        <a:lnSpc>
                          <a:spcPct val="107000"/>
                        </a:lnSpc>
                        <a:spcAft>
                          <a:spcPts val="800"/>
                        </a:spcAft>
                        <a:buNone/>
                        <a:tabLst>
                          <a:tab pos="2053590" algn="l"/>
                        </a:tabLst>
                      </a:pPr>
                      <a:r>
                        <a:rPr lang="fr-FR" sz="1800" kern="100" dirty="0">
                          <a:effectLst/>
                        </a:rPr>
                        <a:t>Ajour</a:t>
                      </a:r>
                      <a:endParaRPr lang="fr-FR"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50800" marB="50800">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solidFill>
                      <a:schemeClr val="bg1"/>
                    </a:solidFill>
                  </a:tcPr>
                </a:tc>
                <a:tc>
                  <a:txBody>
                    <a:bodyPr/>
                    <a:lstStyle/>
                    <a:p>
                      <a:pPr algn="ctr">
                        <a:lnSpc>
                          <a:spcPct val="107000"/>
                        </a:lnSpc>
                        <a:spcAft>
                          <a:spcPts val="800"/>
                        </a:spcAft>
                        <a:buNone/>
                        <a:tabLst>
                          <a:tab pos="2053590" algn="l"/>
                        </a:tabLst>
                      </a:pPr>
                      <a:r>
                        <a:rPr lang="fr-FR" sz="1800" kern="100" dirty="0">
                          <a:effectLst/>
                        </a:rPr>
                        <a:t>Ajour</a:t>
                      </a:r>
                      <a:endParaRPr lang="fr-FR"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50800" marB="50800">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91500663"/>
                  </a:ext>
                </a:extLst>
              </a:tr>
              <a:tr h="440213">
                <a:tc>
                  <a:txBody>
                    <a:bodyPr/>
                    <a:lstStyle/>
                    <a:p>
                      <a:pPr>
                        <a:lnSpc>
                          <a:spcPct val="107000"/>
                        </a:lnSpc>
                        <a:spcAft>
                          <a:spcPts val="800"/>
                        </a:spcAft>
                        <a:buNone/>
                        <a:tabLst>
                          <a:tab pos="2053590" algn="l"/>
                        </a:tabLst>
                      </a:pPr>
                      <a:r>
                        <a:rPr lang="fr-FR" sz="1800" kern="100">
                          <a:effectLst/>
                        </a:rPr>
                        <a:t>210501005150xy</a:t>
                      </a:r>
                      <a:endParaRPr lang="fr-FR"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50800" marB="50800">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solidFill>
                      <a:schemeClr val="bg1"/>
                    </a:solidFill>
                  </a:tcPr>
                </a:tc>
                <a:tc>
                  <a:txBody>
                    <a:bodyPr/>
                    <a:lstStyle/>
                    <a:p>
                      <a:pPr>
                        <a:lnSpc>
                          <a:spcPct val="107000"/>
                        </a:lnSpc>
                        <a:spcAft>
                          <a:spcPts val="800"/>
                        </a:spcAft>
                        <a:buNone/>
                        <a:tabLst>
                          <a:tab pos="2053590" algn="l"/>
                        </a:tabLst>
                      </a:pPr>
                      <a:r>
                        <a:rPr lang="fr-FR" sz="1800" kern="100" dirty="0">
                          <a:effectLst/>
                        </a:rPr>
                        <a:t>1</a:t>
                      </a:r>
                      <a:endParaRPr lang="fr-FR"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50800" marB="50800">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solidFill>
                      <a:schemeClr val="bg1"/>
                    </a:solidFill>
                  </a:tcPr>
                </a:tc>
                <a:tc>
                  <a:txBody>
                    <a:bodyPr/>
                    <a:lstStyle/>
                    <a:p>
                      <a:pPr>
                        <a:lnSpc>
                          <a:spcPct val="107000"/>
                        </a:lnSpc>
                        <a:spcAft>
                          <a:spcPts val="800"/>
                        </a:spcAft>
                        <a:buNone/>
                        <a:tabLst>
                          <a:tab pos="2053590" algn="l"/>
                        </a:tabLst>
                      </a:pPr>
                      <a:r>
                        <a:rPr lang="fr-FR" sz="1800" kern="100" dirty="0">
                          <a:effectLst/>
                        </a:rPr>
                        <a:t>0,0166</a:t>
                      </a:r>
                      <a:endParaRPr lang="fr-FR"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50800" marB="50800">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solidFill>
                      <a:schemeClr val="bg1"/>
                    </a:solidFill>
                  </a:tcPr>
                </a:tc>
                <a:tc>
                  <a:txBody>
                    <a:bodyPr/>
                    <a:lstStyle/>
                    <a:p>
                      <a:pPr>
                        <a:lnSpc>
                          <a:spcPct val="107000"/>
                        </a:lnSpc>
                        <a:spcAft>
                          <a:spcPts val="800"/>
                        </a:spcAft>
                        <a:buNone/>
                        <a:tabLst>
                          <a:tab pos="2053590" algn="l"/>
                        </a:tabLst>
                      </a:pPr>
                      <a:r>
                        <a:rPr lang="fr-FR" sz="1800" kern="100" dirty="0">
                          <a:effectLst/>
                        </a:rPr>
                        <a:t>0,9834</a:t>
                      </a:r>
                      <a:endParaRPr lang="fr-FR"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50800" marB="50800">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solidFill>
                      <a:schemeClr val="bg1"/>
                    </a:solidFill>
                  </a:tcPr>
                </a:tc>
                <a:tc>
                  <a:txBody>
                    <a:bodyPr/>
                    <a:lstStyle/>
                    <a:p>
                      <a:pPr algn="ctr">
                        <a:lnSpc>
                          <a:spcPct val="107000"/>
                        </a:lnSpc>
                        <a:spcAft>
                          <a:spcPts val="800"/>
                        </a:spcAft>
                        <a:buNone/>
                        <a:tabLst>
                          <a:tab pos="2053590" algn="l"/>
                        </a:tabLst>
                      </a:pPr>
                      <a:r>
                        <a:rPr lang="fr-FR" sz="1800" kern="100" dirty="0">
                          <a:effectLst/>
                        </a:rPr>
                        <a:t>En retard</a:t>
                      </a:r>
                      <a:endParaRPr lang="fr-FR"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50800" marB="50800">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solidFill>
                      <a:schemeClr val="bg1"/>
                    </a:solidFill>
                  </a:tcPr>
                </a:tc>
                <a:tc>
                  <a:txBody>
                    <a:bodyPr/>
                    <a:lstStyle/>
                    <a:p>
                      <a:pPr algn="ctr">
                        <a:lnSpc>
                          <a:spcPct val="107000"/>
                        </a:lnSpc>
                        <a:spcAft>
                          <a:spcPts val="800"/>
                        </a:spcAft>
                        <a:buNone/>
                        <a:tabLst>
                          <a:tab pos="2053590" algn="l"/>
                        </a:tabLst>
                      </a:pPr>
                      <a:r>
                        <a:rPr lang="fr-FR" sz="1800" kern="100" dirty="0">
                          <a:effectLst/>
                        </a:rPr>
                        <a:t>En retard</a:t>
                      </a:r>
                      <a:endParaRPr lang="fr-FR"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50800" marB="50800">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46632821"/>
                  </a:ext>
                </a:extLst>
              </a:tr>
              <a:tr h="440213">
                <a:tc>
                  <a:txBody>
                    <a:bodyPr/>
                    <a:lstStyle/>
                    <a:p>
                      <a:pPr>
                        <a:lnSpc>
                          <a:spcPct val="107000"/>
                        </a:lnSpc>
                        <a:spcAft>
                          <a:spcPts val="800"/>
                        </a:spcAft>
                        <a:buNone/>
                        <a:tabLst>
                          <a:tab pos="2053590" algn="l"/>
                        </a:tabLst>
                      </a:pPr>
                      <a:r>
                        <a:rPr lang="fr-FR" sz="1800" kern="100">
                          <a:effectLst/>
                        </a:rPr>
                        <a:t>210501005170xy</a:t>
                      </a:r>
                      <a:endParaRPr lang="fr-FR"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50800" marB="50800">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solidFill>
                      <a:schemeClr val="bg1"/>
                    </a:solidFill>
                  </a:tcPr>
                </a:tc>
                <a:tc>
                  <a:txBody>
                    <a:bodyPr/>
                    <a:lstStyle/>
                    <a:p>
                      <a:pPr>
                        <a:lnSpc>
                          <a:spcPct val="107000"/>
                        </a:lnSpc>
                        <a:spcAft>
                          <a:spcPts val="800"/>
                        </a:spcAft>
                        <a:buNone/>
                        <a:tabLst>
                          <a:tab pos="2053590" algn="l"/>
                        </a:tabLst>
                      </a:pPr>
                      <a:r>
                        <a:rPr lang="fr-FR" sz="1800" kern="100" dirty="0">
                          <a:effectLst/>
                        </a:rPr>
                        <a:t>1</a:t>
                      </a:r>
                      <a:endParaRPr lang="fr-FR"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50800" marB="50800">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solidFill>
                      <a:schemeClr val="bg1"/>
                    </a:solidFill>
                  </a:tcPr>
                </a:tc>
                <a:tc>
                  <a:txBody>
                    <a:bodyPr/>
                    <a:lstStyle/>
                    <a:p>
                      <a:pPr>
                        <a:lnSpc>
                          <a:spcPct val="107000"/>
                        </a:lnSpc>
                        <a:spcAft>
                          <a:spcPts val="800"/>
                        </a:spcAft>
                        <a:buNone/>
                        <a:tabLst>
                          <a:tab pos="2053590" algn="l"/>
                        </a:tabLst>
                      </a:pPr>
                      <a:r>
                        <a:rPr lang="fr-FR" sz="1800" kern="100">
                          <a:effectLst/>
                        </a:rPr>
                        <a:t>0,6285</a:t>
                      </a:r>
                      <a:endParaRPr lang="fr-FR"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50800" marB="50800">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solidFill>
                      <a:schemeClr val="bg1"/>
                    </a:solidFill>
                  </a:tcPr>
                </a:tc>
                <a:tc>
                  <a:txBody>
                    <a:bodyPr/>
                    <a:lstStyle/>
                    <a:p>
                      <a:pPr>
                        <a:lnSpc>
                          <a:spcPct val="107000"/>
                        </a:lnSpc>
                        <a:spcAft>
                          <a:spcPts val="800"/>
                        </a:spcAft>
                        <a:buNone/>
                        <a:tabLst>
                          <a:tab pos="2053590" algn="l"/>
                        </a:tabLst>
                      </a:pPr>
                      <a:r>
                        <a:rPr lang="fr-FR" sz="1800" kern="100" dirty="0">
                          <a:effectLst/>
                        </a:rPr>
                        <a:t>0,3715</a:t>
                      </a:r>
                      <a:endParaRPr lang="fr-FR"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50800" marB="50800">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solidFill>
                      <a:schemeClr val="bg1"/>
                    </a:solidFill>
                  </a:tcPr>
                </a:tc>
                <a:tc>
                  <a:txBody>
                    <a:bodyPr/>
                    <a:lstStyle/>
                    <a:p>
                      <a:pPr algn="ctr">
                        <a:lnSpc>
                          <a:spcPct val="107000"/>
                        </a:lnSpc>
                        <a:spcAft>
                          <a:spcPts val="800"/>
                        </a:spcAft>
                        <a:buNone/>
                        <a:tabLst>
                          <a:tab pos="2053590" algn="l"/>
                        </a:tabLst>
                      </a:pPr>
                      <a:r>
                        <a:rPr lang="fr-FR" sz="1800" kern="100" dirty="0">
                          <a:effectLst/>
                        </a:rPr>
                        <a:t>Ajour</a:t>
                      </a:r>
                      <a:endParaRPr lang="fr-FR"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50800" marB="50800">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solidFill>
                      <a:schemeClr val="bg1"/>
                    </a:solidFill>
                  </a:tcPr>
                </a:tc>
                <a:tc>
                  <a:txBody>
                    <a:bodyPr/>
                    <a:lstStyle/>
                    <a:p>
                      <a:pPr algn="ctr">
                        <a:lnSpc>
                          <a:spcPct val="107000"/>
                        </a:lnSpc>
                        <a:spcAft>
                          <a:spcPts val="800"/>
                        </a:spcAft>
                        <a:buNone/>
                        <a:tabLst>
                          <a:tab pos="2053590" algn="l"/>
                        </a:tabLst>
                      </a:pPr>
                      <a:r>
                        <a:rPr lang="fr-FR" sz="1800" kern="100" dirty="0">
                          <a:effectLst/>
                          <a:highlight>
                            <a:srgbClr val="FF0000"/>
                          </a:highlight>
                        </a:rPr>
                        <a:t>En retard</a:t>
                      </a:r>
                      <a:endParaRPr lang="fr-FR" sz="1600" kern="100" dirty="0">
                        <a:effectLst/>
                        <a:highlight>
                          <a:srgbClr val="FF0000"/>
                        </a:highlight>
                        <a:latin typeface="Calibri" panose="020F0502020204030204" pitchFamily="34" charset="0"/>
                        <a:ea typeface="Calibri" panose="020F0502020204030204" pitchFamily="34" charset="0"/>
                        <a:cs typeface="Times New Roman" panose="02020603050405020304" pitchFamily="18" charset="0"/>
                      </a:endParaRPr>
                    </a:p>
                  </a:txBody>
                  <a:tcPr marL="76200" marR="76200" marT="50800" marB="50800">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34057333"/>
                  </a:ext>
                </a:extLst>
              </a:tr>
              <a:tr h="440213">
                <a:tc>
                  <a:txBody>
                    <a:bodyPr/>
                    <a:lstStyle/>
                    <a:p>
                      <a:pPr>
                        <a:lnSpc>
                          <a:spcPct val="107000"/>
                        </a:lnSpc>
                        <a:spcAft>
                          <a:spcPts val="800"/>
                        </a:spcAft>
                        <a:buNone/>
                        <a:tabLst>
                          <a:tab pos="2053590" algn="l"/>
                        </a:tabLst>
                      </a:pPr>
                      <a:r>
                        <a:rPr lang="fr-FR" sz="1800" kern="100" dirty="0">
                          <a:effectLst/>
                        </a:rPr>
                        <a:t>210501005190xy</a:t>
                      </a:r>
                      <a:endParaRPr lang="fr-FR"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50800" marB="50800">
                    <a:lnL w="6350" cap="flat" cmpd="sng" algn="ctr">
                      <a:noFill/>
                      <a:prstDash val="solid"/>
                      <a:miter lim="800000"/>
                    </a:lnL>
                    <a:lnR>
                      <a:noFill/>
                    </a:lnR>
                    <a:lnT w="6350" cap="flat" cmpd="sng" algn="ctr">
                      <a:noFill/>
                      <a:prstDash val="solid"/>
                      <a:miter lim="800000"/>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nSpc>
                          <a:spcPct val="107000"/>
                        </a:lnSpc>
                        <a:spcAft>
                          <a:spcPts val="800"/>
                        </a:spcAft>
                        <a:buNone/>
                        <a:tabLst>
                          <a:tab pos="2053590" algn="l"/>
                        </a:tabLst>
                      </a:pPr>
                      <a:r>
                        <a:rPr lang="fr-FR" sz="1800" kern="100" dirty="0">
                          <a:effectLst/>
                        </a:rPr>
                        <a:t>1</a:t>
                      </a:r>
                      <a:endParaRPr lang="fr-FR"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50800" marB="50800">
                    <a:lnL>
                      <a:noFill/>
                    </a:lnL>
                    <a:lnR>
                      <a:noFill/>
                    </a:lnR>
                    <a:lnT w="6350" cap="flat" cmpd="sng" algn="ctr">
                      <a:noFill/>
                      <a:prstDash val="solid"/>
                      <a:miter lim="800000"/>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nSpc>
                          <a:spcPct val="107000"/>
                        </a:lnSpc>
                        <a:spcAft>
                          <a:spcPts val="800"/>
                        </a:spcAft>
                        <a:buNone/>
                        <a:tabLst>
                          <a:tab pos="2053590" algn="l"/>
                        </a:tabLst>
                      </a:pPr>
                      <a:r>
                        <a:rPr lang="fr-FR" sz="1800" kern="100">
                          <a:effectLst/>
                        </a:rPr>
                        <a:t>0,3682</a:t>
                      </a:r>
                      <a:endParaRPr lang="fr-FR"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50800" marB="50800">
                    <a:lnL>
                      <a:noFill/>
                    </a:lnL>
                    <a:lnR>
                      <a:noFill/>
                    </a:lnR>
                    <a:lnT w="6350" cap="flat" cmpd="sng" algn="ctr">
                      <a:noFill/>
                      <a:prstDash val="solid"/>
                      <a:miter lim="800000"/>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nSpc>
                          <a:spcPct val="107000"/>
                        </a:lnSpc>
                        <a:spcAft>
                          <a:spcPts val="800"/>
                        </a:spcAft>
                        <a:buNone/>
                        <a:tabLst>
                          <a:tab pos="2053590" algn="l"/>
                        </a:tabLst>
                      </a:pPr>
                      <a:r>
                        <a:rPr lang="fr-FR" sz="1800" kern="100" dirty="0">
                          <a:effectLst/>
                        </a:rPr>
                        <a:t>0,6318</a:t>
                      </a:r>
                      <a:endParaRPr lang="fr-FR"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50800" marB="50800">
                    <a:lnL>
                      <a:noFill/>
                    </a:lnL>
                    <a:lnR>
                      <a:noFill/>
                    </a:lnR>
                    <a:lnT w="6350" cap="flat" cmpd="sng" algn="ctr">
                      <a:noFill/>
                      <a:prstDash val="solid"/>
                      <a:miter lim="800000"/>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7000"/>
                        </a:lnSpc>
                        <a:spcAft>
                          <a:spcPts val="800"/>
                        </a:spcAft>
                        <a:buNone/>
                        <a:tabLst>
                          <a:tab pos="2053590" algn="l"/>
                        </a:tabLst>
                      </a:pPr>
                      <a:r>
                        <a:rPr lang="fr-FR" sz="1800" kern="100" dirty="0">
                          <a:effectLst/>
                        </a:rPr>
                        <a:t>En retard</a:t>
                      </a:r>
                      <a:endParaRPr lang="fr-FR"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50800" marB="50800">
                    <a:lnL>
                      <a:noFill/>
                    </a:lnL>
                    <a:lnR w="6350" cap="flat" cmpd="sng" algn="ctr">
                      <a:noFill/>
                      <a:prstDash val="solid"/>
                      <a:miter lim="800000"/>
                    </a:lnR>
                    <a:lnT w="6350" cap="flat" cmpd="sng" algn="ctr">
                      <a:noFill/>
                      <a:prstDash val="solid"/>
                      <a:miter lim="800000"/>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7000"/>
                        </a:lnSpc>
                        <a:spcAft>
                          <a:spcPts val="800"/>
                        </a:spcAft>
                        <a:buNone/>
                        <a:tabLst>
                          <a:tab pos="2053590" algn="l"/>
                        </a:tabLst>
                      </a:pPr>
                      <a:r>
                        <a:rPr lang="fr-FR" sz="1800" kern="100" dirty="0">
                          <a:effectLst/>
                        </a:rPr>
                        <a:t>En retard</a:t>
                      </a:r>
                      <a:endParaRPr lang="fr-FR"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50800" marB="50800">
                    <a:lnL>
                      <a:noFill/>
                    </a:lnL>
                    <a:lnR w="6350" cap="flat" cmpd="sng" algn="ctr">
                      <a:noFill/>
                      <a:prstDash val="solid"/>
                      <a:miter lim="800000"/>
                    </a:lnR>
                    <a:lnT w="6350" cap="flat" cmpd="sng" algn="ctr">
                      <a:noFill/>
                      <a:prstDash val="solid"/>
                      <a:miter lim="800000"/>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35023367"/>
                  </a:ext>
                </a:extLst>
              </a:tr>
            </a:tbl>
          </a:graphicData>
        </a:graphic>
      </p:graphicFrame>
      <p:grpSp>
        <p:nvGrpSpPr>
          <p:cNvPr id="4" name="Groupe 3">
            <a:extLst>
              <a:ext uri="{FF2B5EF4-FFF2-40B4-BE49-F238E27FC236}">
                <a16:creationId xmlns:a16="http://schemas.microsoft.com/office/drawing/2014/main" id="{3465E050-E059-801E-D171-E383E2648099}"/>
              </a:ext>
            </a:extLst>
          </p:cNvPr>
          <p:cNvGrpSpPr/>
          <p:nvPr/>
        </p:nvGrpSpPr>
        <p:grpSpPr>
          <a:xfrm>
            <a:off x="11081151" y="124008"/>
            <a:ext cx="1002497" cy="997548"/>
            <a:chOff x="11081151" y="124008"/>
            <a:chExt cx="1002497" cy="997548"/>
          </a:xfrm>
        </p:grpSpPr>
        <p:grpSp>
          <p:nvGrpSpPr>
            <p:cNvPr id="6" name="Groupe 5">
              <a:extLst>
                <a:ext uri="{FF2B5EF4-FFF2-40B4-BE49-F238E27FC236}">
                  <a16:creationId xmlns:a16="http://schemas.microsoft.com/office/drawing/2014/main" id="{0A399F63-A1B1-CF3B-54A3-4D3DCD162563}"/>
                </a:ext>
              </a:extLst>
            </p:cNvPr>
            <p:cNvGrpSpPr/>
            <p:nvPr/>
          </p:nvGrpSpPr>
          <p:grpSpPr>
            <a:xfrm>
              <a:off x="11081151" y="124008"/>
              <a:ext cx="1002497" cy="997548"/>
              <a:chOff x="6263169" y="2855357"/>
              <a:chExt cx="600075" cy="612815"/>
            </a:xfrm>
          </p:grpSpPr>
          <p:sp>
            <p:nvSpPr>
              <p:cNvPr id="9" name="Organigramme : Connecteur 8">
                <a:extLst>
                  <a:ext uri="{FF2B5EF4-FFF2-40B4-BE49-F238E27FC236}">
                    <a16:creationId xmlns:a16="http://schemas.microsoft.com/office/drawing/2014/main" id="{E8B9E30F-7F2C-CEF2-4074-94F67A1618A9}"/>
                  </a:ext>
                </a:extLst>
              </p:cNvPr>
              <p:cNvSpPr/>
              <p:nvPr/>
            </p:nvSpPr>
            <p:spPr>
              <a:xfrm>
                <a:off x="6263169" y="2855357"/>
                <a:ext cx="600075" cy="612815"/>
              </a:xfrm>
              <a:prstGeom prst="flowChartConnector">
                <a:avLst/>
              </a:prstGeom>
              <a:solidFill>
                <a:schemeClr val="bg1"/>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I"/>
              </a:p>
            </p:txBody>
          </p:sp>
          <p:sp>
            <p:nvSpPr>
              <p:cNvPr id="12" name="Organigramme : Connecteur 11">
                <a:extLst>
                  <a:ext uri="{FF2B5EF4-FFF2-40B4-BE49-F238E27FC236}">
                    <a16:creationId xmlns:a16="http://schemas.microsoft.com/office/drawing/2014/main" id="{90F2148F-3B5D-EA5A-CF40-9544998D57F2}"/>
                  </a:ext>
                </a:extLst>
              </p:cNvPr>
              <p:cNvSpPr/>
              <p:nvPr/>
            </p:nvSpPr>
            <p:spPr>
              <a:xfrm>
                <a:off x="6370324" y="2964924"/>
                <a:ext cx="385763" cy="393680"/>
              </a:xfrm>
              <a:prstGeom prst="flowChartConnector">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I" dirty="0"/>
              </a:p>
            </p:txBody>
          </p:sp>
        </p:grpSp>
        <p:pic>
          <p:nvPicPr>
            <p:cNvPr id="8" name="Graphic 1031">
              <a:extLst>
                <a:ext uri="{FF2B5EF4-FFF2-40B4-BE49-F238E27FC236}">
                  <a16:creationId xmlns:a16="http://schemas.microsoft.com/office/drawing/2014/main" id="{293B28CF-2620-F9EC-66D7-A34A55040CF8}"/>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1353797" y="394182"/>
              <a:ext cx="457200" cy="457200"/>
            </a:xfrm>
            <a:prstGeom prst="rect">
              <a:avLst/>
            </a:prstGeom>
          </p:spPr>
        </p:pic>
      </p:grpSp>
      <p:sp>
        <p:nvSpPr>
          <p:cNvPr id="13" name="ZoneTexte 12">
            <a:extLst>
              <a:ext uri="{FF2B5EF4-FFF2-40B4-BE49-F238E27FC236}">
                <a16:creationId xmlns:a16="http://schemas.microsoft.com/office/drawing/2014/main" id="{DA49F6B7-F1CD-2EF5-1817-EBB9EEB10AB4}"/>
              </a:ext>
            </a:extLst>
          </p:cNvPr>
          <p:cNvSpPr txBox="1"/>
          <p:nvPr/>
        </p:nvSpPr>
        <p:spPr>
          <a:xfrm>
            <a:off x="80035" y="40933"/>
            <a:ext cx="5767553" cy="369332"/>
          </a:xfrm>
          <a:prstGeom prst="rect">
            <a:avLst/>
          </a:prstGeom>
          <a:noFill/>
          <a:effectLst>
            <a:reflection stA="63000" endPos="11000" dist="50800" dir="5400000" sy="-100000" algn="bl" rotWithShape="0"/>
          </a:effectLst>
        </p:spPr>
        <p:txBody>
          <a:bodyPr wrap="square" rtlCol="0">
            <a:spAutoFit/>
          </a:bodyPr>
          <a:lstStyle/>
          <a:p>
            <a:r>
              <a:rPr lang="fr-CI" b="1" dirty="0">
                <a:solidFill>
                  <a:schemeClr val="accent1">
                    <a:lumMod val="50000"/>
                  </a:schemeClr>
                </a:solidFill>
                <a:latin typeface="+mn-lt" panose="020E0705020206020404" pitchFamily="34" charset="0"/>
              </a:rPr>
              <a:t>Partie 5 : Prédictions &amp; perspectives</a:t>
            </a:r>
          </a:p>
        </p:txBody>
      </p:sp>
      <p:sp>
        <p:nvSpPr>
          <p:cNvPr id="15" name="Title 1">
            <a:extLst>
              <a:ext uri="{FF2B5EF4-FFF2-40B4-BE49-F238E27FC236}">
                <a16:creationId xmlns:a16="http://schemas.microsoft.com/office/drawing/2014/main" id="{9D615833-112A-344A-C3BE-D58619426ECD}"/>
              </a:ext>
            </a:extLst>
          </p:cNvPr>
          <p:cNvSpPr txBox="1">
            <a:spLocks/>
          </p:cNvSpPr>
          <p:nvPr/>
        </p:nvSpPr>
        <p:spPr>
          <a:xfrm>
            <a:off x="1325880" y="680907"/>
            <a:ext cx="9043416" cy="729114"/>
          </a:xfrm>
          <a:prstGeom prst="rect">
            <a:avLst/>
          </a:prstGeom>
          <a:ln w="19050">
            <a:noFill/>
          </a:ln>
          <a:effectLst>
            <a:reflection blurRad="6350" stA="52000" endA="300" endPos="35000" dir="5400000" sy="-100000" algn="bl" rotWithShape="0"/>
          </a:effectLst>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n-lt"/>
                <a:ea typeface="+mj-ea"/>
                <a:cs typeface="+mj-cs"/>
              </a:defRPr>
            </a:lvl1pPr>
          </a:lstStyle>
          <a:p>
            <a:r>
              <a:rPr lang="fr-FR" sz="4000" b="1" dirty="0">
                <a:solidFill>
                  <a:srgbClr val="002060"/>
                </a:solidFill>
                <a:latin typeface="+mn-lt" panose="02020603050405020304" pitchFamily="18" charset="0"/>
                <a:cs typeface="+mn-cs" panose="02020603050405020304" pitchFamily="18" charset="0"/>
              </a:rPr>
              <a:t>Prédictions du modèle</a:t>
            </a:r>
          </a:p>
        </p:txBody>
      </p:sp>
    </p:spTree>
    <p:extLst>
      <p:ext uri="{BB962C8B-B14F-4D97-AF65-F5344CB8AC3E}">
        <p14:creationId xmlns:p14="http://schemas.microsoft.com/office/powerpoint/2010/main" val="25147591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B2F3FC-760F-2E7C-A614-508D5056B045}"/>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8AA4C504-AAD4-25AB-DB2A-51E03C75B6F2}"/>
              </a:ext>
            </a:extLst>
          </p:cNvPr>
          <p:cNvSpPr txBox="1">
            <a:spLocks/>
          </p:cNvSpPr>
          <p:nvPr/>
        </p:nvSpPr>
        <p:spPr>
          <a:xfrm>
            <a:off x="560199" y="758184"/>
            <a:ext cx="10954512" cy="1143000"/>
          </a:xfrm>
          <a:prstGeom prst="rect">
            <a:avLst/>
          </a:prstGeom>
          <a:effectLst/>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n-lt"/>
                <a:ea typeface="+mj-ea"/>
                <a:cs typeface="+mj-cs"/>
              </a:defRPr>
            </a:lvl1pPr>
          </a:lstStyle>
          <a:p>
            <a:r>
              <a:rPr lang="fr-CI" sz="4800" b="1" dirty="0">
                <a:solidFill>
                  <a:srgbClr val="002060"/>
                </a:solidFill>
                <a:latin typeface="+mn-lt" panose="02020603050405020304" pitchFamily="18" charset="0"/>
                <a:cs typeface="+mn-cs" panose="02020603050405020304" pitchFamily="18" charset="0"/>
              </a:rPr>
              <a:t>Perspectives d’amélioration</a:t>
            </a:r>
          </a:p>
        </p:txBody>
      </p:sp>
      <p:grpSp>
        <p:nvGrpSpPr>
          <p:cNvPr id="22" name="Groupe 21">
            <a:extLst>
              <a:ext uri="{FF2B5EF4-FFF2-40B4-BE49-F238E27FC236}">
                <a16:creationId xmlns:a16="http://schemas.microsoft.com/office/drawing/2014/main" id="{AE8FBE43-A889-41DE-3227-478B4D3EDF94}"/>
              </a:ext>
            </a:extLst>
          </p:cNvPr>
          <p:cNvGrpSpPr/>
          <p:nvPr/>
        </p:nvGrpSpPr>
        <p:grpSpPr>
          <a:xfrm rot="9945554">
            <a:off x="766699" y="2654925"/>
            <a:ext cx="1032336" cy="961101"/>
            <a:chOff x="1764197" y="2351614"/>
            <a:chExt cx="1411356" cy="1363680"/>
          </a:xfrm>
        </p:grpSpPr>
        <p:sp>
          <p:nvSpPr>
            <p:cNvPr id="19" name="Ellipse 18">
              <a:extLst>
                <a:ext uri="{FF2B5EF4-FFF2-40B4-BE49-F238E27FC236}">
                  <a16:creationId xmlns:a16="http://schemas.microsoft.com/office/drawing/2014/main" id="{748EE841-A612-4E13-20B9-A5F009778F6F}"/>
                </a:ext>
              </a:extLst>
            </p:cNvPr>
            <p:cNvSpPr/>
            <p:nvPr/>
          </p:nvSpPr>
          <p:spPr>
            <a:xfrm>
              <a:off x="1764197" y="2351614"/>
              <a:ext cx="1411356" cy="1363680"/>
            </a:xfrm>
            <a:prstGeom prst="ellips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I" dirty="0"/>
            </a:p>
          </p:txBody>
        </p:sp>
        <p:sp>
          <p:nvSpPr>
            <p:cNvPr id="20" name="Larme 19">
              <a:extLst>
                <a:ext uri="{FF2B5EF4-FFF2-40B4-BE49-F238E27FC236}">
                  <a16:creationId xmlns:a16="http://schemas.microsoft.com/office/drawing/2014/main" id="{046D6076-28A4-7DE4-ADA6-F271BE53D2E0}"/>
                </a:ext>
              </a:extLst>
            </p:cNvPr>
            <p:cNvSpPr/>
            <p:nvPr/>
          </p:nvSpPr>
          <p:spPr>
            <a:xfrm>
              <a:off x="1934609" y="2514840"/>
              <a:ext cx="1070533" cy="1037229"/>
            </a:xfrm>
            <a:prstGeom prst="teardrop">
              <a:avLst>
                <a:gd name="adj" fmla="val 114089"/>
              </a:avLst>
            </a:prstGeom>
            <a:solidFill>
              <a:schemeClr val="bg1"/>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I" dirty="0"/>
            </a:p>
          </p:txBody>
        </p:sp>
      </p:grpSp>
      <p:grpSp>
        <p:nvGrpSpPr>
          <p:cNvPr id="35" name="Groupe 34">
            <a:extLst>
              <a:ext uri="{FF2B5EF4-FFF2-40B4-BE49-F238E27FC236}">
                <a16:creationId xmlns:a16="http://schemas.microsoft.com/office/drawing/2014/main" id="{BDAB9B3B-A19A-980F-BC46-BD00B4253E71}"/>
              </a:ext>
            </a:extLst>
          </p:cNvPr>
          <p:cNvGrpSpPr/>
          <p:nvPr/>
        </p:nvGrpSpPr>
        <p:grpSpPr>
          <a:xfrm>
            <a:off x="872313" y="3470883"/>
            <a:ext cx="115499" cy="2168165"/>
            <a:chOff x="1914564" y="3429000"/>
            <a:chExt cx="115499" cy="2168165"/>
          </a:xfrm>
        </p:grpSpPr>
        <p:cxnSp>
          <p:nvCxnSpPr>
            <p:cNvPr id="24" name="Connecteur droit 23">
              <a:extLst>
                <a:ext uri="{FF2B5EF4-FFF2-40B4-BE49-F238E27FC236}">
                  <a16:creationId xmlns:a16="http://schemas.microsoft.com/office/drawing/2014/main" id="{F9BCD085-249C-26B2-7435-7673CC7E7D5F}"/>
                </a:ext>
              </a:extLst>
            </p:cNvPr>
            <p:cNvCxnSpPr>
              <a:cxnSpLocks/>
            </p:cNvCxnSpPr>
            <p:nvPr/>
          </p:nvCxnSpPr>
          <p:spPr>
            <a:xfrm>
              <a:off x="1972314" y="3429000"/>
              <a:ext cx="0" cy="2168165"/>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sp>
          <p:nvSpPr>
            <p:cNvPr id="31" name="Ellipse 30">
              <a:extLst>
                <a:ext uri="{FF2B5EF4-FFF2-40B4-BE49-F238E27FC236}">
                  <a16:creationId xmlns:a16="http://schemas.microsoft.com/office/drawing/2014/main" id="{C3ECF91B-2F91-098C-49C9-351E7EEA6F0A}"/>
                </a:ext>
              </a:extLst>
            </p:cNvPr>
            <p:cNvSpPr/>
            <p:nvPr/>
          </p:nvSpPr>
          <p:spPr>
            <a:xfrm>
              <a:off x="1914564" y="5462411"/>
              <a:ext cx="115499" cy="134754"/>
            </a:xfrm>
            <a:prstGeom prst="ellips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I"/>
            </a:p>
          </p:txBody>
        </p:sp>
      </p:grpSp>
      <p:sp>
        <p:nvSpPr>
          <p:cNvPr id="36" name="Rectangle : coins arrondis 35">
            <a:extLst>
              <a:ext uri="{FF2B5EF4-FFF2-40B4-BE49-F238E27FC236}">
                <a16:creationId xmlns:a16="http://schemas.microsoft.com/office/drawing/2014/main" id="{A22EBA1F-5875-ABE4-732F-26F3C6740492}"/>
              </a:ext>
            </a:extLst>
          </p:cNvPr>
          <p:cNvSpPr/>
          <p:nvPr/>
        </p:nvSpPr>
        <p:spPr>
          <a:xfrm>
            <a:off x="1707570" y="2928054"/>
            <a:ext cx="1858590" cy="76485"/>
          </a:xfrm>
          <a:prstGeom prst="roundRect">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I"/>
          </a:p>
        </p:txBody>
      </p:sp>
      <p:sp>
        <p:nvSpPr>
          <p:cNvPr id="37" name="ZoneTexte 36">
            <a:extLst>
              <a:ext uri="{FF2B5EF4-FFF2-40B4-BE49-F238E27FC236}">
                <a16:creationId xmlns:a16="http://schemas.microsoft.com/office/drawing/2014/main" id="{6ED87983-0EE6-1B3C-01FB-1437DBABEFD3}"/>
              </a:ext>
            </a:extLst>
          </p:cNvPr>
          <p:cNvSpPr txBox="1"/>
          <p:nvPr/>
        </p:nvSpPr>
        <p:spPr>
          <a:xfrm>
            <a:off x="1344993" y="4276194"/>
            <a:ext cx="1693506" cy="1015663"/>
          </a:xfrm>
          <a:prstGeom prst="rect">
            <a:avLst/>
          </a:prstGeom>
          <a:noFill/>
        </p:spPr>
        <p:txBody>
          <a:bodyPr wrap="square" rtlCol="0">
            <a:spAutoFit/>
          </a:bodyPr>
          <a:lstStyle/>
          <a:p>
            <a:r>
              <a:rPr lang="fr-FR" sz="2000" dirty="0">
                <a:latin typeface="+mn-lt" panose="02020603050405020304" pitchFamily="18" charset="0"/>
                <a:cs typeface="+mn-cs" panose="02020603050405020304" pitchFamily="18" charset="0"/>
              </a:rPr>
              <a:t>Explorer de nouveaux modèles</a:t>
            </a:r>
            <a:endParaRPr lang="fr-CI" sz="2000" dirty="0">
              <a:latin typeface="+mn-lt" panose="02020603050405020304" pitchFamily="18" charset="0"/>
              <a:cs typeface="+mn-cs" panose="02020603050405020304" pitchFamily="18" charset="0"/>
            </a:endParaRPr>
          </a:p>
        </p:txBody>
      </p:sp>
      <p:sp>
        <p:nvSpPr>
          <p:cNvPr id="38" name="ZoneTexte 37">
            <a:extLst>
              <a:ext uri="{FF2B5EF4-FFF2-40B4-BE49-F238E27FC236}">
                <a16:creationId xmlns:a16="http://schemas.microsoft.com/office/drawing/2014/main" id="{A81EC92F-3BD2-B053-BC2E-8419C711E808}"/>
              </a:ext>
            </a:extLst>
          </p:cNvPr>
          <p:cNvSpPr txBox="1"/>
          <p:nvPr/>
        </p:nvSpPr>
        <p:spPr>
          <a:xfrm>
            <a:off x="1282866" y="3659201"/>
            <a:ext cx="1988558" cy="646331"/>
          </a:xfrm>
          <a:prstGeom prst="rect">
            <a:avLst/>
          </a:prstGeom>
          <a:noFill/>
        </p:spPr>
        <p:txBody>
          <a:bodyPr wrap="square" rtlCol="0">
            <a:spAutoFit/>
          </a:bodyPr>
          <a:lstStyle/>
          <a:p>
            <a:r>
              <a:rPr lang="fr-CI" sz="3600" b="1">
                <a:latin typeface="+mn-lt" panose="02020603050405020304" pitchFamily="18" charset="0"/>
                <a:cs typeface="+mn-cs" panose="02020603050405020304" pitchFamily="18" charset="0"/>
              </a:rPr>
              <a:t>Option 1</a:t>
            </a:r>
          </a:p>
        </p:txBody>
      </p:sp>
      <p:grpSp>
        <p:nvGrpSpPr>
          <p:cNvPr id="41" name="Groupe 40">
            <a:extLst>
              <a:ext uri="{FF2B5EF4-FFF2-40B4-BE49-F238E27FC236}">
                <a16:creationId xmlns:a16="http://schemas.microsoft.com/office/drawing/2014/main" id="{B865B984-322F-EBF4-879F-3C960452BC5C}"/>
              </a:ext>
            </a:extLst>
          </p:cNvPr>
          <p:cNvGrpSpPr/>
          <p:nvPr/>
        </p:nvGrpSpPr>
        <p:grpSpPr>
          <a:xfrm rot="9945554">
            <a:off x="3218698" y="2573947"/>
            <a:ext cx="1032336" cy="961101"/>
            <a:chOff x="1764197" y="2351614"/>
            <a:chExt cx="1411356" cy="1363680"/>
          </a:xfrm>
        </p:grpSpPr>
        <p:sp>
          <p:nvSpPr>
            <p:cNvPr id="42" name="Ellipse 41">
              <a:extLst>
                <a:ext uri="{FF2B5EF4-FFF2-40B4-BE49-F238E27FC236}">
                  <a16:creationId xmlns:a16="http://schemas.microsoft.com/office/drawing/2014/main" id="{D6E8FF78-E0C0-EB95-047E-4A7FB15CD270}"/>
                </a:ext>
              </a:extLst>
            </p:cNvPr>
            <p:cNvSpPr/>
            <p:nvPr/>
          </p:nvSpPr>
          <p:spPr>
            <a:xfrm>
              <a:off x="1764197" y="2351614"/>
              <a:ext cx="1411356" cy="1363680"/>
            </a:xfrm>
            <a:prstGeom prst="ellips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I" dirty="0"/>
            </a:p>
          </p:txBody>
        </p:sp>
        <p:sp>
          <p:nvSpPr>
            <p:cNvPr id="43" name="Larme 42">
              <a:extLst>
                <a:ext uri="{FF2B5EF4-FFF2-40B4-BE49-F238E27FC236}">
                  <a16:creationId xmlns:a16="http://schemas.microsoft.com/office/drawing/2014/main" id="{648627FE-BB41-00C4-B104-AEA3F1BD865C}"/>
                </a:ext>
              </a:extLst>
            </p:cNvPr>
            <p:cNvSpPr/>
            <p:nvPr/>
          </p:nvSpPr>
          <p:spPr>
            <a:xfrm>
              <a:off x="1934609" y="2514840"/>
              <a:ext cx="1070533" cy="1037229"/>
            </a:xfrm>
            <a:prstGeom prst="teardrop">
              <a:avLst>
                <a:gd name="adj" fmla="val 114089"/>
              </a:avLst>
            </a:prstGeom>
            <a:solidFill>
              <a:schemeClr val="bg1"/>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I" dirty="0"/>
            </a:p>
          </p:txBody>
        </p:sp>
      </p:grpSp>
      <p:grpSp>
        <p:nvGrpSpPr>
          <p:cNvPr id="44" name="Groupe 43">
            <a:extLst>
              <a:ext uri="{FF2B5EF4-FFF2-40B4-BE49-F238E27FC236}">
                <a16:creationId xmlns:a16="http://schemas.microsoft.com/office/drawing/2014/main" id="{13FCE7B0-84C3-4B33-04D0-D61D23A9130A}"/>
              </a:ext>
            </a:extLst>
          </p:cNvPr>
          <p:cNvGrpSpPr/>
          <p:nvPr/>
        </p:nvGrpSpPr>
        <p:grpSpPr>
          <a:xfrm>
            <a:off x="3324312" y="3389905"/>
            <a:ext cx="115499" cy="2168165"/>
            <a:chOff x="1914564" y="3429000"/>
            <a:chExt cx="115499" cy="2168165"/>
          </a:xfrm>
        </p:grpSpPr>
        <p:cxnSp>
          <p:nvCxnSpPr>
            <p:cNvPr id="45" name="Connecteur droit 44">
              <a:extLst>
                <a:ext uri="{FF2B5EF4-FFF2-40B4-BE49-F238E27FC236}">
                  <a16:creationId xmlns:a16="http://schemas.microsoft.com/office/drawing/2014/main" id="{BE7A9107-ABA3-C595-05C4-51FA1ED9A3DF}"/>
                </a:ext>
              </a:extLst>
            </p:cNvPr>
            <p:cNvCxnSpPr>
              <a:cxnSpLocks/>
            </p:cNvCxnSpPr>
            <p:nvPr/>
          </p:nvCxnSpPr>
          <p:spPr>
            <a:xfrm>
              <a:off x="1972314" y="3429000"/>
              <a:ext cx="0" cy="2168165"/>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sp>
          <p:nvSpPr>
            <p:cNvPr id="46" name="Ellipse 45">
              <a:extLst>
                <a:ext uri="{FF2B5EF4-FFF2-40B4-BE49-F238E27FC236}">
                  <a16:creationId xmlns:a16="http://schemas.microsoft.com/office/drawing/2014/main" id="{45992CE1-4E2B-22ED-33AB-C76E2A5A925A}"/>
                </a:ext>
              </a:extLst>
            </p:cNvPr>
            <p:cNvSpPr/>
            <p:nvPr/>
          </p:nvSpPr>
          <p:spPr>
            <a:xfrm>
              <a:off x="1914564" y="5462411"/>
              <a:ext cx="115499" cy="134754"/>
            </a:xfrm>
            <a:prstGeom prst="ellips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I"/>
            </a:p>
          </p:txBody>
        </p:sp>
      </p:grpSp>
      <p:sp>
        <p:nvSpPr>
          <p:cNvPr id="47" name="Rectangle : coins arrondis 46">
            <a:extLst>
              <a:ext uri="{FF2B5EF4-FFF2-40B4-BE49-F238E27FC236}">
                <a16:creationId xmlns:a16="http://schemas.microsoft.com/office/drawing/2014/main" id="{C0A113EE-D0BD-34F0-7E02-B80D3403B4A3}"/>
              </a:ext>
            </a:extLst>
          </p:cNvPr>
          <p:cNvSpPr/>
          <p:nvPr/>
        </p:nvSpPr>
        <p:spPr>
          <a:xfrm>
            <a:off x="4159569" y="2847076"/>
            <a:ext cx="1858590" cy="76485"/>
          </a:xfrm>
          <a:prstGeom prst="roundRect">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I"/>
          </a:p>
        </p:txBody>
      </p:sp>
      <p:sp>
        <p:nvSpPr>
          <p:cNvPr id="48" name="ZoneTexte 47">
            <a:extLst>
              <a:ext uri="{FF2B5EF4-FFF2-40B4-BE49-F238E27FC236}">
                <a16:creationId xmlns:a16="http://schemas.microsoft.com/office/drawing/2014/main" id="{CD9F7211-60FA-697D-8889-FECD9ED8E63D}"/>
              </a:ext>
            </a:extLst>
          </p:cNvPr>
          <p:cNvSpPr txBox="1"/>
          <p:nvPr/>
        </p:nvSpPr>
        <p:spPr>
          <a:xfrm>
            <a:off x="3566160" y="4303665"/>
            <a:ext cx="2471294" cy="1015663"/>
          </a:xfrm>
          <a:prstGeom prst="rect">
            <a:avLst/>
          </a:prstGeom>
          <a:noFill/>
        </p:spPr>
        <p:txBody>
          <a:bodyPr wrap="square" rtlCol="0">
            <a:spAutoFit/>
          </a:bodyPr>
          <a:lstStyle/>
          <a:p>
            <a:r>
              <a:rPr lang="fr-FR" sz="2000" dirty="0">
                <a:latin typeface="+mn-lt" panose="02020603050405020304" pitchFamily="18" charset="0"/>
                <a:cs typeface="+mn-cs" panose="02020603050405020304" pitchFamily="18" charset="0"/>
              </a:rPr>
              <a:t>Ajouter des critères dynamiques(zone, contexte utilisateur)</a:t>
            </a:r>
            <a:endParaRPr lang="fr-CI" sz="2000" dirty="0">
              <a:latin typeface="+mn-lt" panose="02020603050405020304" pitchFamily="18" charset="0"/>
              <a:cs typeface="+mn-cs" panose="02020603050405020304" pitchFamily="18" charset="0"/>
            </a:endParaRPr>
          </a:p>
        </p:txBody>
      </p:sp>
      <p:sp>
        <p:nvSpPr>
          <p:cNvPr id="49" name="ZoneTexte 48">
            <a:extLst>
              <a:ext uri="{FF2B5EF4-FFF2-40B4-BE49-F238E27FC236}">
                <a16:creationId xmlns:a16="http://schemas.microsoft.com/office/drawing/2014/main" id="{F93ECF89-6FB5-7E17-B66E-CB42FB0E6567}"/>
              </a:ext>
            </a:extLst>
          </p:cNvPr>
          <p:cNvSpPr txBox="1"/>
          <p:nvPr/>
        </p:nvSpPr>
        <p:spPr>
          <a:xfrm>
            <a:off x="3734865" y="3657334"/>
            <a:ext cx="1988558" cy="646331"/>
          </a:xfrm>
          <a:prstGeom prst="rect">
            <a:avLst/>
          </a:prstGeom>
          <a:noFill/>
        </p:spPr>
        <p:txBody>
          <a:bodyPr wrap="square" rtlCol="0">
            <a:spAutoFit/>
          </a:bodyPr>
          <a:lstStyle/>
          <a:p>
            <a:r>
              <a:rPr lang="fr-CI" sz="3600" b="1">
                <a:latin typeface="+mn-lt" panose="02020603050405020304" pitchFamily="18" charset="0"/>
                <a:cs typeface="+mn-cs" panose="02020603050405020304" pitchFamily="18" charset="0"/>
              </a:rPr>
              <a:t>Option 2</a:t>
            </a:r>
          </a:p>
        </p:txBody>
      </p:sp>
      <p:grpSp>
        <p:nvGrpSpPr>
          <p:cNvPr id="50" name="Groupe 49">
            <a:extLst>
              <a:ext uri="{FF2B5EF4-FFF2-40B4-BE49-F238E27FC236}">
                <a16:creationId xmlns:a16="http://schemas.microsoft.com/office/drawing/2014/main" id="{A4238EFF-B9A2-4921-0EE9-77829B7FB322}"/>
              </a:ext>
            </a:extLst>
          </p:cNvPr>
          <p:cNvGrpSpPr/>
          <p:nvPr/>
        </p:nvGrpSpPr>
        <p:grpSpPr>
          <a:xfrm rot="9945554">
            <a:off x="5931841" y="2585891"/>
            <a:ext cx="1032336" cy="961101"/>
            <a:chOff x="1764197" y="2351614"/>
            <a:chExt cx="1411356" cy="1363680"/>
          </a:xfrm>
        </p:grpSpPr>
        <p:sp>
          <p:nvSpPr>
            <p:cNvPr id="51" name="Ellipse 50">
              <a:extLst>
                <a:ext uri="{FF2B5EF4-FFF2-40B4-BE49-F238E27FC236}">
                  <a16:creationId xmlns:a16="http://schemas.microsoft.com/office/drawing/2014/main" id="{27A0A16E-AB2F-84B9-0752-541A8239D3BB}"/>
                </a:ext>
              </a:extLst>
            </p:cNvPr>
            <p:cNvSpPr/>
            <p:nvPr/>
          </p:nvSpPr>
          <p:spPr>
            <a:xfrm>
              <a:off x="1764197" y="2351614"/>
              <a:ext cx="1411356" cy="1363680"/>
            </a:xfrm>
            <a:prstGeom prst="ellips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I" dirty="0"/>
            </a:p>
          </p:txBody>
        </p:sp>
        <p:sp>
          <p:nvSpPr>
            <p:cNvPr id="52" name="Larme 51">
              <a:extLst>
                <a:ext uri="{FF2B5EF4-FFF2-40B4-BE49-F238E27FC236}">
                  <a16:creationId xmlns:a16="http://schemas.microsoft.com/office/drawing/2014/main" id="{D7E49959-003A-9F5D-83A1-8F404D732AA2}"/>
                </a:ext>
              </a:extLst>
            </p:cNvPr>
            <p:cNvSpPr/>
            <p:nvPr/>
          </p:nvSpPr>
          <p:spPr>
            <a:xfrm>
              <a:off x="1934609" y="2514840"/>
              <a:ext cx="1070533" cy="1037229"/>
            </a:xfrm>
            <a:prstGeom prst="teardrop">
              <a:avLst>
                <a:gd name="adj" fmla="val 114089"/>
              </a:avLst>
            </a:prstGeom>
            <a:solidFill>
              <a:schemeClr val="bg1"/>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I" dirty="0"/>
            </a:p>
          </p:txBody>
        </p:sp>
      </p:grpSp>
      <p:grpSp>
        <p:nvGrpSpPr>
          <p:cNvPr id="53" name="Groupe 52">
            <a:extLst>
              <a:ext uri="{FF2B5EF4-FFF2-40B4-BE49-F238E27FC236}">
                <a16:creationId xmlns:a16="http://schemas.microsoft.com/office/drawing/2014/main" id="{8CED6F4A-C50A-CCD5-7414-2900F9F1DE1B}"/>
              </a:ext>
            </a:extLst>
          </p:cNvPr>
          <p:cNvGrpSpPr/>
          <p:nvPr/>
        </p:nvGrpSpPr>
        <p:grpSpPr>
          <a:xfrm>
            <a:off x="6037455" y="3401849"/>
            <a:ext cx="115499" cy="2168165"/>
            <a:chOff x="1914564" y="3429000"/>
            <a:chExt cx="115499" cy="2168165"/>
          </a:xfrm>
        </p:grpSpPr>
        <p:cxnSp>
          <p:nvCxnSpPr>
            <p:cNvPr id="54" name="Connecteur droit 53">
              <a:extLst>
                <a:ext uri="{FF2B5EF4-FFF2-40B4-BE49-F238E27FC236}">
                  <a16:creationId xmlns:a16="http://schemas.microsoft.com/office/drawing/2014/main" id="{85CDA5E9-0604-AF19-0BC3-67B744BDBDC5}"/>
                </a:ext>
              </a:extLst>
            </p:cNvPr>
            <p:cNvCxnSpPr>
              <a:cxnSpLocks/>
            </p:cNvCxnSpPr>
            <p:nvPr/>
          </p:nvCxnSpPr>
          <p:spPr>
            <a:xfrm>
              <a:off x="1972314" y="3429000"/>
              <a:ext cx="0" cy="2168165"/>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sp>
          <p:nvSpPr>
            <p:cNvPr id="55" name="Ellipse 54">
              <a:extLst>
                <a:ext uri="{FF2B5EF4-FFF2-40B4-BE49-F238E27FC236}">
                  <a16:creationId xmlns:a16="http://schemas.microsoft.com/office/drawing/2014/main" id="{2881683F-B3E7-3CF3-9541-3D98D26FB944}"/>
                </a:ext>
              </a:extLst>
            </p:cNvPr>
            <p:cNvSpPr/>
            <p:nvPr/>
          </p:nvSpPr>
          <p:spPr>
            <a:xfrm>
              <a:off x="1914564" y="5462411"/>
              <a:ext cx="115499" cy="134754"/>
            </a:xfrm>
            <a:prstGeom prst="ellips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I"/>
            </a:p>
          </p:txBody>
        </p:sp>
      </p:grpSp>
      <p:sp>
        <p:nvSpPr>
          <p:cNvPr id="56" name="Rectangle : coins arrondis 55">
            <a:extLst>
              <a:ext uri="{FF2B5EF4-FFF2-40B4-BE49-F238E27FC236}">
                <a16:creationId xmlns:a16="http://schemas.microsoft.com/office/drawing/2014/main" id="{00E79024-AF69-C395-FCC8-17E8C57636F8}"/>
              </a:ext>
            </a:extLst>
          </p:cNvPr>
          <p:cNvSpPr/>
          <p:nvPr/>
        </p:nvSpPr>
        <p:spPr>
          <a:xfrm>
            <a:off x="6872712" y="2859020"/>
            <a:ext cx="1858590" cy="76485"/>
          </a:xfrm>
          <a:prstGeom prst="roundRect">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I"/>
          </a:p>
        </p:txBody>
      </p:sp>
      <p:sp>
        <p:nvSpPr>
          <p:cNvPr id="57" name="ZoneTexte 56">
            <a:extLst>
              <a:ext uri="{FF2B5EF4-FFF2-40B4-BE49-F238E27FC236}">
                <a16:creationId xmlns:a16="http://schemas.microsoft.com/office/drawing/2014/main" id="{8EFCD498-4AB4-7CF8-E537-C4574498800B}"/>
              </a:ext>
            </a:extLst>
          </p:cNvPr>
          <p:cNvSpPr txBox="1"/>
          <p:nvPr/>
        </p:nvSpPr>
        <p:spPr>
          <a:xfrm>
            <a:off x="6152954" y="4315609"/>
            <a:ext cx="2597643" cy="1015663"/>
          </a:xfrm>
          <a:prstGeom prst="rect">
            <a:avLst/>
          </a:prstGeom>
          <a:noFill/>
        </p:spPr>
        <p:txBody>
          <a:bodyPr wrap="square" rtlCol="0">
            <a:spAutoFit/>
          </a:bodyPr>
          <a:lstStyle/>
          <a:p>
            <a:r>
              <a:rPr lang="fr-FR" sz="2000" dirty="0">
                <a:latin typeface="+mn-lt" panose="02020603050405020304" pitchFamily="18" charset="0"/>
                <a:cs typeface="+mn-cs" panose="02020603050405020304" pitchFamily="18" charset="0"/>
              </a:rPr>
              <a:t>Réentraînement automatique(</a:t>
            </a:r>
            <a:r>
              <a:rPr lang="fr-FR" sz="2000" dirty="0" err="1">
                <a:latin typeface="+mn-lt" panose="02020603050405020304" pitchFamily="18" charset="0"/>
                <a:cs typeface="+mn-cs" panose="02020603050405020304" pitchFamily="18" charset="0"/>
              </a:rPr>
              <a:t>MLOps</a:t>
            </a:r>
            <a:r>
              <a:rPr lang="fr-FR" sz="2000" dirty="0">
                <a:latin typeface="+mn-lt" panose="02020603050405020304" pitchFamily="18" charset="0"/>
                <a:cs typeface="+mn-cs" panose="02020603050405020304" pitchFamily="18" charset="0"/>
              </a:rPr>
              <a:t>)</a:t>
            </a:r>
          </a:p>
          <a:p>
            <a:endParaRPr lang="fr-CI" sz="2000" dirty="0">
              <a:latin typeface="+mn-lt" panose="02020603050405020304" pitchFamily="18" charset="0"/>
              <a:cs typeface="+mn-cs" panose="02020603050405020304" pitchFamily="18" charset="0"/>
            </a:endParaRPr>
          </a:p>
        </p:txBody>
      </p:sp>
      <p:sp>
        <p:nvSpPr>
          <p:cNvPr id="58" name="ZoneTexte 57">
            <a:extLst>
              <a:ext uri="{FF2B5EF4-FFF2-40B4-BE49-F238E27FC236}">
                <a16:creationId xmlns:a16="http://schemas.microsoft.com/office/drawing/2014/main" id="{3649781B-D0D9-82A8-5C4B-F13FD25618E2}"/>
              </a:ext>
            </a:extLst>
          </p:cNvPr>
          <p:cNvSpPr txBox="1"/>
          <p:nvPr/>
        </p:nvSpPr>
        <p:spPr>
          <a:xfrm>
            <a:off x="6448008" y="3669278"/>
            <a:ext cx="1988558" cy="646331"/>
          </a:xfrm>
          <a:prstGeom prst="rect">
            <a:avLst/>
          </a:prstGeom>
          <a:noFill/>
        </p:spPr>
        <p:txBody>
          <a:bodyPr wrap="square" rtlCol="0">
            <a:spAutoFit/>
          </a:bodyPr>
          <a:lstStyle/>
          <a:p>
            <a:r>
              <a:rPr lang="fr-CI" sz="3600" b="1">
                <a:latin typeface="+mn-lt" panose="02020603050405020304" pitchFamily="18" charset="0"/>
                <a:cs typeface="+mn-cs" panose="02020603050405020304" pitchFamily="18" charset="0"/>
              </a:rPr>
              <a:t>Option 3</a:t>
            </a:r>
          </a:p>
        </p:txBody>
      </p:sp>
      <p:grpSp>
        <p:nvGrpSpPr>
          <p:cNvPr id="59" name="Groupe 58">
            <a:extLst>
              <a:ext uri="{FF2B5EF4-FFF2-40B4-BE49-F238E27FC236}">
                <a16:creationId xmlns:a16="http://schemas.microsoft.com/office/drawing/2014/main" id="{538289D7-15A6-49BA-744D-CE581E0DBFCD}"/>
              </a:ext>
            </a:extLst>
          </p:cNvPr>
          <p:cNvGrpSpPr/>
          <p:nvPr/>
        </p:nvGrpSpPr>
        <p:grpSpPr>
          <a:xfrm rot="9945554">
            <a:off x="8607498" y="2569829"/>
            <a:ext cx="1032336" cy="961101"/>
            <a:chOff x="1764197" y="2351614"/>
            <a:chExt cx="1411356" cy="1363680"/>
          </a:xfrm>
        </p:grpSpPr>
        <p:sp>
          <p:nvSpPr>
            <p:cNvPr id="60" name="Ellipse 59">
              <a:extLst>
                <a:ext uri="{FF2B5EF4-FFF2-40B4-BE49-F238E27FC236}">
                  <a16:creationId xmlns:a16="http://schemas.microsoft.com/office/drawing/2014/main" id="{853EEA46-8B12-6F66-BB72-03CE15FDC386}"/>
                </a:ext>
              </a:extLst>
            </p:cNvPr>
            <p:cNvSpPr/>
            <p:nvPr/>
          </p:nvSpPr>
          <p:spPr>
            <a:xfrm>
              <a:off x="1764197" y="2351614"/>
              <a:ext cx="1411356" cy="1363680"/>
            </a:xfrm>
            <a:prstGeom prst="ellips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I" dirty="0"/>
            </a:p>
          </p:txBody>
        </p:sp>
        <p:sp>
          <p:nvSpPr>
            <p:cNvPr id="62" name="Larme 61">
              <a:extLst>
                <a:ext uri="{FF2B5EF4-FFF2-40B4-BE49-F238E27FC236}">
                  <a16:creationId xmlns:a16="http://schemas.microsoft.com/office/drawing/2014/main" id="{0BB6DE03-3EBE-6D72-A8E3-3C9BC4C4EF0A}"/>
                </a:ext>
              </a:extLst>
            </p:cNvPr>
            <p:cNvSpPr/>
            <p:nvPr/>
          </p:nvSpPr>
          <p:spPr>
            <a:xfrm>
              <a:off x="1934609" y="2514840"/>
              <a:ext cx="1070533" cy="1037229"/>
            </a:xfrm>
            <a:prstGeom prst="teardrop">
              <a:avLst>
                <a:gd name="adj" fmla="val 114089"/>
              </a:avLst>
            </a:prstGeom>
            <a:solidFill>
              <a:schemeClr val="bg1"/>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I" dirty="0"/>
            </a:p>
          </p:txBody>
        </p:sp>
      </p:grpSp>
      <p:grpSp>
        <p:nvGrpSpPr>
          <p:cNvPr id="63" name="Groupe 62">
            <a:extLst>
              <a:ext uri="{FF2B5EF4-FFF2-40B4-BE49-F238E27FC236}">
                <a16:creationId xmlns:a16="http://schemas.microsoft.com/office/drawing/2014/main" id="{FB93F6A5-9DDE-DCA7-8146-8F04BD4728BA}"/>
              </a:ext>
            </a:extLst>
          </p:cNvPr>
          <p:cNvGrpSpPr/>
          <p:nvPr/>
        </p:nvGrpSpPr>
        <p:grpSpPr>
          <a:xfrm>
            <a:off x="8713112" y="3385787"/>
            <a:ext cx="115499" cy="2168165"/>
            <a:chOff x="1914564" y="3429000"/>
            <a:chExt cx="115499" cy="2168165"/>
          </a:xfrm>
        </p:grpSpPr>
        <p:cxnSp>
          <p:nvCxnSpPr>
            <p:cNvPr id="64" name="Connecteur droit 63">
              <a:extLst>
                <a:ext uri="{FF2B5EF4-FFF2-40B4-BE49-F238E27FC236}">
                  <a16:creationId xmlns:a16="http://schemas.microsoft.com/office/drawing/2014/main" id="{AFDC7EDB-0335-CFB9-9C73-738187959629}"/>
                </a:ext>
              </a:extLst>
            </p:cNvPr>
            <p:cNvCxnSpPr>
              <a:cxnSpLocks/>
            </p:cNvCxnSpPr>
            <p:nvPr/>
          </p:nvCxnSpPr>
          <p:spPr>
            <a:xfrm>
              <a:off x="1972314" y="3429000"/>
              <a:ext cx="0" cy="2168165"/>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sp>
          <p:nvSpPr>
            <p:cNvPr id="65" name="Ellipse 64">
              <a:extLst>
                <a:ext uri="{FF2B5EF4-FFF2-40B4-BE49-F238E27FC236}">
                  <a16:creationId xmlns:a16="http://schemas.microsoft.com/office/drawing/2014/main" id="{6AE8248B-B151-9B28-7C6D-9B12ACCFAF48}"/>
                </a:ext>
              </a:extLst>
            </p:cNvPr>
            <p:cNvSpPr/>
            <p:nvPr/>
          </p:nvSpPr>
          <p:spPr>
            <a:xfrm>
              <a:off x="1914564" y="5462411"/>
              <a:ext cx="115499" cy="134754"/>
            </a:xfrm>
            <a:prstGeom prst="ellips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I"/>
            </a:p>
          </p:txBody>
        </p:sp>
      </p:grpSp>
      <p:sp>
        <p:nvSpPr>
          <p:cNvPr id="66" name="Rectangle : coins arrondis 65">
            <a:extLst>
              <a:ext uri="{FF2B5EF4-FFF2-40B4-BE49-F238E27FC236}">
                <a16:creationId xmlns:a16="http://schemas.microsoft.com/office/drawing/2014/main" id="{AB166F04-34D1-495F-BDBA-EAFEB73E37A6}"/>
              </a:ext>
            </a:extLst>
          </p:cNvPr>
          <p:cNvSpPr/>
          <p:nvPr/>
        </p:nvSpPr>
        <p:spPr>
          <a:xfrm>
            <a:off x="9548369" y="2842958"/>
            <a:ext cx="1858590" cy="76485"/>
          </a:xfrm>
          <a:prstGeom prst="roundRect">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I"/>
          </a:p>
        </p:txBody>
      </p:sp>
      <p:sp>
        <p:nvSpPr>
          <p:cNvPr id="67" name="ZoneTexte 66">
            <a:extLst>
              <a:ext uri="{FF2B5EF4-FFF2-40B4-BE49-F238E27FC236}">
                <a16:creationId xmlns:a16="http://schemas.microsoft.com/office/drawing/2014/main" id="{FE49017B-EB5C-132A-8B94-D26ABE0C6497}"/>
              </a:ext>
            </a:extLst>
          </p:cNvPr>
          <p:cNvSpPr txBox="1"/>
          <p:nvPr/>
        </p:nvSpPr>
        <p:spPr>
          <a:xfrm>
            <a:off x="9123664" y="4299547"/>
            <a:ext cx="2690381" cy="1015663"/>
          </a:xfrm>
          <a:prstGeom prst="rect">
            <a:avLst/>
          </a:prstGeom>
          <a:noFill/>
        </p:spPr>
        <p:txBody>
          <a:bodyPr wrap="square" rtlCol="0">
            <a:spAutoFit/>
          </a:bodyPr>
          <a:lstStyle/>
          <a:p>
            <a:r>
              <a:rPr lang="fr-FR" sz="2000" dirty="0">
                <a:latin typeface="+mn-lt" panose="02020603050405020304" pitchFamily="18" charset="0"/>
                <a:cs typeface="+mn-cs" panose="02020603050405020304" pitchFamily="18" charset="0"/>
              </a:rPr>
              <a:t>Déploiement via une interface web et une API</a:t>
            </a:r>
          </a:p>
        </p:txBody>
      </p:sp>
      <p:sp>
        <p:nvSpPr>
          <p:cNvPr id="68" name="ZoneTexte 67">
            <a:extLst>
              <a:ext uri="{FF2B5EF4-FFF2-40B4-BE49-F238E27FC236}">
                <a16:creationId xmlns:a16="http://schemas.microsoft.com/office/drawing/2014/main" id="{3C574F1C-6229-AAF6-7900-FEEC6AE84DBD}"/>
              </a:ext>
            </a:extLst>
          </p:cNvPr>
          <p:cNvSpPr txBox="1"/>
          <p:nvPr/>
        </p:nvSpPr>
        <p:spPr>
          <a:xfrm>
            <a:off x="9123665" y="3653216"/>
            <a:ext cx="1988558" cy="646331"/>
          </a:xfrm>
          <a:prstGeom prst="rect">
            <a:avLst/>
          </a:prstGeom>
          <a:noFill/>
        </p:spPr>
        <p:txBody>
          <a:bodyPr wrap="square" rtlCol="0">
            <a:spAutoFit/>
          </a:bodyPr>
          <a:lstStyle/>
          <a:p>
            <a:r>
              <a:rPr lang="fr-CI" sz="3600" b="1">
                <a:latin typeface="+mn-lt" panose="02020603050405020304" pitchFamily="18" charset="0"/>
                <a:cs typeface="+mn-cs" panose="02020603050405020304" pitchFamily="18" charset="0"/>
              </a:rPr>
              <a:t>Option 4</a:t>
            </a:r>
          </a:p>
        </p:txBody>
      </p:sp>
      <p:grpSp>
        <p:nvGrpSpPr>
          <p:cNvPr id="3" name="Groupe 2">
            <a:extLst>
              <a:ext uri="{FF2B5EF4-FFF2-40B4-BE49-F238E27FC236}">
                <a16:creationId xmlns:a16="http://schemas.microsoft.com/office/drawing/2014/main" id="{7D54E45A-45B1-899B-0D09-A4653C991DEF}"/>
              </a:ext>
            </a:extLst>
          </p:cNvPr>
          <p:cNvGrpSpPr/>
          <p:nvPr/>
        </p:nvGrpSpPr>
        <p:grpSpPr>
          <a:xfrm>
            <a:off x="11081151" y="124008"/>
            <a:ext cx="1002497" cy="997548"/>
            <a:chOff x="11081151" y="124008"/>
            <a:chExt cx="1002497" cy="997548"/>
          </a:xfrm>
        </p:grpSpPr>
        <p:grpSp>
          <p:nvGrpSpPr>
            <p:cNvPr id="10" name="Groupe 9">
              <a:extLst>
                <a:ext uri="{FF2B5EF4-FFF2-40B4-BE49-F238E27FC236}">
                  <a16:creationId xmlns:a16="http://schemas.microsoft.com/office/drawing/2014/main" id="{3E03CC91-BE7A-04D3-56DA-3E2CCF4416C9}"/>
                </a:ext>
              </a:extLst>
            </p:cNvPr>
            <p:cNvGrpSpPr/>
            <p:nvPr/>
          </p:nvGrpSpPr>
          <p:grpSpPr>
            <a:xfrm>
              <a:off x="11081151" y="124008"/>
              <a:ext cx="1002497" cy="997548"/>
              <a:chOff x="6263169" y="2855357"/>
              <a:chExt cx="600075" cy="612815"/>
            </a:xfrm>
          </p:grpSpPr>
          <p:sp>
            <p:nvSpPr>
              <p:cNvPr id="13" name="Organigramme : Connecteur 12">
                <a:extLst>
                  <a:ext uri="{FF2B5EF4-FFF2-40B4-BE49-F238E27FC236}">
                    <a16:creationId xmlns:a16="http://schemas.microsoft.com/office/drawing/2014/main" id="{A69FB5FC-1FDF-E795-7BBD-9197341461C9}"/>
                  </a:ext>
                </a:extLst>
              </p:cNvPr>
              <p:cNvSpPr/>
              <p:nvPr/>
            </p:nvSpPr>
            <p:spPr>
              <a:xfrm>
                <a:off x="6263169" y="2855357"/>
                <a:ext cx="600075" cy="612815"/>
              </a:xfrm>
              <a:prstGeom prst="flowChartConnector">
                <a:avLst/>
              </a:prstGeom>
              <a:solidFill>
                <a:schemeClr val="bg1"/>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I"/>
              </a:p>
            </p:txBody>
          </p:sp>
          <p:sp>
            <p:nvSpPr>
              <p:cNvPr id="14" name="Organigramme : Connecteur 13">
                <a:extLst>
                  <a:ext uri="{FF2B5EF4-FFF2-40B4-BE49-F238E27FC236}">
                    <a16:creationId xmlns:a16="http://schemas.microsoft.com/office/drawing/2014/main" id="{40A01309-9BFA-EB81-2C9A-DC4B4FCEBF5B}"/>
                  </a:ext>
                </a:extLst>
              </p:cNvPr>
              <p:cNvSpPr/>
              <p:nvPr/>
            </p:nvSpPr>
            <p:spPr>
              <a:xfrm>
                <a:off x="6370324" y="2964924"/>
                <a:ext cx="385763" cy="393680"/>
              </a:xfrm>
              <a:prstGeom prst="flowChartConnector">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I" dirty="0"/>
              </a:p>
            </p:txBody>
          </p:sp>
        </p:grpSp>
        <p:pic>
          <p:nvPicPr>
            <p:cNvPr id="12" name="Graphic 1031">
              <a:extLst>
                <a:ext uri="{FF2B5EF4-FFF2-40B4-BE49-F238E27FC236}">
                  <a16:creationId xmlns:a16="http://schemas.microsoft.com/office/drawing/2014/main" id="{17246CA8-716E-EA01-F109-B8BDE4AC0587}"/>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1353797" y="394182"/>
              <a:ext cx="457200" cy="457200"/>
            </a:xfrm>
            <a:prstGeom prst="rect">
              <a:avLst/>
            </a:prstGeom>
          </p:spPr>
        </p:pic>
      </p:grpSp>
      <p:sp>
        <p:nvSpPr>
          <p:cNvPr id="15" name="ZoneTexte 14">
            <a:extLst>
              <a:ext uri="{FF2B5EF4-FFF2-40B4-BE49-F238E27FC236}">
                <a16:creationId xmlns:a16="http://schemas.microsoft.com/office/drawing/2014/main" id="{CCEDE97B-0168-B6A3-C05F-5077C258D3A6}"/>
              </a:ext>
            </a:extLst>
          </p:cNvPr>
          <p:cNvSpPr txBox="1"/>
          <p:nvPr/>
        </p:nvSpPr>
        <p:spPr>
          <a:xfrm>
            <a:off x="80035" y="40933"/>
            <a:ext cx="5767553" cy="369332"/>
          </a:xfrm>
          <a:prstGeom prst="rect">
            <a:avLst/>
          </a:prstGeom>
          <a:noFill/>
          <a:effectLst>
            <a:reflection stA="63000" endPos="11000" dist="50800" dir="5400000" sy="-100000" algn="bl" rotWithShape="0"/>
          </a:effectLst>
        </p:spPr>
        <p:txBody>
          <a:bodyPr wrap="square" rtlCol="0">
            <a:spAutoFit/>
          </a:bodyPr>
          <a:lstStyle/>
          <a:p>
            <a:r>
              <a:rPr lang="fr-CI" b="1" dirty="0">
                <a:solidFill>
                  <a:schemeClr val="accent1">
                    <a:lumMod val="50000"/>
                  </a:schemeClr>
                </a:solidFill>
                <a:latin typeface="+mn-lt" panose="020E0705020206020404" pitchFamily="34" charset="0"/>
              </a:rPr>
              <a:t>Partie 5 : Prédictions &amp; perspectives</a:t>
            </a:r>
          </a:p>
        </p:txBody>
      </p:sp>
    </p:spTree>
    <p:extLst>
      <p:ext uri="{BB962C8B-B14F-4D97-AF65-F5344CB8AC3E}">
        <p14:creationId xmlns:p14="http://schemas.microsoft.com/office/powerpoint/2010/main" val="3558823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423A67-C7A2-A139-DFF7-2FBE3745F61C}"/>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463923F7-28AF-99C4-4C85-D61A9DA41DC2}"/>
              </a:ext>
            </a:extLst>
          </p:cNvPr>
          <p:cNvSpPr txBox="1">
            <a:spLocks/>
          </p:cNvSpPr>
          <p:nvPr/>
        </p:nvSpPr>
        <p:spPr>
          <a:xfrm>
            <a:off x="560199" y="758184"/>
            <a:ext cx="10954512" cy="1143000"/>
          </a:xfrm>
          <a:prstGeom prst="rect">
            <a:avLst/>
          </a:prstGeom>
          <a:effectLst/>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n-lt"/>
                <a:ea typeface="+mj-ea"/>
                <a:cs typeface="+mj-cs"/>
              </a:defRPr>
            </a:lvl1pPr>
          </a:lstStyle>
          <a:p>
            <a:r>
              <a:rPr lang="fr-CI" sz="4800" b="1">
                <a:solidFill>
                  <a:srgbClr val="002060"/>
                </a:solidFill>
                <a:latin typeface="+mn-lt" panose="02020603050405020304" pitchFamily="18" charset="0"/>
                <a:cs typeface="+mn-cs" panose="02020603050405020304" pitchFamily="18" charset="0"/>
              </a:rPr>
              <a:t>Conclusion</a:t>
            </a:r>
          </a:p>
        </p:txBody>
      </p:sp>
      <p:sp>
        <p:nvSpPr>
          <p:cNvPr id="13" name="Rectangle : coins arrondis 12">
            <a:extLst>
              <a:ext uri="{FF2B5EF4-FFF2-40B4-BE49-F238E27FC236}">
                <a16:creationId xmlns:a16="http://schemas.microsoft.com/office/drawing/2014/main" id="{32D6609A-9576-43E4-B636-F58032E1667D}"/>
              </a:ext>
            </a:extLst>
          </p:cNvPr>
          <p:cNvSpPr/>
          <p:nvPr/>
        </p:nvSpPr>
        <p:spPr>
          <a:xfrm>
            <a:off x="1179720" y="2368053"/>
            <a:ext cx="9784037" cy="3243037"/>
          </a:xfrm>
          <a:prstGeom prst="roundRect">
            <a:avLst/>
          </a:prstGeom>
          <a:solidFill>
            <a:srgbClr val="002060"/>
          </a:solidFill>
          <a:ln>
            <a:solidFill>
              <a:srgbClr val="002060"/>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I"/>
          </a:p>
        </p:txBody>
      </p:sp>
      <p:sp>
        <p:nvSpPr>
          <p:cNvPr id="3" name="Content Placeholder 2">
            <a:extLst>
              <a:ext uri="{FF2B5EF4-FFF2-40B4-BE49-F238E27FC236}">
                <a16:creationId xmlns:a16="http://schemas.microsoft.com/office/drawing/2014/main" id="{267CF416-94CD-EB80-E040-4404179A31C6}"/>
              </a:ext>
            </a:extLst>
          </p:cNvPr>
          <p:cNvSpPr txBox="1">
            <a:spLocks/>
          </p:cNvSpPr>
          <p:nvPr/>
        </p:nvSpPr>
        <p:spPr>
          <a:xfrm>
            <a:off x="1922655" y="2960535"/>
            <a:ext cx="8229600" cy="2068665"/>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mn-lt"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mn-lt"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mn-lt"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mn-lt"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mn-lt"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mn-lt"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mn-lt"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mn-lt"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mn-lt" panose="020B0604020202020204" pitchFamily="34" charset="0"/>
              <a:buNone/>
              <a:defRPr sz="1600" kern="1200">
                <a:solidFill>
                  <a:schemeClr val="tx1"/>
                </a:solidFill>
                <a:latin typeface="+mn-lt"/>
                <a:ea typeface="+mn-ea"/>
                <a:cs typeface="+mn-cs"/>
              </a:defRPr>
            </a:lvl9pPr>
          </a:lstStyle>
          <a:p>
            <a:r>
              <a:rPr lang="fr-FR" b="1" dirty="0">
                <a:solidFill>
                  <a:schemeClr val="bg1"/>
                </a:solidFill>
                <a:latin typeface="+mn-lt" panose="02020603050405020304" pitchFamily="18" charset="0"/>
                <a:cs typeface="+mn-cs" panose="02020603050405020304" pitchFamily="18" charset="0"/>
              </a:rPr>
              <a:t>Une approche de Machine Learning supervisé (</a:t>
            </a:r>
            <a:r>
              <a:rPr lang="fr-FR" b="1" dirty="0" err="1">
                <a:solidFill>
                  <a:schemeClr val="bg1"/>
                </a:solidFill>
                <a:latin typeface="+mn-lt" panose="02020603050405020304" pitchFamily="18" charset="0"/>
                <a:cs typeface="+mn-cs" panose="02020603050405020304" pitchFamily="18" charset="0"/>
              </a:rPr>
              <a:t>XGBoost</a:t>
            </a:r>
            <a:r>
              <a:rPr lang="fr-FR" b="1" dirty="0">
                <a:solidFill>
                  <a:schemeClr val="bg1"/>
                </a:solidFill>
                <a:latin typeface="+mn-lt" panose="02020603050405020304" pitchFamily="18" charset="0"/>
                <a:cs typeface="+mn-cs" panose="02020603050405020304" pitchFamily="18" charset="0"/>
              </a:rPr>
              <a:t>) permet de prédire avec fiabilité (AUC = 0,905) le risque de retard des abonnés PEPT. </a:t>
            </a:r>
          </a:p>
          <a:p>
            <a:r>
              <a:rPr lang="fr-FR" b="1" dirty="0">
                <a:solidFill>
                  <a:schemeClr val="bg1"/>
                </a:solidFill>
                <a:latin typeface="+mn-lt" panose="02020603050405020304" pitchFamily="18" charset="0"/>
                <a:cs typeface="+mn-cs" panose="02020603050405020304" pitchFamily="18" charset="0"/>
              </a:rPr>
              <a:t>Impact : Prédiction + Titrisation = flux financiers sécurisés et crédibilité renforcée auprès des investisseurs.</a:t>
            </a:r>
          </a:p>
        </p:txBody>
      </p:sp>
    </p:spTree>
    <p:extLst>
      <p:ext uri="{BB962C8B-B14F-4D97-AF65-F5344CB8AC3E}">
        <p14:creationId xmlns:p14="http://schemas.microsoft.com/office/powerpoint/2010/main" val="9209446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5C20CD-DEC0-4C52-9864-21A9941128FF}"/>
            </a:ext>
          </a:extLst>
        </p:cNvPr>
        <p:cNvGrpSpPr/>
        <p:nvPr/>
      </p:nvGrpSpPr>
      <p:grpSpPr>
        <a:xfrm>
          <a:off x="0" y="0"/>
          <a:ext cx="0" cy="0"/>
          <a:chOff x="0" y="0"/>
          <a:chExt cx="0" cy="0"/>
        </a:xfrm>
      </p:grpSpPr>
      <p:sp>
        <p:nvSpPr>
          <p:cNvPr id="6" name="Triangle rectangle 1">
            <a:extLst>
              <a:ext uri="{FF2B5EF4-FFF2-40B4-BE49-F238E27FC236}">
                <a16:creationId xmlns:a16="http://schemas.microsoft.com/office/drawing/2014/main" id="{A9036826-3F89-0F5F-69C9-9FF59044273E}"/>
              </a:ext>
            </a:extLst>
          </p:cNvPr>
          <p:cNvSpPr/>
          <p:nvPr/>
        </p:nvSpPr>
        <p:spPr>
          <a:xfrm rot="5400000">
            <a:off x="-3164228" y="-2704011"/>
            <a:ext cx="6989104" cy="9174483"/>
          </a:xfrm>
          <a:custGeom>
            <a:avLst/>
            <a:gdLst>
              <a:gd name="connsiteX0" fmla="*/ 0 w 7171981"/>
              <a:gd name="connsiteY0" fmla="*/ 6858000 h 6858000"/>
              <a:gd name="connsiteX1" fmla="*/ 0 w 7171981"/>
              <a:gd name="connsiteY1" fmla="*/ 0 h 6858000"/>
              <a:gd name="connsiteX2" fmla="*/ 7171981 w 7171981"/>
              <a:gd name="connsiteY2" fmla="*/ 6858000 h 6858000"/>
              <a:gd name="connsiteX3" fmla="*/ 0 w 7171981"/>
              <a:gd name="connsiteY3" fmla="*/ 6858000 h 6858000"/>
              <a:gd name="connsiteX0" fmla="*/ 0 w 7171981"/>
              <a:gd name="connsiteY0" fmla="*/ 6858000 h 6858000"/>
              <a:gd name="connsiteX1" fmla="*/ 0 w 7171981"/>
              <a:gd name="connsiteY1" fmla="*/ 0 h 6858000"/>
              <a:gd name="connsiteX2" fmla="*/ 4709160 w 7171981"/>
              <a:gd name="connsiteY2" fmla="*/ 1920240 h 6858000"/>
              <a:gd name="connsiteX3" fmla="*/ 7171981 w 7171981"/>
              <a:gd name="connsiteY3" fmla="*/ 6858000 h 6858000"/>
              <a:gd name="connsiteX4" fmla="*/ 0 w 7171981"/>
              <a:gd name="connsiteY4" fmla="*/ 6858000 h 6858000"/>
              <a:gd name="connsiteX0" fmla="*/ 0 w 7171981"/>
              <a:gd name="connsiteY0" fmla="*/ 6858000 h 6858000"/>
              <a:gd name="connsiteX1" fmla="*/ 0 w 7171981"/>
              <a:gd name="connsiteY1" fmla="*/ 0 h 6858000"/>
              <a:gd name="connsiteX2" fmla="*/ 4709160 w 7171981"/>
              <a:gd name="connsiteY2" fmla="*/ 1920240 h 6858000"/>
              <a:gd name="connsiteX3" fmla="*/ 7171981 w 7171981"/>
              <a:gd name="connsiteY3" fmla="*/ 6858000 h 6858000"/>
              <a:gd name="connsiteX4" fmla="*/ 0 w 7171981"/>
              <a:gd name="connsiteY4" fmla="*/ 6858000 h 6858000"/>
              <a:gd name="connsiteX0" fmla="*/ 0 w 7171981"/>
              <a:gd name="connsiteY0" fmla="*/ 6858000 h 6858000"/>
              <a:gd name="connsiteX1" fmla="*/ 0 w 7171981"/>
              <a:gd name="connsiteY1" fmla="*/ 0 h 6858000"/>
              <a:gd name="connsiteX2" fmla="*/ 5303520 w 7171981"/>
              <a:gd name="connsiteY2" fmla="*/ 2240280 h 6858000"/>
              <a:gd name="connsiteX3" fmla="*/ 7171981 w 7171981"/>
              <a:gd name="connsiteY3" fmla="*/ 6858000 h 6858000"/>
              <a:gd name="connsiteX4" fmla="*/ 0 w 7171981"/>
              <a:gd name="connsiteY4" fmla="*/ 6858000 h 6858000"/>
              <a:gd name="connsiteX0" fmla="*/ 0 w 7171981"/>
              <a:gd name="connsiteY0" fmla="*/ 6858000 h 6858000"/>
              <a:gd name="connsiteX1" fmla="*/ 0 w 7171981"/>
              <a:gd name="connsiteY1" fmla="*/ 0 h 6858000"/>
              <a:gd name="connsiteX2" fmla="*/ 5303520 w 7171981"/>
              <a:gd name="connsiteY2" fmla="*/ 2240280 h 6858000"/>
              <a:gd name="connsiteX3" fmla="*/ 7171981 w 7171981"/>
              <a:gd name="connsiteY3" fmla="*/ 6858000 h 6858000"/>
              <a:gd name="connsiteX4" fmla="*/ 0 w 7171981"/>
              <a:gd name="connsiteY4" fmla="*/ 6858000 h 6858000"/>
              <a:gd name="connsiteX0" fmla="*/ 0 w 7171981"/>
              <a:gd name="connsiteY0" fmla="*/ 6858000 h 6858000"/>
              <a:gd name="connsiteX1" fmla="*/ 0 w 7171981"/>
              <a:gd name="connsiteY1" fmla="*/ 0 h 6858000"/>
              <a:gd name="connsiteX2" fmla="*/ 4206240 w 7171981"/>
              <a:gd name="connsiteY2" fmla="*/ 2926080 h 6858000"/>
              <a:gd name="connsiteX3" fmla="*/ 7171981 w 7171981"/>
              <a:gd name="connsiteY3" fmla="*/ 6858000 h 6858000"/>
              <a:gd name="connsiteX4" fmla="*/ 0 w 7171981"/>
              <a:gd name="connsiteY4" fmla="*/ 6858000 h 6858000"/>
              <a:gd name="connsiteX0" fmla="*/ 0 w 7171981"/>
              <a:gd name="connsiteY0" fmla="*/ 6858000 h 6858000"/>
              <a:gd name="connsiteX1" fmla="*/ 0 w 7171981"/>
              <a:gd name="connsiteY1" fmla="*/ 0 h 6858000"/>
              <a:gd name="connsiteX2" fmla="*/ 4206240 w 7171981"/>
              <a:gd name="connsiteY2" fmla="*/ 2926080 h 6858000"/>
              <a:gd name="connsiteX3" fmla="*/ 7171981 w 7171981"/>
              <a:gd name="connsiteY3" fmla="*/ 6858000 h 6858000"/>
              <a:gd name="connsiteX4" fmla="*/ 0 w 7171981"/>
              <a:gd name="connsiteY4" fmla="*/ 6858000 h 6858000"/>
              <a:gd name="connsiteX0" fmla="*/ 0 w 9320821"/>
              <a:gd name="connsiteY0" fmla="*/ 6858000 h 6858000"/>
              <a:gd name="connsiteX1" fmla="*/ 0 w 9320821"/>
              <a:gd name="connsiteY1" fmla="*/ 0 h 6858000"/>
              <a:gd name="connsiteX2" fmla="*/ 4206240 w 9320821"/>
              <a:gd name="connsiteY2" fmla="*/ 2926080 h 6858000"/>
              <a:gd name="connsiteX3" fmla="*/ 9320821 w 9320821"/>
              <a:gd name="connsiteY3" fmla="*/ 6858000 h 6858000"/>
              <a:gd name="connsiteX4" fmla="*/ 0 w 9320821"/>
              <a:gd name="connsiteY4" fmla="*/ 6858000 h 6858000"/>
              <a:gd name="connsiteX0" fmla="*/ 0 w 9320821"/>
              <a:gd name="connsiteY0" fmla="*/ 6858000 h 6858000"/>
              <a:gd name="connsiteX1" fmla="*/ 0 w 9320821"/>
              <a:gd name="connsiteY1" fmla="*/ 0 h 6858000"/>
              <a:gd name="connsiteX2" fmla="*/ 3733800 w 9320821"/>
              <a:gd name="connsiteY2" fmla="*/ 3825240 h 6858000"/>
              <a:gd name="connsiteX3" fmla="*/ 9320821 w 9320821"/>
              <a:gd name="connsiteY3" fmla="*/ 6858000 h 6858000"/>
              <a:gd name="connsiteX4" fmla="*/ 0 w 9320821"/>
              <a:gd name="connsiteY4" fmla="*/ 6858000 h 6858000"/>
              <a:gd name="connsiteX0" fmla="*/ 0 w 9320821"/>
              <a:gd name="connsiteY0" fmla="*/ 6858000 h 6858000"/>
              <a:gd name="connsiteX1" fmla="*/ 0 w 9320821"/>
              <a:gd name="connsiteY1" fmla="*/ 0 h 6858000"/>
              <a:gd name="connsiteX2" fmla="*/ 3474720 w 9320821"/>
              <a:gd name="connsiteY2" fmla="*/ 4343400 h 6858000"/>
              <a:gd name="connsiteX3" fmla="*/ 9320821 w 9320821"/>
              <a:gd name="connsiteY3" fmla="*/ 6858000 h 6858000"/>
              <a:gd name="connsiteX4" fmla="*/ 0 w 9320821"/>
              <a:gd name="connsiteY4" fmla="*/ 6858000 h 6858000"/>
              <a:gd name="connsiteX0" fmla="*/ 0 w 9320821"/>
              <a:gd name="connsiteY0" fmla="*/ 6858000 h 6858000"/>
              <a:gd name="connsiteX1" fmla="*/ 0 w 9320821"/>
              <a:gd name="connsiteY1" fmla="*/ 0 h 6858000"/>
              <a:gd name="connsiteX2" fmla="*/ 3672840 w 9320821"/>
              <a:gd name="connsiteY2" fmla="*/ 4663440 h 6858000"/>
              <a:gd name="connsiteX3" fmla="*/ 9320821 w 9320821"/>
              <a:gd name="connsiteY3" fmla="*/ 6858000 h 6858000"/>
              <a:gd name="connsiteX4" fmla="*/ 0 w 9320821"/>
              <a:gd name="connsiteY4" fmla="*/ 6858000 h 6858000"/>
              <a:gd name="connsiteX0" fmla="*/ 0 w 9320821"/>
              <a:gd name="connsiteY0" fmla="*/ 6858000 h 6858000"/>
              <a:gd name="connsiteX1" fmla="*/ 0 w 9320821"/>
              <a:gd name="connsiteY1" fmla="*/ 0 h 6858000"/>
              <a:gd name="connsiteX2" fmla="*/ 5608320 w 9320821"/>
              <a:gd name="connsiteY2" fmla="*/ 2758440 h 6858000"/>
              <a:gd name="connsiteX3" fmla="*/ 9320821 w 9320821"/>
              <a:gd name="connsiteY3" fmla="*/ 6858000 h 6858000"/>
              <a:gd name="connsiteX4" fmla="*/ 0 w 9320821"/>
              <a:gd name="connsiteY4" fmla="*/ 6858000 h 6858000"/>
              <a:gd name="connsiteX0" fmla="*/ 0 w 12140221"/>
              <a:gd name="connsiteY0" fmla="*/ 6858000 h 6949440"/>
              <a:gd name="connsiteX1" fmla="*/ 0 w 12140221"/>
              <a:gd name="connsiteY1" fmla="*/ 0 h 6949440"/>
              <a:gd name="connsiteX2" fmla="*/ 5608320 w 12140221"/>
              <a:gd name="connsiteY2" fmla="*/ 2758440 h 6949440"/>
              <a:gd name="connsiteX3" fmla="*/ 12140221 w 12140221"/>
              <a:gd name="connsiteY3" fmla="*/ 6949440 h 6949440"/>
              <a:gd name="connsiteX4" fmla="*/ 0 w 12140221"/>
              <a:gd name="connsiteY4" fmla="*/ 6858000 h 6949440"/>
              <a:gd name="connsiteX0" fmla="*/ 0 w 12140221"/>
              <a:gd name="connsiteY0" fmla="*/ 6858000 h 6949440"/>
              <a:gd name="connsiteX1" fmla="*/ 0 w 12140221"/>
              <a:gd name="connsiteY1" fmla="*/ 0 h 6949440"/>
              <a:gd name="connsiteX2" fmla="*/ 5120640 w 12140221"/>
              <a:gd name="connsiteY2" fmla="*/ 3596640 h 6949440"/>
              <a:gd name="connsiteX3" fmla="*/ 12140221 w 12140221"/>
              <a:gd name="connsiteY3" fmla="*/ 6949440 h 6949440"/>
              <a:gd name="connsiteX4" fmla="*/ 0 w 12140221"/>
              <a:gd name="connsiteY4" fmla="*/ 6858000 h 6949440"/>
              <a:gd name="connsiteX0" fmla="*/ 0 w 10082821"/>
              <a:gd name="connsiteY0" fmla="*/ 6858000 h 7071360"/>
              <a:gd name="connsiteX1" fmla="*/ 0 w 10082821"/>
              <a:gd name="connsiteY1" fmla="*/ 0 h 7071360"/>
              <a:gd name="connsiteX2" fmla="*/ 5120640 w 10082821"/>
              <a:gd name="connsiteY2" fmla="*/ 3596640 h 7071360"/>
              <a:gd name="connsiteX3" fmla="*/ 10082821 w 10082821"/>
              <a:gd name="connsiteY3" fmla="*/ 7071360 h 7071360"/>
              <a:gd name="connsiteX4" fmla="*/ 0 w 10082821"/>
              <a:gd name="connsiteY4" fmla="*/ 6858000 h 7071360"/>
              <a:gd name="connsiteX0" fmla="*/ 0 w 10082821"/>
              <a:gd name="connsiteY0" fmla="*/ 6858000 h 6858000"/>
              <a:gd name="connsiteX1" fmla="*/ 0 w 10082821"/>
              <a:gd name="connsiteY1" fmla="*/ 0 h 6858000"/>
              <a:gd name="connsiteX2" fmla="*/ 5120640 w 10082821"/>
              <a:gd name="connsiteY2" fmla="*/ 3596640 h 6858000"/>
              <a:gd name="connsiteX3" fmla="*/ 10082821 w 10082821"/>
              <a:gd name="connsiteY3" fmla="*/ 6842760 h 6858000"/>
              <a:gd name="connsiteX4" fmla="*/ 0 w 10082821"/>
              <a:gd name="connsiteY4" fmla="*/ 6858000 h 6858000"/>
              <a:gd name="connsiteX0" fmla="*/ 15240 w 10098061"/>
              <a:gd name="connsiteY0" fmla="*/ 9113520 h 9113520"/>
              <a:gd name="connsiteX1" fmla="*/ 0 w 10098061"/>
              <a:gd name="connsiteY1" fmla="*/ 0 h 9113520"/>
              <a:gd name="connsiteX2" fmla="*/ 5135880 w 10098061"/>
              <a:gd name="connsiteY2" fmla="*/ 5852160 h 9113520"/>
              <a:gd name="connsiteX3" fmla="*/ 10098061 w 10098061"/>
              <a:gd name="connsiteY3" fmla="*/ 9098280 h 9113520"/>
              <a:gd name="connsiteX4" fmla="*/ 15240 w 10098061"/>
              <a:gd name="connsiteY4" fmla="*/ 9113520 h 9113520"/>
              <a:gd name="connsiteX0" fmla="*/ 15240 w 10098061"/>
              <a:gd name="connsiteY0" fmla="*/ 9113520 h 9113520"/>
              <a:gd name="connsiteX1" fmla="*/ 0 w 10098061"/>
              <a:gd name="connsiteY1" fmla="*/ 0 h 9113520"/>
              <a:gd name="connsiteX2" fmla="*/ 5379720 w 10098061"/>
              <a:gd name="connsiteY2" fmla="*/ 5029203 h 9113520"/>
              <a:gd name="connsiteX3" fmla="*/ 10098061 w 10098061"/>
              <a:gd name="connsiteY3" fmla="*/ 9098280 h 9113520"/>
              <a:gd name="connsiteX4" fmla="*/ 15240 w 10098061"/>
              <a:gd name="connsiteY4" fmla="*/ 9113520 h 9113520"/>
              <a:gd name="connsiteX0" fmla="*/ 15240 w 7155635"/>
              <a:gd name="connsiteY0" fmla="*/ 9113520 h 9113520"/>
              <a:gd name="connsiteX1" fmla="*/ 0 w 7155635"/>
              <a:gd name="connsiteY1" fmla="*/ 0 h 9113520"/>
              <a:gd name="connsiteX2" fmla="*/ 5379720 w 7155635"/>
              <a:gd name="connsiteY2" fmla="*/ 5029203 h 9113520"/>
              <a:gd name="connsiteX3" fmla="*/ 7111024 w 7155635"/>
              <a:gd name="connsiteY3" fmla="*/ 8991603 h 9113520"/>
              <a:gd name="connsiteX4" fmla="*/ 15240 w 7155635"/>
              <a:gd name="connsiteY4" fmla="*/ 9113520 h 9113520"/>
              <a:gd name="connsiteX0" fmla="*/ 15240 w 7111024"/>
              <a:gd name="connsiteY0" fmla="*/ 9113520 h 9113520"/>
              <a:gd name="connsiteX1" fmla="*/ 0 w 7111024"/>
              <a:gd name="connsiteY1" fmla="*/ 0 h 9113520"/>
              <a:gd name="connsiteX2" fmla="*/ 3124200 w 7111024"/>
              <a:gd name="connsiteY2" fmla="*/ 4998726 h 9113520"/>
              <a:gd name="connsiteX3" fmla="*/ 7111024 w 7111024"/>
              <a:gd name="connsiteY3" fmla="*/ 8991603 h 9113520"/>
              <a:gd name="connsiteX4" fmla="*/ 15240 w 7111024"/>
              <a:gd name="connsiteY4" fmla="*/ 9113520 h 9113520"/>
              <a:gd name="connsiteX0" fmla="*/ 15240 w 6989104"/>
              <a:gd name="connsiteY0" fmla="*/ 9113520 h 9174483"/>
              <a:gd name="connsiteX1" fmla="*/ 0 w 6989104"/>
              <a:gd name="connsiteY1" fmla="*/ 0 h 9174483"/>
              <a:gd name="connsiteX2" fmla="*/ 3124200 w 6989104"/>
              <a:gd name="connsiteY2" fmla="*/ 4998726 h 9174483"/>
              <a:gd name="connsiteX3" fmla="*/ 6989104 w 6989104"/>
              <a:gd name="connsiteY3" fmla="*/ 9174483 h 9174483"/>
              <a:gd name="connsiteX4" fmla="*/ 15240 w 6989104"/>
              <a:gd name="connsiteY4" fmla="*/ 9113520 h 9174483"/>
              <a:gd name="connsiteX0" fmla="*/ 15240 w 6989104"/>
              <a:gd name="connsiteY0" fmla="*/ 9113520 h 9174483"/>
              <a:gd name="connsiteX1" fmla="*/ 0 w 6989104"/>
              <a:gd name="connsiteY1" fmla="*/ 0 h 9174483"/>
              <a:gd name="connsiteX2" fmla="*/ 3154680 w 6989104"/>
              <a:gd name="connsiteY2" fmla="*/ 3230886 h 9174483"/>
              <a:gd name="connsiteX3" fmla="*/ 6989104 w 6989104"/>
              <a:gd name="connsiteY3" fmla="*/ 9174483 h 9174483"/>
              <a:gd name="connsiteX4" fmla="*/ 15240 w 6989104"/>
              <a:gd name="connsiteY4" fmla="*/ 9113520 h 91744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89104" h="9174483">
                <a:moveTo>
                  <a:pt x="15240" y="9113520"/>
                </a:moveTo>
                <a:lnTo>
                  <a:pt x="0" y="0"/>
                </a:lnTo>
                <a:cubicBezTo>
                  <a:pt x="914400" y="868680"/>
                  <a:pt x="457200" y="2194566"/>
                  <a:pt x="3154680" y="3230886"/>
                </a:cubicBezTo>
                <a:cubicBezTo>
                  <a:pt x="6200660" y="4191006"/>
                  <a:pt x="6366284" y="7635243"/>
                  <a:pt x="6989104" y="9174483"/>
                </a:cubicBezTo>
                <a:lnTo>
                  <a:pt x="15240" y="9113520"/>
                </a:lnTo>
                <a:close/>
              </a:path>
            </a:pathLst>
          </a:custGeom>
          <a:solidFill>
            <a:srgbClr val="002060"/>
          </a:solidFill>
          <a:ln>
            <a:noFill/>
          </a:ln>
          <a:effectLst>
            <a:outerShdw blurRad="1270000" dist="355600" dir="19140000" sx="104000" sy="104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I" dirty="0"/>
          </a:p>
        </p:txBody>
      </p:sp>
      <p:sp>
        <p:nvSpPr>
          <p:cNvPr id="9" name="ZoneTexte 8">
            <a:extLst>
              <a:ext uri="{FF2B5EF4-FFF2-40B4-BE49-F238E27FC236}">
                <a16:creationId xmlns:a16="http://schemas.microsoft.com/office/drawing/2014/main" id="{9EF014EB-03D5-7C70-BFF6-94B58802DEEF}"/>
              </a:ext>
            </a:extLst>
          </p:cNvPr>
          <p:cNvSpPr txBox="1"/>
          <p:nvPr/>
        </p:nvSpPr>
        <p:spPr>
          <a:xfrm>
            <a:off x="647699" y="3013501"/>
            <a:ext cx="10896600" cy="830997"/>
          </a:xfrm>
          <a:prstGeom prst="rect">
            <a:avLst/>
          </a:prstGeom>
          <a:noFill/>
        </p:spPr>
        <p:txBody>
          <a:bodyPr wrap="square" rtlCol="0">
            <a:spAutoFit/>
          </a:bodyPr>
          <a:lstStyle/>
          <a:p>
            <a:pPr algn="ctr"/>
            <a:r>
              <a:rPr lang="fr-CI" sz="4800" b="1">
                <a:solidFill>
                  <a:srgbClr val="002060"/>
                </a:solidFill>
                <a:latin typeface="+mn-lt" panose="020B0907030504020204" pitchFamily="34" charset="0"/>
              </a:rPr>
              <a:t>MERCI POUR VOTRE ATTENTION</a:t>
            </a:r>
          </a:p>
        </p:txBody>
      </p:sp>
      <p:sp>
        <p:nvSpPr>
          <p:cNvPr id="11" name="Triangle rectangle 1">
            <a:extLst>
              <a:ext uri="{FF2B5EF4-FFF2-40B4-BE49-F238E27FC236}">
                <a16:creationId xmlns:a16="http://schemas.microsoft.com/office/drawing/2014/main" id="{B87B391F-8977-52BA-ECC9-6EB27CF1AE52}"/>
              </a:ext>
            </a:extLst>
          </p:cNvPr>
          <p:cNvSpPr/>
          <p:nvPr/>
        </p:nvSpPr>
        <p:spPr>
          <a:xfrm rot="16200000">
            <a:off x="7738985" y="950996"/>
            <a:ext cx="6989104" cy="9174483"/>
          </a:xfrm>
          <a:custGeom>
            <a:avLst/>
            <a:gdLst>
              <a:gd name="connsiteX0" fmla="*/ 0 w 7171981"/>
              <a:gd name="connsiteY0" fmla="*/ 6858000 h 6858000"/>
              <a:gd name="connsiteX1" fmla="*/ 0 w 7171981"/>
              <a:gd name="connsiteY1" fmla="*/ 0 h 6858000"/>
              <a:gd name="connsiteX2" fmla="*/ 7171981 w 7171981"/>
              <a:gd name="connsiteY2" fmla="*/ 6858000 h 6858000"/>
              <a:gd name="connsiteX3" fmla="*/ 0 w 7171981"/>
              <a:gd name="connsiteY3" fmla="*/ 6858000 h 6858000"/>
              <a:gd name="connsiteX0" fmla="*/ 0 w 7171981"/>
              <a:gd name="connsiteY0" fmla="*/ 6858000 h 6858000"/>
              <a:gd name="connsiteX1" fmla="*/ 0 w 7171981"/>
              <a:gd name="connsiteY1" fmla="*/ 0 h 6858000"/>
              <a:gd name="connsiteX2" fmla="*/ 4709160 w 7171981"/>
              <a:gd name="connsiteY2" fmla="*/ 1920240 h 6858000"/>
              <a:gd name="connsiteX3" fmla="*/ 7171981 w 7171981"/>
              <a:gd name="connsiteY3" fmla="*/ 6858000 h 6858000"/>
              <a:gd name="connsiteX4" fmla="*/ 0 w 7171981"/>
              <a:gd name="connsiteY4" fmla="*/ 6858000 h 6858000"/>
              <a:gd name="connsiteX0" fmla="*/ 0 w 7171981"/>
              <a:gd name="connsiteY0" fmla="*/ 6858000 h 6858000"/>
              <a:gd name="connsiteX1" fmla="*/ 0 w 7171981"/>
              <a:gd name="connsiteY1" fmla="*/ 0 h 6858000"/>
              <a:gd name="connsiteX2" fmla="*/ 4709160 w 7171981"/>
              <a:gd name="connsiteY2" fmla="*/ 1920240 h 6858000"/>
              <a:gd name="connsiteX3" fmla="*/ 7171981 w 7171981"/>
              <a:gd name="connsiteY3" fmla="*/ 6858000 h 6858000"/>
              <a:gd name="connsiteX4" fmla="*/ 0 w 7171981"/>
              <a:gd name="connsiteY4" fmla="*/ 6858000 h 6858000"/>
              <a:gd name="connsiteX0" fmla="*/ 0 w 7171981"/>
              <a:gd name="connsiteY0" fmla="*/ 6858000 h 6858000"/>
              <a:gd name="connsiteX1" fmla="*/ 0 w 7171981"/>
              <a:gd name="connsiteY1" fmla="*/ 0 h 6858000"/>
              <a:gd name="connsiteX2" fmla="*/ 5303520 w 7171981"/>
              <a:gd name="connsiteY2" fmla="*/ 2240280 h 6858000"/>
              <a:gd name="connsiteX3" fmla="*/ 7171981 w 7171981"/>
              <a:gd name="connsiteY3" fmla="*/ 6858000 h 6858000"/>
              <a:gd name="connsiteX4" fmla="*/ 0 w 7171981"/>
              <a:gd name="connsiteY4" fmla="*/ 6858000 h 6858000"/>
              <a:gd name="connsiteX0" fmla="*/ 0 w 7171981"/>
              <a:gd name="connsiteY0" fmla="*/ 6858000 h 6858000"/>
              <a:gd name="connsiteX1" fmla="*/ 0 w 7171981"/>
              <a:gd name="connsiteY1" fmla="*/ 0 h 6858000"/>
              <a:gd name="connsiteX2" fmla="*/ 5303520 w 7171981"/>
              <a:gd name="connsiteY2" fmla="*/ 2240280 h 6858000"/>
              <a:gd name="connsiteX3" fmla="*/ 7171981 w 7171981"/>
              <a:gd name="connsiteY3" fmla="*/ 6858000 h 6858000"/>
              <a:gd name="connsiteX4" fmla="*/ 0 w 7171981"/>
              <a:gd name="connsiteY4" fmla="*/ 6858000 h 6858000"/>
              <a:gd name="connsiteX0" fmla="*/ 0 w 7171981"/>
              <a:gd name="connsiteY0" fmla="*/ 6858000 h 6858000"/>
              <a:gd name="connsiteX1" fmla="*/ 0 w 7171981"/>
              <a:gd name="connsiteY1" fmla="*/ 0 h 6858000"/>
              <a:gd name="connsiteX2" fmla="*/ 4206240 w 7171981"/>
              <a:gd name="connsiteY2" fmla="*/ 2926080 h 6858000"/>
              <a:gd name="connsiteX3" fmla="*/ 7171981 w 7171981"/>
              <a:gd name="connsiteY3" fmla="*/ 6858000 h 6858000"/>
              <a:gd name="connsiteX4" fmla="*/ 0 w 7171981"/>
              <a:gd name="connsiteY4" fmla="*/ 6858000 h 6858000"/>
              <a:gd name="connsiteX0" fmla="*/ 0 w 7171981"/>
              <a:gd name="connsiteY0" fmla="*/ 6858000 h 6858000"/>
              <a:gd name="connsiteX1" fmla="*/ 0 w 7171981"/>
              <a:gd name="connsiteY1" fmla="*/ 0 h 6858000"/>
              <a:gd name="connsiteX2" fmla="*/ 4206240 w 7171981"/>
              <a:gd name="connsiteY2" fmla="*/ 2926080 h 6858000"/>
              <a:gd name="connsiteX3" fmla="*/ 7171981 w 7171981"/>
              <a:gd name="connsiteY3" fmla="*/ 6858000 h 6858000"/>
              <a:gd name="connsiteX4" fmla="*/ 0 w 7171981"/>
              <a:gd name="connsiteY4" fmla="*/ 6858000 h 6858000"/>
              <a:gd name="connsiteX0" fmla="*/ 0 w 9320821"/>
              <a:gd name="connsiteY0" fmla="*/ 6858000 h 6858000"/>
              <a:gd name="connsiteX1" fmla="*/ 0 w 9320821"/>
              <a:gd name="connsiteY1" fmla="*/ 0 h 6858000"/>
              <a:gd name="connsiteX2" fmla="*/ 4206240 w 9320821"/>
              <a:gd name="connsiteY2" fmla="*/ 2926080 h 6858000"/>
              <a:gd name="connsiteX3" fmla="*/ 9320821 w 9320821"/>
              <a:gd name="connsiteY3" fmla="*/ 6858000 h 6858000"/>
              <a:gd name="connsiteX4" fmla="*/ 0 w 9320821"/>
              <a:gd name="connsiteY4" fmla="*/ 6858000 h 6858000"/>
              <a:gd name="connsiteX0" fmla="*/ 0 w 9320821"/>
              <a:gd name="connsiteY0" fmla="*/ 6858000 h 6858000"/>
              <a:gd name="connsiteX1" fmla="*/ 0 w 9320821"/>
              <a:gd name="connsiteY1" fmla="*/ 0 h 6858000"/>
              <a:gd name="connsiteX2" fmla="*/ 3733800 w 9320821"/>
              <a:gd name="connsiteY2" fmla="*/ 3825240 h 6858000"/>
              <a:gd name="connsiteX3" fmla="*/ 9320821 w 9320821"/>
              <a:gd name="connsiteY3" fmla="*/ 6858000 h 6858000"/>
              <a:gd name="connsiteX4" fmla="*/ 0 w 9320821"/>
              <a:gd name="connsiteY4" fmla="*/ 6858000 h 6858000"/>
              <a:gd name="connsiteX0" fmla="*/ 0 w 9320821"/>
              <a:gd name="connsiteY0" fmla="*/ 6858000 h 6858000"/>
              <a:gd name="connsiteX1" fmla="*/ 0 w 9320821"/>
              <a:gd name="connsiteY1" fmla="*/ 0 h 6858000"/>
              <a:gd name="connsiteX2" fmla="*/ 3474720 w 9320821"/>
              <a:gd name="connsiteY2" fmla="*/ 4343400 h 6858000"/>
              <a:gd name="connsiteX3" fmla="*/ 9320821 w 9320821"/>
              <a:gd name="connsiteY3" fmla="*/ 6858000 h 6858000"/>
              <a:gd name="connsiteX4" fmla="*/ 0 w 9320821"/>
              <a:gd name="connsiteY4" fmla="*/ 6858000 h 6858000"/>
              <a:gd name="connsiteX0" fmla="*/ 0 w 9320821"/>
              <a:gd name="connsiteY0" fmla="*/ 6858000 h 6858000"/>
              <a:gd name="connsiteX1" fmla="*/ 0 w 9320821"/>
              <a:gd name="connsiteY1" fmla="*/ 0 h 6858000"/>
              <a:gd name="connsiteX2" fmla="*/ 3672840 w 9320821"/>
              <a:gd name="connsiteY2" fmla="*/ 4663440 h 6858000"/>
              <a:gd name="connsiteX3" fmla="*/ 9320821 w 9320821"/>
              <a:gd name="connsiteY3" fmla="*/ 6858000 h 6858000"/>
              <a:gd name="connsiteX4" fmla="*/ 0 w 9320821"/>
              <a:gd name="connsiteY4" fmla="*/ 6858000 h 6858000"/>
              <a:gd name="connsiteX0" fmla="*/ 0 w 9320821"/>
              <a:gd name="connsiteY0" fmla="*/ 6858000 h 6858000"/>
              <a:gd name="connsiteX1" fmla="*/ 0 w 9320821"/>
              <a:gd name="connsiteY1" fmla="*/ 0 h 6858000"/>
              <a:gd name="connsiteX2" fmla="*/ 5608320 w 9320821"/>
              <a:gd name="connsiteY2" fmla="*/ 2758440 h 6858000"/>
              <a:gd name="connsiteX3" fmla="*/ 9320821 w 9320821"/>
              <a:gd name="connsiteY3" fmla="*/ 6858000 h 6858000"/>
              <a:gd name="connsiteX4" fmla="*/ 0 w 9320821"/>
              <a:gd name="connsiteY4" fmla="*/ 6858000 h 6858000"/>
              <a:gd name="connsiteX0" fmla="*/ 0 w 12140221"/>
              <a:gd name="connsiteY0" fmla="*/ 6858000 h 6949440"/>
              <a:gd name="connsiteX1" fmla="*/ 0 w 12140221"/>
              <a:gd name="connsiteY1" fmla="*/ 0 h 6949440"/>
              <a:gd name="connsiteX2" fmla="*/ 5608320 w 12140221"/>
              <a:gd name="connsiteY2" fmla="*/ 2758440 h 6949440"/>
              <a:gd name="connsiteX3" fmla="*/ 12140221 w 12140221"/>
              <a:gd name="connsiteY3" fmla="*/ 6949440 h 6949440"/>
              <a:gd name="connsiteX4" fmla="*/ 0 w 12140221"/>
              <a:gd name="connsiteY4" fmla="*/ 6858000 h 6949440"/>
              <a:gd name="connsiteX0" fmla="*/ 0 w 12140221"/>
              <a:gd name="connsiteY0" fmla="*/ 6858000 h 6949440"/>
              <a:gd name="connsiteX1" fmla="*/ 0 w 12140221"/>
              <a:gd name="connsiteY1" fmla="*/ 0 h 6949440"/>
              <a:gd name="connsiteX2" fmla="*/ 5120640 w 12140221"/>
              <a:gd name="connsiteY2" fmla="*/ 3596640 h 6949440"/>
              <a:gd name="connsiteX3" fmla="*/ 12140221 w 12140221"/>
              <a:gd name="connsiteY3" fmla="*/ 6949440 h 6949440"/>
              <a:gd name="connsiteX4" fmla="*/ 0 w 12140221"/>
              <a:gd name="connsiteY4" fmla="*/ 6858000 h 6949440"/>
              <a:gd name="connsiteX0" fmla="*/ 0 w 10082821"/>
              <a:gd name="connsiteY0" fmla="*/ 6858000 h 7071360"/>
              <a:gd name="connsiteX1" fmla="*/ 0 w 10082821"/>
              <a:gd name="connsiteY1" fmla="*/ 0 h 7071360"/>
              <a:gd name="connsiteX2" fmla="*/ 5120640 w 10082821"/>
              <a:gd name="connsiteY2" fmla="*/ 3596640 h 7071360"/>
              <a:gd name="connsiteX3" fmla="*/ 10082821 w 10082821"/>
              <a:gd name="connsiteY3" fmla="*/ 7071360 h 7071360"/>
              <a:gd name="connsiteX4" fmla="*/ 0 w 10082821"/>
              <a:gd name="connsiteY4" fmla="*/ 6858000 h 7071360"/>
              <a:gd name="connsiteX0" fmla="*/ 0 w 10082821"/>
              <a:gd name="connsiteY0" fmla="*/ 6858000 h 6858000"/>
              <a:gd name="connsiteX1" fmla="*/ 0 w 10082821"/>
              <a:gd name="connsiteY1" fmla="*/ 0 h 6858000"/>
              <a:gd name="connsiteX2" fmla="*/ 5120640 w 10082821"/>
              <a:gd name="connsiteY2" fmla="*/ 3596640 h 6858000"/>
              <a:gd name="connsiteX3" fmla="*/ 10082821 w 10082821"/>
              <a:gd name="connsiteY3" fmla="*/ 6842760 h 6858000"/>
              <a:gd name="connsiteX4" fmla="*/ 0 w 10082821"/>
              <a:gd name="connsiteY4" fmla="*/ 6858000 h 6858000"/>
              <a:gd name="connsiteX0" fmla="*/ 15240 w 10098061"/>
              <a:gd name="connsiteY0" fmla="*/ 9113520 h 9113520"/>
              <a:gd name="connsiteX1" fmla="*/ 0 w 10098061"/>
              <a:gd name="connsiteY1" fmla="*/ 0 h 9113520"/>
              <a:gd name="connsiteX2" fmla="*/ 5135880 w 10098061"/>
              <a:gd name="connsiteY2" fmla="*/ 5852160 h 9113520"/>
              <a:gd name="connsiteX3" fmla="*/ 10098061 w 10098061"/>
              <a:gd name="connsiteY3" fmla="*/ 9098280 h 9113520"/>
              <a:gd name="connsiteX4" fmla="*/ 15240 w 10098061"/>
              <a:gd name="connsiteY4" fmla="*/ 9113520 h 9113520"/>
              <a:gd name="connsiteX0" fmla="*/ 15240 w 10098061"/>
              <a:gd name="connsiteY0" fmla="*/ 9113520 h 9113520"/>
              <a:gd name="connsiteX1" fmla="*/ 0 w 10098061"/>
              <a:gd name="connsiteY1" fmla="*/ 0 h 9113520"/>
              <a:gd name="connsiteX2" fmla="*/ 5379720 w 10098061"/>
              <a:gd name="connsiteY2" fmla="*/ 5029203 h 9113520"/>
              <a:gd name="connsiteX3" fmla="*/ 10098061 w 10098061"/>
              <a:gd name="connsiteY3" fmla="*/ 9098280 h 9113520"/>
              <a:gd name="connsiteX4" fmla="*/ 15240 w 10098061"/>
              <a:gd name="connsiteY4" fmla="*/ 9113520 h 9113520"/>
              <a:gd name="connsiteX0" fmla="*/ 15240 w 7155635"/>
              <a:gd name="connsiteY0" fmla="*/ 9113520 h 9113520"/>
              <a:gd name="connsiteX1" fmla="*/ 0 w 7155635"/>
              <a:gd name="connsiteY1" fmla="*/ 0 h 9113520"/>
              <a:gd name="connsiteX2" fmla="*/ 5379720 w 7155635"/>
              <a:gd name="connsiteY2" fmla="*/ 5029203 h 9113520"/>
              <a:gd name="connsiteX3" fmla="*/ 7111024 w 7155635"/>
              <a:gd name="connsiteY3" fmla="*/ 8991603 h 9113520"/>
              <a:gd name="connsiteX4" fmla="*/ 15240 w 7155635"/>
              <a:gd name="connsiteY4" fmla="*/ 9113520 h 9113520"/>
              <a:gd name="connsiteX0" fmla="*/ 15240 w 7111024"/>
              <a:gd name="connsiteY0" fmla="*/ 9113520 h 9113520"/>
              <a:gd name="connsiteX1" fmla="*/ 0 w 7111024"/>
              <a:gd name="connsiteY1" fmla="*/ 0 h 9113520"/>
              <a:gd name="connsiteX2" fmla="*/ 3124200 w 7111024"/>
              <a:gd name="connsiteY2" fmla="*/ 4998726 h 9113520"/>
              <a:gd name="connsiteX3" fmla="*/ 7111024 w 7111024"/>
              <a:gd name="connsiteY3" fmla="*/ 8991603 h 9113520"/>
              <a:gd name="connsiteX4" fmla="*/ 15240 w 7111024"/>
              <a:gd name="connsiteY4" fmla="*/ 9113520 h 9113520"/>
              <a:gd name="connsiteX0" fmla="*/ 15240 w 6989104"/>
              <a:gd name="connsiteY0" fmla="*/ 9113520 h 9174483"/>
              <a:gd name="connsiteX1" fmla="*/ 0 w 6989104"/>
              <a:gd name="connsiteY1" fmla="*/ 0 h 9174483"/>
              <a:gd name="connsiteX2" fmla="*/ 3124200 w 6989104"/>
              <a:gd name="connsiteY2" fmla="*/ 4998726 h 9174483"/>
              <a:gd name="connsiteX3" fmla="*/ 6989104 w 6989104"/>
              <a:gd name="connsiteY3" fmla="*/ 9174483 h 9174483"/>
              <a:gd name="connsiteX4" fmla="*/ 15240 w 6989104"/>
              <a:gd name="connsiteY4" fmla="*/ 9113520 h 9174483"/>
              <a:gd name="connsiteX0" fmla="*/ 15240 w 6989104"/>
              <a:gd name="connsiteY0" fmla="*/ 9113520 h 9174483"/>
              <a:gd name="connsiteX1" fmla="*/ 0 w 6989104"/>
              <a:gd name="connsiteY1" fmla="*/ 0 h 9174483"/>
              <a:gd name="connsiteX2" fmla="*/ 3154680 w 6989104"/>
              <a:gd name="connsiteY2" fmla="*/ 3230886 h 9174483"/>
              <a:gd name="connsiteX3" fmla="*/ 6989104 w 6989104"/>
              <a:gd name="connsiteY3" fmla="*/ 9174483 h 9174483"/>
              <a:gd name="connsiteX4" fmla="*/ 15240 w 6989104"/>
              <a:gd name="connsiteY4" fmla="*/ 9113520 h 91744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89104" h="9174483">
                <a:moveTo>
                  <a:pt x="15240" y="9113520"/>
                </a:moveTo>
                <a:lnTo>
                  <a:pt x="0" y="0"/>
                </a:lnTo>
                <a:cubicBezTo>
                  <a:pt x="914400" y="868680"/>
                  <a:pt x="457200" y="2194566"/>
                  <a:pt x="3154680" y="3230886"/>
                </a:cubicBezTo>
                <a:cubicBezTo>
                  <a:pt x="6200660" y="4191006"/>
                  <a:pt x="6366284" y="7635243"/>
                  <a:pt x="6989104" y="9174483"/>
                </a:cubicBezTo>
                <a:lnTo>
                  <a:pt x="15240" y="9113520"/>
                </a:lnTo>
                <a:close/>
              </a:path>
            </a:pathLst>
          </a:custGeom>
          <a:solidFill>
            <a:srgbClr val="002060"/>
          </a:solidFill>
          <a:ln>
            <a:noFill/>
          </a:ln>
          <a:effectLst>
            <a:outerShdw blurRad="1270000" dist="355600" dir="19140000" sx="104000" sy="104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I" dirty="0"/>
          </a:p>
        </p:txBody>
      </p:sp>
    </p:spTree>
    <p:extLst>
      <p:ext uri="{BB962C8B-B14F-4D97-AF65-F5344CB8AC3E}">
        <p14:creationId xmlns:p14="http://schemas.microsoft.com/office/powerpoint/2010/main" val="34005191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289142-208C-2BF6-38FC-33934713467B}"/>
            </a:ext>
          </a:extLst>
        </p:cNvPr>
        <p:cNvGrpSpPr/>
        <p:nvPr/>
      </p:nvGrpSpPr>
      <p:grpSpPr>
        <a:xfrm>
          <a:off x="0" y="0"/>
          <a:ext cx="0" cy="0"/>
          <a:chOff x="0" y="0"/>
          <a:chExt cx="0" cy="0"/>
        </a:xfrm>
      </p:grpSpPr>
      <p:pic>
        <p:nvPicPr>
          <p:cNvPr id="1030" name="Picture 6">
            <a:extLst>
              <a:ext uri="{FF2B5EF4-FFF2-40B4-BE49-F238E27FC236}">
                <a16:creationId xmlns:a16="http://schemas.microsoft.com/office/drawing/2014/main" id="{64012AA7-0CB4-AAB7-6FF2-7A61FB6FD72C}"/>
              </a:ext>
            </a:extLst>
          </p:cNvPr>
          <p:cNvPicPr>
            <a:picLocks noChangeAspect="1" noChangeArrowheads="1"/>
          </p:cNvPicPr>
          <p:nvPr>
            <p:custDataLst>
              <p:tags r:id="rId1"/>
            </p:custDataLst>
          </p:nvPr>
        </p:nvPicPr>
        <p:blipFill>
          <a:blip r:embed="rId9">
            <a:extLst>
              <a:ext uri="{BEBA8EAE-BF5A-486C-A8C5-ECC9F3942E4B}">
                <a14:imgProps xmlns:a14="http://schemas.microsoft.com/office/drawing/2010/main">
                  <a14:imgLayer r:embed="rId10">
                    <a14:imgEffect>
                      <a14:artisticLineDrawing/>
                    </a14:imgEffect>
                  </a14:imgLayer>
                </a14:imgProps>
              </a:ext>
              <a:ext uri="{28A0092B-C50C-407E-A947-70E740481C1C}">
                <a14:useLocalDpi xmlns:a14="http://schemas.microsoft.com/office/drawing/2010/main" val="0"/>
              </a:ext>
            </a:extLst>
          </a:blip>
          <a:srcRect l="9367" r="9367"/>
          <a:stretch/>
        </p:blipFill>
        <p:spPr bwMode="auto">
          <a:xfrm>
            <a:off x="1" y="-1"/>
            <a:ext cx="12191998" cy="6854357"/>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8A6C2B8A-427C-7D42-54BF-79748E29843A}"/>
              </a:ext>
            </a:extLst>
          </p:cNvPr>
          <p:cNvSpPr/>
          <p:nvPr>
            <p:custDataLst>
              <p:tags r:id="rId2"/>
            </p:custDataLst>
          </p:nvPr>
        </p:nvSpPr>
        <p:spPr>
          <a:xfrm>
            <a:off x="0" y="-10770"/>
            <a:ext cx="12191999" cy="6865126"/>
          </a:xfrm>
          <a:prstGeom prst="rect">
            <a:avLst/>
          </a:prstGeom>
          <a:solidFill>
            <a:schemeClr val="tx2">
              <a:lumMod val="10000"/>
              <a:lumOff val="90000"/>
              <a:alpha val="8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ZoneTexte 11">
            <a:extLst>
              <a:ext uri="{FF2B5EF4-FFF2-40B4-BE49-F238E27FC236}">
                <a16:creationId xmlns:a16="http://schemas.microsoft.com/office/drawing/2014/main" id="{0615F339-B401-4459-EA56-871D90077AE3}"/>
              </a:ext>
            </a:extLst>
          </p:cNvPr>
          <p:cNvSpPr txBox="1"/>
          <p:nvPr>
            <p:custDataLst>
              <p:tags r:id="rId3"/>
            </p:custDataLst>
          </p:nvPr>
        </p:nvSpPr>
        <p:spPr>
          <a:xfrm>
            <a:off x="4518788" y="1365015"/>
            <a:ext cx="3154424" cy="307777"/>
          </a:xfrm>
          <a:prstGeom prst="rect">
            <a:avLst/>
          </a:prstGeom>
          <a:solidFill>
            <a:schemeClr val="bg1">
              <a:alpha val="93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1"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SOUTENANCE DE MÉMOIRE DE MASTER</a:t>
            </a:r>
          </a:p>
        </p:txBody>
      </p:sp>
      <p:sp>
        <p:nvSpPr>
          <p:cNvPr id="11" name="ZoneTexte 10">
            <a:extLst>
              <a:ext uri="{FF2B5EF4-FFF2-40B4-BE49-F238E27FC236}">
                <a16:creationId xmlns:a16="http://schemas.microsoft.com/office/drawing/2014/main" id="{1A6130F6-58ED-3962-A92A-34FB201FD59C}"/>
              </a:ext>
            </a:extLst>
          </p:cNvPr>
          <p:cNvSpPr txBox="1"/>
          <p:nvPr>
            <p:custDataLst>
              <p:tags r:id="rId4"/>
            </p:custDataLst>
          </p:nvPr>
        </p:nvSpPr>
        <p:spPr>
          <a:xfrm>
            <a:off x="1906141" y="2284164"/>
            <a:ext cx="8249478" cy="1756250"/>
          </a:xfrm>
          <a:prstGeom prst="rect">
            <a:avLst/>
          </a:prstGeom>
          <a:solidFill>
            <a:schemeClr val="bg1">
              <a:alpha val="74000"/>
            </a:schemeClr>
          </a:solid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00" b="1" i="0" u="none" strike="noStrike" kern="1200" cap="none" spc="0" normalizeH="0" baseline="0" noProof="0" dirty="0">
              <a:ln>
                <a:noFill/>
              </a:ln>
              <a:solidFill>
                <a:srgbClr val="1D3159"/>
              </a:solidFill>
              <a:effectLst/>
              <a:uLnTx/>
              <a:uFillTx/>
              <a:latin typeface="Calibri" panose="020F0502020204030204"/>
              <a:ea typeface="+mn-ea"/>
              <a:cs typeface="+mn-cs"/>
            </a:endParaRPr>
          </a:p>
          <a:p>
            <a:pPr marL="0" marR="0" lvl="0" indent="0" algn="ctr" defTabSz="914400" rtl="0" eaLnBrk="1" fontAlgn="auto" latinLnBrk="0" hangingPunct="1">
              <a:lnSpc>
                <a:spcPct val="104000"/>
              </a:lnSpc>
              <a:spcBef>
                <a:spcPts val="0"/>
              </a:spcBef>
              <a:spcAft>
                <a:spcPts val="0"/>
              </a:spcAft>
              <a:buClrTx/>
              <a:buSzTx/>
              <a:buFontTx/>
              <a:buNone/>
              <a:tabLst/>
              <a:defRPr/>
            </a:pPr>
            <a:r>
              <a:rPr kumimoji="0" lang="fr-FR" sz="2600" b="1" i="0" u="none" strike="noStrike" kern="1200" cap="none" spc="0" normalizeH="0" baseline="0" noProof="0" dirty="0">
                <a:ln>
                  <a:noFill/>
                </a:ln>
                <a:solidFill>
                  <a:srgbClr val="1D3159"/>
                </a:solidFill>
                <a:effectLst/>
                <a:uLnTx/>
                <a:uFillTx/>
                <a:latin typeface="Calibri" panose="020F0502020204030204"/>
                <a:ea typeface="+mn-ea"/>
                <a:cs typeface="+mn-cs"/>
              </a:rPr>
              <a:t>MODÉLISATION PRÉDICTIVE DES PERFORMANCES FINANCIÈRES DU PROGRAMME EPT POUR L'AMÉLIORATION DU PROCESSUS DE TITRISATION DES CRÉANCES À ALC</a:t>
            </a:r>
          </a:p>
        </p:txBody>
      </p:sp>
      <p:sp>
        <p:nvSpPr>
          <p:cNvPr id="8" name="Demi-cadre 7">
            <a:extLst>
              <a:ext uri="{FF2B5EF4-FFF2-40B4-BE49-F238E27FC236}">
                <a16:creationId xmlns:a16="http://schemas.microsoft.com/office/drawing/2014/main" id="{2CCD71BF-5070-2D94-8C63-E5090ECBB425}"/>
              </a:ext>
            </a:extLst>
          </p:cNvPr>
          <p:cNvSpPr/>
          <p:nvPr>
            <p:custDataLst>
              <p:tags r:id="rId5"/>
            </p:custDataLst>
          </p:nvPr>
        </p:nvSpPr>
        <p:spPr>
          <a:xfrm>
            <a:off x="1518155" y="1994626"/>
            <a:ext cx="657546" cy="567825"/>
          </a:xfrm>
          <a:prstGeom prst="halfFrame">
            <a:avLst/>
          </a:prstGeom>
          <a:solidFill>
            <a:srgbClr val="1D31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Demi-cadre 8">
            <a:extLst>
              <a:ext uri="{FF2B5EF4-FFF2-40B4-BE49-F238E27FC236}">
                <a16:creationId xmlns:a16="http://schemas.microsoft.com/office/drawing/2014/main" id="{EBED8F5A-92C9-EE63-8724-FC218B1C152A}"/>
              </a:ext>
            </a:extLst>
          </p:cNvPr>
          <p:cNvSpPr/>
          <p:nvPr>
            <p:custDataLst>
              <p:tags r:id="rId6"/>
            </p:custDataLst>
          </p:nvPr>
        </p:nvSpPr>
        <p:spPr>
          <a:xfrm rot="10800000">
            <a:off x="9826846" y="3814895"/>
            <a:ext cx="657546" cy="567825"/>
          </a:xfrm>
          <a:prstGeom prst="halfFrame">
            <a:avLst/>
          </a:prstGeom>
          <a:solidFill>
            <a:srgbClr val="1D31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 name="Picture 688">
            <a:extLst>
              <a:ext uri="{FF2B5EF4-FFF2-40B4-BE49-F238E27FC236}">
                <a16:creationId xmlns:a16="http://schemas.microsoft.com/office/drawing/2014/main" id="{303F193E-2F98-9858-B46F-77BAF08A39D0}"/>
              </a:ext>
            </a:extLst>
          </p:cNvPr>
          <p:cNvPicPr>
            <a:picLocks noChangeAspect="1"/>
          </p:cNvPicPr>
          <p:nvPr/>
        </p:nvPicPr>
        <p:blipFill>
          <a:blip r:embed="rId11">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010861" y="163202"/>
            <a:ext cx="1390386" cy="93507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88">
            <a:extLst>
              <a:ext uri="{FF2B5EF4-FFF2-40B4-BE49-F238E27FC236}">
                <a16:creationId xmlns:a16="http://schemas.microsoft.com/office/drawing/2014/main" id="{C0945F50-895D-1164-2791-D1ABE8D03060}"/>
              </a:ext>
            </a:extLst>
          </p:cNvPr>
          <p:cNvPicPr>
            <a:picLocks noChangeAspect="1"/>
          </p:cNvPicPr>
          <p:nvPr/>
        </p:nvPicPr>
        <p:blipFill>
          <a:blip r:embed="rId12">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bwMode="auto">
          <a:xfrm>
            <a:off x="9483462" y="349885"/>
            <a:ext cx="2275057" cy="787105"/>
          </a:xfrm>
          <a:prstGeom prst="rect">
            <a:avLst/>
          </a:prstGeom>
          <a:noFill/>
          <a:extLst>
            <a:ext uri="{909E8E84-426E-40DD-AFC4-6F175D3DCCD1}">
              <a14:hiddenFill xmlns:a14="http://schemas.microsoft.com/office/drawing/2010/main">
                <a:solidFill>
                  <a:srgbClr val="FFFFFF"/>
                </a:solidFill>
              </a14:hiddenFill>
            </a:ext>
          </a:extLst>
        </p:spPr>
      </p:pic>
      <p:sp>
        <p:nvSpPr>
          <p:cNvPr id="17" name="ZoneTexte 16">
            <a:extLst>
              <a:ext uri="{FF2B5EF4-FFF2-40B4-BE49-F238E27FC236}">
                <a16:creationId xmlns:a16="http://schemas.microsoft.com/office/drawing/2014/main" id="{78CA3B8C-A289-CA9F-F503-F67793E16EC0}"/>
              </a:ext>
            </a:extLst>
          </p:cNvPr>
          <p:cNvSpPr txBox="1"/>
          <p:nvPr/>
        </p:nvSpPr>
        <p:spPr>
          <a:xfrm>
            <a:off x="4022271" y="4372008"/>
            <a:ext cx="4147457"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CI" sz="1400" b="1" i="0" u="sng" strike="noStrike" kern="1200" cap="none" spc="0" normalizeH="0" baseline="0" noProof="0" dirty="0">
                <a:ln>
                  <a:noFill/>
                </a:ln>
                <a:solidFill>
                  <a:prstClr val="black"/>
                </a:solidFill>
                <a:effectLst/>
                <a:uLnTx/>
                <a:uFillTx/>
                <a:latin typeface="Calibri" panose="020F0502020204030204"/>
                <a:ea typeface="+mn-ea"/>
                <a:cs typeface="+mn-cs"/>
              </a:rPr>
              <a:t>Année universitaire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CI" sz="1400" b="1" i="0" u="none" strike="noStrike" kern="1200" cap="none" spc="0" normalizeH="0" baseline="0" noProof="0" dirty="0">
                <a:ln>
                  <a:noFill/>
                </a:ln>
                <a:solidFill>
                  <a:prstClr val="black"/>
                </a:solidFill>
                <a:effectLst/>
                <a:uLnTx/>
                <a:uFillTx/>
                <a:latin typeface="Calibri" panose="020F0502020204030204"/>
                <a:ea typeface="+mn-ea"/>
                <a:cs typeface="+mn-cs"/>
              </a:rPr>
              <a:t>2025 - 2026</a:t>
            </a:r>
          </a:p>
        </p:txBody>
      </p:sp>
      <p:pic>
        <p:nvPicPr>
          <p:cNvPr id="5" name="Image 4">
            <a:extLst>
              <a:ext uri="{FF2B5EF4-FFF2-40B4-BE49-F238E27FC236}">
                <a16:creationId xmlns:a16="http://schemas.microsoft.com/office/drawing/2014/main" id="{5AAE9E33-D07E-01AD-4865-C093441243B4}"/>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4818570" y="5573119"/>
            <a:ext cx="502050" cy="546962"/>
          </a:xfrm>
          <a:prstGeom prst="rect">
            <a:avLst/>
          </a:prstGeom>
        </p:spPr>
      </p:pic>
      <p:sp>
        <p:nvSpPr>
          <p:cNvPr id="10" name="ZoneTexte 9">
            <a:extLst>
              <a:ext uri="{FF2B5EF4-FFF2-40B4-BE49-F238E27FC236}">
                <a16:creationId xmlns:a16="http://schemas.microsoft.com/office/drawing/2014/main" id="{7C1B937F-0AD5-269A-ABD4-87D43C01F54D}"/>
              </a:ext>
            </a:extLst>
          </p:cNvPr>
          <p:cNvSpPr txBox="1"/>
          <p:nvPr/>
        </p:nvSpPr>
        <p:spPr>
          <a:xfrm>
            <a:off x="5515086" y="5593862"/>
            <a:ext cx="1957531" cy="4462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CI" sz="1100" b="0" i="0" u="none" strike="noStrike" kern="1200" cap="none" spc="0" normalizeH="0" baseline="0" noProof="0" dirty="0">
                <a:ln>
                  <a:noFill/>
                </a:ln>
                <a:solidFill>
                  <a:prstClr val="black"/>
                </a:solidFill>
                <a:effectLst/>
                <a:uLnTx/>
                <a:uFillTx/>
                <a:latin typeface="Calibri" panose="020F0502020204030204"/>
                <a:ea typeface="+mn-ea"/>
                <a:cs typeface="+mn-cs"/>
              </a:rPr>
              <a:t>E</a:t>
            </a:r>
            <a:r>
              <a:rPr kumimoji="0" lang="fr-CI" sz="1100" b="0" i="0" u="none" strike="noStrike" kern="1200" cap="none" spc="0" normalizeH="0" baseline="0" noProof="0" dirty="0" err="1">
                <a:ln>
                  <a:noFill/>
                </a:ln>
                <a:solidFill>
                  <a:prstClr val="black"/>
                </a:solidFill>
                <a:effectLst/>
                <a:uLnTx/>
                <a:uFillTx/>
                <a:latin typeface="Calibri" panose="020F0502020204030204"/>
                <a:ea typeface="+mn-ea"/>
                <a:cs typeface="+mn-cs"/>
              </a:rPr>
              <a:t>tudiant</a:t>
            </a:r>
            <a:r>
              <a:rPr kumimoji="0" lang="fr-CI" sz="11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CI" sz="1200" b="1" i="0" u="none" strike="noStrike" kern="1200" cap="none" spc="0" normalizeH="0" baseline="0" noProof="0" dirty="0">
                <a:ln>
                  <a:noFill/>
                </a:ln>
                <a:solidFill>
                  <a:prstClr val="black"/>
                </a:solidFill>
                <a:effectLst/>
                <a:uLnTx/>
                <a:uFillTx/>
                <a:latin typeface="Calibri" panose="020F0502020204030204"/>
                <a:ea typeface="+mn-ea"/>
                <a:cs typeface="+mn-cs"/>
              </a:rPr>
              <a:t>SORO DOBA ISSIAKA</a:t>
            </a:r>
          </a:p>
        </p:txBody>
      </p:sp>
      <p:pic>
        <p:nvPicPr>
          <p:cNvPr id="14" name="Image 13">
            <a:extLst>
              <a:ext uri="{FF2B5EF4-FFF2-40B4-BE49-F238E27FC236}">
                <a16:creationId xmlns:a16="http://schemas.microsoft.com/office/drawing/2014/main" id="{55FF3D24-9933-CA6B-50C1-5E89D0F1AEF1}"/>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8129652" y="5649573"/>
            <a:ext cx="502050" cy="546962"/>
          </a:xfrm>
          <a:prstGeom prst="rect">
            <a:avLst/>
          </a:prstGeom>
        </p:spPr>
      </p:pic>
      <p:sp>
        <p:nvSpPr>
          <p:cNvPr id="15" name="ZoneTexte 14">
            <a:extLst>
              <a:ext uri="{FF2B5EF4-FFF2-40B4-BE49-F238E27FC236}">
                <a16:creationId xmlns:a16="http://schemas.microsoft.com/office/drawing/2014/main" id="{03EA2726-57C3-D1D3-7AA5-A0BEB2908F57}"/>
              </a:ext>
            </a:extLst>
          </p:cNvPr>
          <p:cNvSpPr txBox="1"/>
          <p:nvPr/>
        </p:nvSpPr>
        <p:spPr>
          <a:xfrm>
            <a:off x="8755918" y="5531129"/>
            <a:ext cx="1957531" cy="63094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CI" sz="1100" b="0" i="0" u="none" strike="noStrike" kern="1200" cap="none" spc="0" normalizeH="0" baseline="0" noProof="0" dirty="0">
                <a:ln>
                  <a:noFill/>
                </a:ln>
                <a:solidFill>
                  <a:prstClr val="black"/>
                </a:solidFill>
                <a:effectLst/>
                <a:uLnTx/>
                <a:uFillTx/>
                <a:latin typeface="Calibri" panose="020F0502020204030204"/>
                <a:ea typeface="+mn-ea"/>
                <a:cs typeface="+mn-cs"/>
              </a:rPr>
              <a:t>Encadreur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CI" sz="1100" b="1" i="0" u="none" strike="noStrike" kern="1200" cap="none" spc="0" normalizeH="0" baseline="0" noProof="0" dirty="0">
                <a:ln>
                  <a:noFill/>
                </a:ln>
                <a:solidFill>
                  <a:prstClr val="black"/>
                </a:solidFill>
                <a:effectLst/>
                <a:uLnTx/>
                <a:uFillTx/>
                <a:latin typeface="Calibri" panose="020F0502020204030204"/>
                <a:ea typeface="+mn-ea"/>
                <a:cs typeface="+mn-cs"/>
              </a:rPr>
              <a:t>Dr. </a:t>
            </a:r>
            <a:r>
              <a:rPr kumimoji="0" lang="fr-CI" sz="1200" b="1" i="0" u="none" strike="noStrike" kern="1200" cap="none" spc="0" normalizeH="0" baseline="0" noProof="0" dirty="0">
                <a:ln>
                  <a:noFill/>
                </a:ln>
                <a:solidFill>
                  <a:prstClr val="black"/>
                </a:solidFill>
                <a:effectLst/>
                <a:uLnTx/>
                <a:uFillTx/>
                <a:latin typeface="Calibri" panose="020F0502020204030204"/>
                <a:ea typeface="+mn-ea"/>
                <a:cs typeface="+mn-cs"/>
              </a:rPr>
              <a:t>ASSE Brou Ida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CI" sz="1200" b="1" i="0" u="none" strike="noStrike" kern="1200" cap="none" spc="0" normalizeH="0" baseline="0" noProof="0" dirty="0">
                <a:ln>
                  <a:noFill/>
                </a:ln>
                <a:solidFill>
                  <a:prstClr val="black"/>
                </a:solidFill>
                <a:effectLst/>
                <a:uLnTx/>
                <a:uFillTx/>
                <a:latin typeface="Calibri" panose="020F0502020204030204"/>
                <a:ea typeface="+mn-ea"/>
                <a:cs typeface="+mn-cs"/>
              </a:rPr>
              <a:t>M. KOUAME Ruben</a:t>
            </a:r>
          </a:p>
        </p:txBody>
      </p:sp>
      <p:pic>
        <p:nvPicPr>
          <p:cNvPr id="18" name="Image 17">
            <a:extLst>
              <a:ext uri="{FF2B5EF4-FFF2-40B4-BE49-F238E27FC236}">
                <a16:creationId xmlns:a16="http://schemas.microsoft.com/office/drawing/2014/main" id="{8BC5BE03-07BE-9626-A30B-ABC2FB7D0323}"/>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226905" y="5573119"/>
            <a:ext cx="502050" cy="546962"/>
          </a:xfrm>
          <a:prstGeom prst="rect">
            <a:avLst/>
          </a:prstGeom>
        </p:spPr>
      </p:pic>
      <p:sp>
        <p:nvSpPr>
          <p:cNvPr id="19" name="ZoneTexte 18">
            <a:extLst>
              <a:ext uri="{FF2B5EF4-FFF2-40B4-BE49-F238E27FC236}">
                <a16:creationId xmlns:a16="http://schemas.microsoft.com/office/drawing/2014/main" id="{352B8844-CD57-E511-4442-2941E2E6BFCC}"/>
              </a:ext>
            </a:extLst>
          </p:cNvPr>
          <p:cNvSpPr txBox="1"/>
          <p:nvPr/>
        </p:nvSpPr>
        <p:spPr>
          <a:xfrm>
            <a:off x="1788404" y="5593861"/>
            <a:ext cx="1957531" cy="4462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CI" sz="1100" b="0" i="0" u="none" strike="noStrike" kern="1200" cap="none" spc="0" normalizeH="0" baseline="0" noProof="0" dirty="0">
                <a:ln>
                  <a:noFill/>
                </a:ln>
                <a:solidFill>
                  <a:prstClr val="black"/>
                </a:solidFill>
                <a:effectLst/>
                <a:uLnTx/>
                <a:uFillTx/>
                <a:latin typeface="Calibri" panose="020F0502020204030204"/>
                <a:ea typeface="+mn-ea"/>
                <a:cs typeface="+mn-cs"/>
              </a:rPr>
              <a:t>Directeur de mémoire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CI" sz="1200" b="1" i="0" u="none" strike="noStrike" kern="1200" cap="none" spc="0" normalizeH="0" baseline="0" noProof="0" dirty="0">
                <a:ln>
                  <a:noFill/>
                </a:ln>
                <a:solidFill>
                  <a:prstClr val="black"/>
                </a:solidFill>
                <a:effectLst/>
                <a:uLnTx/>
                <a:uFillTx/>
                <a:latin typeface="Calibri" panose="020F0502020204030204"/>
                <a:ea typeface="+mn-ea"/>
                <a:cs typeface="+mn-cs"/>
              </a:rPr>
              <a:t>Dr. MAMADOU Diarra</a:t>
            </a:r>
          </a:p>
        </p:txBody>
      </p:sp>
      <p:pic>
        <p:nvPicPr>
          <p:cNvPr id="3" name="Picture 690" descr="Une image contenant texte, Police, logo, Graphique&#10;&#10;Le contenu généré par l’IA peut être incorrect.">
            <a:extLst>
              <a:ext uri="{FF2B5EF4-FFF2-40B4-BE49-F238E27FC236}">
                <a16:creationId xmlns:a16="http://schemas.microsoft.com/office/drawing/2014/main" id="{C49B9F1D-6593-47EC-EECF-26F8EBFC2A59}"/>
              </a:ext>
            </a:extLst>
          </p:cNvPr>
          <p:cNvPicPr>
            <a:picLocks noChangeAspect="1"/>
          </p:cNvPicPr>
          <p:nvPr/>
        </p:nvPicPr>
        <p:blipFill>
          <a:blip r:embed="rId14">
            <a:extLst>
              <a:ext uri="{28A0092B-C50C-407E-A947-70E740481C1C}">
                <a14:useLocalDpi xmlns:a14="http://schemas.microsoft.com/office/drawing/2010/main" val="0"/>
              </a:ext>
            </a:extLst>
          </a:blip>
          <a:srcRect/>
          <a:stretch>
            <a:fillRect/>
          </a:stretch>
        </p:blipFill>
        <p:spPr bwMode="auto">
          <a:xfrm>
            <a:off x="715617" y="210259"/>
            <a:ext cx="1133062" cy="10250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9568308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NUM" val="5"/>
</p:tagLst>
</file>

<file path=ppt/tags/tag2.xml><?xml version="1.0" encoding="utf-8"?>
<p:tagLst xmlns:a="http://schemas.openxmlformats.org/drawingml/2006/main" xmlns:r="http://schemas.openxmlformats.org/officeDocument/2006/relationships" xmlns:p="http://schemas.openxmlformats.org/presentationml/2006/main">
  <p:tag name="NUM" val="5"/>
</p:tagLst>
</file>

<file path=ppt/tags/tag3.xml><?xml version="1.0" encoding="utf-8"?>
<p:tagLst xmlns:a="http://schemas.openxmlformats.org/drawingml/2006/main" xmlns:r="http://schemas.openxmlformats.org/officeDocument/2006/relationships" xmlns:p="http://schemas.openxmlformats.org/presentationml/2006/main">
  <p:tag name="NUM" val="1"/>
</p:tagLst>
</file>

<file path=ppt/tags/tag4.xml><?xml version="1.0" encoding="utf-8"?>
<p:tagLst xmlns:a="http://schemas.openxmlformats.org/drawingml/2006/main" xmlns:r="http://schemas.openxmlformats.org/officeDocument/2006/relationships" xmlns:p="http://schemas.openxmlformats.org/presentationml/2006/main">
  <p:tag name="NUM" val="2"/>
</p:tagLst>
</file>

<file path=ppt/tags/tag5.xml><?xml version="1.0" encoding="utf-8"?>
<p:tagLst xmlns:a="http://schemas.openxmlformats.org/drawingml/2006/main" xmlns:r="http://schemas.openxmlformats.org/officeDocument/2006/relationships" xmlns:p="http://schemas.openxmlformats.org/presentationml/2006/main">
  <p:tag name="NUM" val="4"/>
</p:tagLst>
</file>

<file path=ppt/tags/tag6.xml><?xml version="1.0" encoding="utf-8"?>
<p:tagLst xmlns:a="http://schemas.openxmlformats.org/drawingml/2006/main" xmlns:r="http://schemas.openxmlformats.org/officeDocument/2006/relationships" xmlns:p="http://schemas.openxmlformats.org/presentationml/2006/main">
  <p:tag name="NUM" val="5"/>
</p:tagLst>
</file>

<file path=ppt/tags/tag7.xml><?xml version="1.0" encoding="utf-8"?>
<p:tagLst xmlns:a="http://schemas.openxmlformats.org/drawingml/2006/main" xmlns:r="http://schemas.openxmlformats.org/officeDocument/2006/relationships" xmlns:p="http://schemas.openxmlformats.org/presentationml/2006/main">
  <p:tag name="NUM" val="7"/>
</p:tagLst>
</file>

<file path=ppt/tags/tag8.xml><?xml version="1.0" encoding="utf-8"?>
<p:tagLst xmlns:a="http://schemas.openxmlformats.org/drawingml/2006/main" xmlns:r="http://schemas.openxmlformats.org/officeDocument/2006/relationships" xmlns:p="http://schemas.openxmlformats.org/presentationml/2006/main">
  <p:tag name="NUM" val="8"/>
</p:tagLst>
</file>

<file path=ppt/tags/tag9.xml><?xml version="1.0" encoding="utf-8"?>
<p:tagLst xmlns:a="http://schemas.openxmlformats.org/drawingml/2006/main" xmlns:r="http://schemas.openxmlformats.org/officeDocument/2006/relationships" xmlns:p="http://schemas.openxmlformats.org/presentationml/2006/main">
  <p:tag name="NUM" val="1"/>
</p:tagLst>
</file>

<file path=ppt/tags/tag10.xml><?xml version="1.0" encoding="utf-8"?>
<p:tagLst xmlns:a="http://schemas.openxmlformats.org/drawingml/2006/main" xmlns:r="http://schemas.openxmlformats.org/officeDocument/2006/relationships" xmlns:p="http://schemas.openxmlformats.org/presentationml/2006/main">
  <p:tag name="NUM" val="2"/>
</p:tagLst>
</file>

<file path=ppt/tags/tag11.xml><?xml version="1.0" encoding="utf-8"?>
<p:tagLst xmlns:a="http://schemas.openxmlformats.org/drawingml/2006/main" xmlns:r="http://schemas.openxmlformats.org/officeDocument/2006/relationships" xmlns:p="http://schemas.openxmlformats.org/presentationml/2006/main">
  <p:tag name="NUM" val="1"/>
</p:tagLst>
</file>

<file path=ppt/tags/tag12.xml><?xml version="1.0" encoding="utf-8"?>
<p:tagLst xmlns:a="http://schemas.openxmlformats.org/drawingml/2006/main" xmlns:r="http://schemas.openxmlformats.org/officeDocument/2006/relationships" xmlns:p="http://schemas.openxmlformats.org/presentationml/2006/main">
  <p:tag name="NUM" val="8"/>
</p:tagLst>
</file>

<file path=ppt/tags/tag13.xml><?xml version="1.0" encoding="utf-8"?>
<p:tagLst xmlns:a="http://schemas.openxmlformats.org/drawingml/2006/main" xmlns:r="http://schemas.openxmlformats.org/officeDocument/2006/relationships" xmlns:p="http://schemas.openxmlformats.org/presentationml/2006/main">
  <p:tag name="NUM" val="9"/>
</p:tagLst>
</file>

<file path=ppt/tags/tag14.xml><?xml version="1.0" encoding="utf-8"?>
<p:tagLst xmlns:a="http://schemas.openxmlformats.org/drawingml/2006/main" xmlns:r="http://schemas.openxmlformats.org/officeDocument/2006/relationships" xmlns:p="http://schemas.openxmlformats.org/presentationml/2006/main">
  <p:tag name="NUM" val="1"/>
</p:tagLst>
</file>

<file path=ppt/tags/tag15.xml><?xml version="1.0" encoding="utf-8"?>
<p:tagLst xmlns:a="http://schemas.openxmlformats.org/drawingml/2006/main" xmlns:r="http://schemas.openxmlformats.org/officeDocument/2006/relationships" xmlns:p="http://schemas.openxmlformats.org/presentationml/2006/main">
  <p:tag name="NUM" val="2"/>
</p:tagLst>
</file>

<file path=ppt/tags/tag16.xml><?xml version="1.0" encoding="utf-8"?>
<p:tagLst xmlns:a="http://schemas.openxmlformats.org/drawingml/2006/main" xmlns:r="http://schemas.openxmlformats.org/officeDocument/2006/relationships" xmlns:p="http://schemas.openxmlformats.org/presentationml/2006/main">
  <p:tag name="NUM" val="4"/>
</p:tagLst>
</file>

<file path=ppt/tags/tag17.xml><?xml version="1.0" encoding="utf-8"?>
<p:tagLst xmlns:a="http://schemas.openxmlformats.org/drawingml/2006/main" xmlns:r="http://schemas.openxmlformats.org/officeDocument/2006/relationships" xmlns:p="http://schemas.openxmlformats.org/presentationml/2006/main">
  <p:tag name="NUM" val="5"/>
</p:tagLst>
</file>

<file path=ppt/tags/tag18.xml><?xml version="1.0" encoding="utf-8"?>
<p:tagLst xmlns:a="http://schemas.openxmlformats.org/drawingml/2006/main" xmlns:r="http://schemas.openxmlformats.org/officeDocument/2006/relationships" xmlns:p="http://schemas.openxmlformats.org/presentationml/2006/main">
  <p:tag name="NUM" val="7"/>
</p:tagLst>
</file>

<file path=ppt/tags/tag19.xml><?xml version="1.0" encoding="utf-8"?>
<p:tagLst xmlns:a="http://schemas.openxmlformats.org/drawingml/2006/main" xmlns:r="http://schemas.openxmlformats.org/officeDocument/2006/relationships" xmlns:p="http://schemas.openxmlformats.org/presentationml/2006/main">
  <p:tag name="NUM" val="8"/>
</p:tagLst>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Thème Office">
  <a:themeElements>
    <a:clrScheme name="ALC Microfinance">
      <a:dk1>
        <a:sysClr val="windowText" lastClr="000000"/>
      </a:dk1>
      <a:lt1>
        <a:sysClr val="window" lastClr="FFFFFF"/>
      </a:lt1>
      <a:dk2>
        <a:srgbClr val="0E2841"/>
      </a:dk2>
      <a:lt2>
        <a:srgbClr val="E8E8E8"/>
      </a:lt2>
      <a:accent1>
        <a:srgbClr val="232055"/>
      </a:accent1>
      <a:accent2>
        <a:srgbClr val="7CC688"/>
      </a:accent2>
      <a:accent3>
        <a:srgbClr val="0B66AE"/>
      </a:accent3>
      <a:accent4>
        <a:srgbClr val="052444"/>
      </a:accent4>
      <a:accent5>
        <a:srgbClr val="A69B8F"/>
      </a:accent5>
      <a:accent6>
        <a:srgbClr val="232055"/>
      </a:accent6>
      <a:hlink>
        <a:srgbClr val="467886"/>
      </a:hlink>
      <a:folHlink>
        <a:srgbClr val="96607D"/>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4">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C26AEB59-0304-4D1C-BCD3-A6922A859321}">
  <we:reference id="WA200010001" version="1.0.0.1" store="Omex" storeType="OMEX"/>
  <we:alternateReferences>
    <we:reference id="WA200010001" version="1.0.0.1" store="WA200010001" storeType="OMEX"/>
  </we:alternateReferences>
  <we:properties>
    <we:property name="claude.fileId" value="&quot;7d3c74a0-1c09-43c5-ae88-4074ae44b28e&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20047</TotalTime>
  <Words>1567</Words>
  <Application>Microsoft Office PowerPoint</Application>
  <PresentationFormat>Grand écran</PresentationFormat>
  <Paragraphs>341</Paragraphs>
  <Slides>30</Slides>
  <Notes>12</Notes>
  <HiddenSlides>0</HiddenSlides>
  <MMClips>0</MMClips>
  <ScaleCrop>false</ScaleCrop>
  <HeadingPairs>
    <vt:vector size="6" baseType="variant">
      <vt:variant>
        <vt:lpstr>Polices utilisées</vt:lpstr>
      </vt:variant>
      <vt:variant>
        <vt:i4>7</vt:i4>
      </vt:variant>
      <vt:variant>
        <vt:lpstr>Thème</vt:lpstr>
      </vt:variant>
      <vt:variant>
        <vt:i4>3</vt:i4>
      </vt:variant>
      <vt:variant>
        <vt:lpstr>Titres des diapositives</vt:lpstr>
      </vt:variant>
      <vt:variant>
        <vt:i4>30</vt:i4>
      </vt:variant>
    </vt:vector>
  </HeadingPairs>
  <TitlesOfParts>
    <vt:vector size="40" baseType="lpstr">
      <vt:lpstr>Aptos</vt:lpstr>
      <vt:lpstr>Arial</vt:lpstr>
      <vt:lpstr>Calibri</vt:lpstr>
      <vt:lpstr>Calibri Light</vt:lpstr>
      <vt:lpstr>Cambria Math</vt:lpstr>
      <vt:lpstr>Segoe UI</vt:lpstr>
      <vt:lpstr>Wingdings</vt:lpstr>
      <vt:lpstr>Thème Office</vt:lpstr>
      <vt:lpstr>1_Thème Office</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MAEVA DOHOUN</dc:creator>
  <cp:lastModifiedBy>Doba issiaka Soro</cp:lastModifiedBy>
  <cp:revision>113</cp:revision>
  <dcterms:created xsi:type="dcterms:W3CDTF">2025-10-12T14:44:42Z</dcterms:created>
  <dcterms:modified xsi:type="dcterms:W3CDTF">2026-07-14T22:58:28Z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I-CLASSIFIER-AUTO-LABEL0">
    <vt:lpwstr>T4PkeuRdbTdJaN5j8QOmIP54y6qT3Tg4Fj+rCiDD02Ts/x+WBxxFMeJq/srY3U9PjNT3WzdTgaFsBK1N30ilaw==</vt:lpwstr>
  </property>
</Properties>
</file>